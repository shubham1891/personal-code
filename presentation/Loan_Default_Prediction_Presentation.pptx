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9.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7de1b48-ac53-7ec6-04b8-dca1473fde2e}">
          <p14:sldIdLst>
            <p14:sldId id="256"/>
            <p14:sldId id="257"/>
          </p14:sldIdLst>
        </p14:section>
        <p14:section name="Problem and approach" id="{ac8bfee5-f84f-1fc3-0094-da35085e4ed7}">
          <p14:sldIdLst>
            <p14:sldId id="258"/>
            <p14:sldId id="259"/>
          </p14:sldIdLst>
        </p14:section>
        <p14:section name="Key insights" id="{44915eb0-19fa-5373-41b2-8bd07b656af0}">
          <p14:sldIdLst>
            <p14:sldId id="260"/>
            <p14:sldId id="261"/>
            <p14:sldId id="262"/>
          </p14:sldIdLst>
        </p14:section>
        <p14:section name="Modelling" id="{8f8a1990-512d-0021-2c5b-f8cec339d339}">
          <p14:sldIdLst>
            <p14:sldId id="263"/>
            <p14:sldId id="264"/>
            <p14:sldId id="265"/>
            <p14:sldId id="266"/>
          </p14:sldIdLst>
        </p14:section>
        <p14:section name="Recommendations" id="{a1e64938-fa53-f4b3-c3b1-9ffbc78f19f4}">
          <p14:sldIdLst>
            <p14:sldId id="267"/>
            <p14:sldId id="268"/>
            <p14:sldId id="269"/>
            <p14:sldId id="270"/>
          </p14:sldIdLst>
        </p14:section>
        <p14:section name="Appendix" id="{92693547-47b2-2b2a-80db-050972555ab0}">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j-lt"/>
              </a:defRPr>
            </a:pPr>
            <a:r>
              <a:rPr sz="1200" b="0" i="0" u="none" strike="noStrike">
                <a:solidFill>
                  <a:srgbClr val="1E2761"/>
                </a:solidFill>
                <a:latin typeface="+mj-lt"/>
              </a:rPr>
              <a:t>Default rate (%) when a field is missing vs present</a:t>
            </a:r>
          </a:p>
        </c:rich>
      </c:tx>
      <c:layout/>
      <c:overlay val="0"/>
    </c:title>
    <c:autoTitleDeleted val="0"/>
    <c:plotArea>
      <c:layout/>
      <c:barChart>
        <c:barDir val="col"/>
        <c:grouping val="clustered"/>
        <c:varyColors val="0"/>
        <c:ser>
          <c:idx val="0"/>
          <c:order val="0"/>
          <c:tx>
            <c:strRef>
              <c:f>Sheet1!$B$1</c:f>
              <c:strCache>
                <c:ptCount val="1"/>
                <c:pt idx="0">
                  <c:v>Field missing</c:v>
                </c:pt>
              </c:strCache>
            </c:strRef>
          </c:tx>
          <c:spPr>
            <a:solidFill>
              <a:srgbClr val="C44E52"/>
            </a:solidFill>
            <a:effectLst/>
          </c:spPr>
          <c:invertIfNegative val="0"/>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cat>
            <c:multiLvlStrRef>
              <c:f>Sheet1!$A$2:$A$7</c:f>
              <c:multiLvlStrCache>
                <c:ptCount val="6"/>
                <c:lvl>
                  <c:pt idx="0">
                    <c:v>Property value</c:v>
                  </c:pt>
                  <c:pt idx="1">
                    <c:v>Debt-to-income</c:v>
                  </c:pt>
                  <c:pt idx="2">
                    <c:v>Credit-line age</c:v>
                  </c:pt>
                  <c:pt idx="3">
                    <c:v>No. of credit lines</c:v>
                  </c:pt>
                  <c:pt idx="4">
                    <c:v>Derogatory reports</c:v>
                  </c:pt>
                  <c:pt idx="5">
                    <c:v>Occupation</c:v>
                  </c:pt>
                </c:lvl>
              </c:multiLvlStrCache>
            </c:multiLvlStrRef>
          </c:cat>
          <c:val>
            <c:numRef>
              <c:f>Sheet1!$B$2:$B$7</c:f>
              <c:numCache>
                <c:formatCode>General</c:formatCode>
                <c:ptCount val="6"/>
                <c:pt idx="0">
                  <c:v>93.8</c:v>
                </c:pt>
                <c:pt idx="1">
                  <c:v>62</c:v>
                </c:pt>
                <c:pt idx="2">
                  <c:v>25.3</c:v>
                </c:pt>
                <c:pt idx="3">
                  <c:v>23.9</c:v>
                </c:pt>
                <c:pt idx="4">
                  <c:v>12.3</c:v>
                </c:pt>
                <c:pt idx="5">
                  <c:v>8.2</c:v>
                </c:pt>
              </c:numCache>
            </c:numRef>
          </c:val>
        </c:ser>
        <c:ser>
          <c:idx val="1"/>
          <c:order val="1"/>
          <c:tx>
            <c:strRef>
              <c:f>Sheet1!$C$1</c:f>
              <c:strCache>
                <c:ptCount val="1"/>
                <c:pt idx="0">
                  <c:v>Field present</c:v>
                </c:pt>
              </c:strCache>
            </c:strRef>
          </c:tx>
          <c:spPr>
            <a:solidFill>
              <a:srgbClr val="4C72B0"/>
            </a:solidFill>
            <a:effectLst/>
          </c:spPr>
          <c:invertIfNegative val="0"/>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cat>
            <c:multiLvlStrRef>
              <c:f>Sheet1!$A$2:$A$7</c:f>
              <c:multiLvlStrCache>
                <c:ptCount val="6"/>
                <c:lvl>
                  <c:pt idx="0">
                    <c:v>Property value</c:v>
                  </c:pt>
                  <c:pt idx="1">
                    <c:v>Debt-to-income</c:v>
                  </c:pt>
                  <c:pt idx="2">
                    <c:v>Credit-line age</c:v>
                  </c:pt>
                  <c:pt idx="3">
                    <c:v>No. of credit lines</c:v>
                  </c:pt>
                  <c:pt idx="4">
                    <c:v>Derogatory reports</c:v>
                  </c:pt>
                  <c:pt idx="5">
                    <c:v>Occupation</c:v>
                  </c:pt>
                </c:lvl>
              </c:multiLvlStrCache>
            </c:multiLvlStrRef>
          </c:cat>
          <c:val>
            <c:numRef>
              <c:f>Sheet1!$C$2:$C$7</c:f>
              <c:numCache>
                <c:formatCode>General</c:formatCode>
                <c:ptCount val="6"/>
                <c:pt idx="0">
                  <c:v>18.5</c:v>
                </c:pt>
                <c:pt idx="1">
                  <c:v>8.6</c:v>
                </c:pt>
                <c:pt idx="2">
                  <c:v>19.7</c:v>
                </c:pt>
                <c:pt idx="3">
                  <c:v>19.8</c:v>
                </c:pt>
                <c:pt idx="4">
                  <c:v>21</c:v>
                </c:pt>
                <c:pt idx="5">
                  <c:v>20.5</c:v>
                </c:pt>
              </c:numCache>
            </c:numRef>
          </c:val>
        </c:ser>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1F1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j-lt"/>
              </a:defRPr>
            </a:pPr>
            <a:r>
              <a:rPr sz="1200" b="0" i="0" u="none" strike="noStrike">
                <a:solidFill>
                  <a:srgbClr val="1E2761"/>
                </a:solidFill>
                <a:latin typeface="+mj-lt"/>
              </a:rPr>
              <a:t>Default rate (%) by debt-to-income ratio band (%)</a:t>
            </a:r>
          </a:p>
        </c:rich>
      </c:tx>
      <c:layout/>
      <c:overlay val="0"/>
    </c:title>
    <c:autoTitleDeleted val="0"/>
    <c:plotArea>
      <c:layout/>
      <c:barChart>
        <c:barDir val="col"/>
        <c:grouping val="clustered"/>
        <c:varyColors val="0"/>
        <c:ser>
          <c:idx val="0"/>
          <c:order val="0"/>
          <c:tx>
            <c:strRef>
              <c:f>Sheet1!$B$1</c:f>
              <c:strCache>
                <c:ptCount val="1"/>
                <c:pt idx="0">
                  <c:v>Default rate</c:v>
                </c:pt>
              </c:strCache>
            </c:strRef>
          </c:tx>
          <c:spPr>
            <a:solidFill>
              <a:srgbClr val="C44E52"/>
            </a:solidFill>
            <a:effectLst/>
          </c:spPr>
          <c:invertIfNegative val="0"/>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cat>
            <c:multiLvlStrRef>
              <c:f>Sheet1!$A$2:$A$8</c:f>
              <c:multiLvlStrCache>
                <c:ptCount val="7"/>
                <c:lvl>
                  <c:pt idx="0">
                    <c:v>0-20</c:v>
                  </c:pt>
                  <c:pt idx="1">
                    <c:v>20-30</c:v>
                  </c:pt>
                  <c:pt idx="2">
                    <c:v>30-35</c:v>
                  </c:pt>
                  <c:pt idx="3">
                    <c:v>35-40</c:v>
                  </c:pt>
                  <c:pt idx="4">
                    <c:v>40-45</c:v>
                  </c:pt>
                  <c:pt idx="5">
                    <c:v>45-50</c:v>
                  </c:pt>
                  <c:pt idx="6">
                    <c:v>50+</c:v>
                  </c:pt>
                </c:lvl>
              </c:multiLvlStrCache>
            </c:multiLvlStrRef>
          </c:cat>
          <c:val>
            <c:numRef>
              <c:f>Sheet1!$B$2:$B$8</c:f>
              <c:numCache>
                <c:formatCode>General</c:formatCode>
                <c:ptCount val="7"/>
                <c:pt idx="0">
                  <c:v>10.6</c:v>
                </c:pt>
                <c:pt idx="1">
                  <c:v>4.4</c:v>
                </c:pt>
                <c:pt idx="2">
                  <c:v>6</c:v>
                </c:pt>
                <c:pt idx="3">
                  <c:v>7</c:v>
                </c:pt>
                <c:pt idx="4">
                  <c:v>11.2</c:v>
                </c:pt>
                <c:pt idx="5">
                  <c:v>87.2</c:v>
                </c:pt>
                <c:pt idx="6">
                  <c:v>100</c:v>
                </c:pt>
              </c:numCache>
            </c:numRef>
          </c:val>
        </c:ser>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1F1F"/>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j-lt"/>
              </a:defRPr>
            </a:pPr>
            <a:r>
              <a:rPr sz="1200" b="0" i="0" u="none" strike="noStrike">
                <a:solidFill>
                  <a:srgbClr val="1E2761"/>
                </a:solidFill>
                <a:latin typeface="+mj-lt"/>
              </a:rPr>
              <a:t>Default rate (%) by number of delinquent credit lines</a:t>
            </a:r>
          </a:p>
        </c:rich>
      </c:tx>
      <c:layout/>
      <c:overlay val="0"/>
    </c:title>
    <c:autoTitleDeleted val="0"/>
    <c:plotArea>
      <c:layout/>
      <c:barChart>
        <c:barDir val="col"/>
        <c:grouping val="clustered"/>
        <c:varyColors val="0"/>
        <c:ser>
          <c:idx val="0"/>
          <c:order val="0"/>
          <c:tx>
            <c:strRef>
              <c:f>Sheet1!$B$1</c:f>
              <c:strCache>
                <c:ptCount val="1"/>
                <c:pt idx="0">
                  <c:v>Default rate</c:v>
                </c:pt>
              </c:strCache>
            </c:strRef>
          </c:tx>
          <c:spPr>
            <a:solidFill>
              <a:srgbClr val="4C72B0"/>
            </a:solidFill>
            <a:effectLst/>
          </c:spPr>
          <c:invertIfNegative val="0"/>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cat>
            <c:multiLvlStrRef>
              <c:f>Sheet1!$A$2:$A$8</c:f>
              <c:multiLvlStrCache>
                <c:ptCount val="7"/>
                <c:lvl>
                  <c:pt idx="0">
                    <c:v>0</c:v>
                  </c:pt>
                  <c:pt idx="1">
                    <c:v>1</c:v>
                  </c:pt>
                  <c:pt idx="2">
                    <c:v>2</c:v>
                  </c:pt>
                  <c:pt idx="3">
                    <c:v>3</c:v>
                  </c:pt>
                  <c:pt idx="4">
                    <c:v>4</c:v>
                  </c:pt>
                  <c:pt idx="5">
                    <c:v>5</c:v>
                  </c:pt>
                  <c:pt idx="6">
                    <c:v>6+</c:v>
                  </c:pt>
                </c:lvl>
              </c:multiLvlStrCache>
            </c:multiLvlStrRef>
          </c:cat>
          <c:val>
            <c:numRef>
              <c:f>Sheet1!$B$2:$B$8</c:f>
              <c:numCache>
                <c:formatCode>General</c:formatCode>
                <c:ptCount val="7"/>
                <c:pt idx="0">
                  <c:v>14</c:v>
                </c:pt>
                <c:pt idx="1">
                  <c:v>33.9</c:v>
                </c:pt>
                <c:pt idx="2">
                  <c:v>44.8</c:v>
                </c:pt>
                <c:pt idx="3">
                  <c:v>55</c:v>
                </c:pt>
                <c:pt idx="4">
                  <c:v>59</c:v>
                </c:pt>
                <c:pt idx="5">
                  <c:v>81.6</c:v>
                </c:pt>
                <c:pt idx="6">
                  <c:v>100</c:v>
                </c:pt>
              </c:numCache>
            </c:numRef>
          </c:val>
        </c:ser>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1F1F"/>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j-lt"/>
              </a:defRPr>
            </a:pPr>
            <a:r>
              <a:rPr sz="1200" b="0" i="0" u="none" strike="noStrike">
                <a:solidFill>
                  <a:srgbClr val="1E2761"/>
                </a:solidFill>
                <a:latin typeface="+mj-lt"/>
              </a:rPr>
              <a:t>By age of oldest credit line</a:t>
            </a:r>
          </a:p>
        </c:rich>
      </c:tx>
      <c:layout/>
      <c:overlay val="0"/>
    </c:title>
    <c:autoTitleDeleted val="0"/>
    <c:plotArea>
      <c:layout/>
      <c:barChart>
        <c:barDir val="col"/>
        <c:grouping val="clustered"/>
        <c:varyColors val="0"/>
        <c:ser>
          <c:idx val="0"/>
          <c:order val="0"/>
          <c:tx>
            <c:strRef>
              <c:f>Sheet1!$B$1</c:f>
              <c:strCache>
                <c:ptCount val="1"/>
                <c:pt idx="0">
                  <c:v>Default rate</c:v>
                </c:pt>
              </c:strCache>
            </c:strRef>
          </c:tx>
          <c:spPr>
            <a:solidFill>
              <a:srgbClr val="4C72B0"/>
            </a:solidFill>
            <a:effectLst/>
          </c:spPr>
          <c:invertIfNegative val="0"/>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cat>
            <c:multiLvlStrRef>
              <c:f>Sheet1!$A$2:$A$7</c:f>
              <c:multiLvlStrCache>
                <c:ptCount val="6"/>
                <c:lvl>
                  <c:pt idx="0">
                    <c:v>&lt;5 yrs</c:v>
                  </c:pt>
                  <c:pt idx="1">
                    <c:v>5-10</c:v>
                  </c:pt>
                  <c:pt idx="2">
                    <c:v>10-15</c:v>
                  </c:pt>
                  <c:pt idx="3">
                    <c:v>15-20</c:v>
                  </c:pt>
                  <c:pt idx="4">
                    <c:v>20-25</c:v>
                  </c:pt>
                  <c:pt idx="5">
                    <c:v>25+</c:v>
                  </c:pt>
                </c:lvl>
              </c:multiLvlStrCache>
            </c:multiLvlStrRef>
          </c:cat>
          <c:val>
            <c:numRef>
              <c:f>Sheet1!$B$2:$B$7</c:f>
              <c:numCache>
                <c:formatCode>General</c:formatCode>
                <c:ptCount val="6"/>
                <c:pt idx="0">
                  <c:v>44</c:v>
                </c:pt>
                <c:pt idx="1">
                  <c:v>26.2</c:v>
                </c:pt>
                <c:pt idx="2">
                  <c:v>22.8</c:v>
                </c:pt>
                <c:pt idx="3">
                  <c:v>15.3</c:v>
                </c:pt>
                <c:pt idx="4">
                  <c:v>9.3</c:v>
                </c:pt>
                <c:pt idx="5">
                  <c:v>10.7</c:v>
                </c:pt>
              </c:numCache>
            </c:numRef>
          </c:val>
        </c:ser>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1F1F"/>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j-lt"/>
              </a:defRPr>
            </a:pPr>
            <a:r>
              <a:rPr sz="1200" b="0" i="0" u="none" strike="noStrike">
                <a:solidFill>
                  <a:srgbClr val="1E2761"/>
                </a:solidFill>
                <a:latin typeface="+mj-lt"/>
              </a:rPr>
              <a:t>By loan amount ($)</a:t>
            </a:r>
          </a:p>
        </c:rich>
      </c:tx>
      <c:layout/>
      <c:overlay val="0"/>
    </c:title>
    <c:autoTitleDeleted val="0"/>
    <c:plotArea>
      <c:layout/>
      <c:barChart>
        <c:barDir val="col"/>
        <c:grouping val="clustered"/>
        <c:varyColors val="0"/>
        <c:ser>
          <c:idx val="0"/>
          <c:order val="0"/>
          <c:tx>
            <c:strRef>
              <c:f>Sheet1!$B$1</c:f>
              <c:strCache>
                <c:ptCount val="1"/>
                <c:pt idx="0">
                  <c:v>Default rate</c:v>
                </c:pt>
              </c:strCache>
            </c:strRef>
          </c:tx>
          <c:spPr>
            <a:solidFill>
              <a:srgbClr val="C44E52"/>
            </a:solidFill>
            <a:effectLst/>
          </c:spPr>
          <c:invertIfNegative val="0"/>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cat>
            <c:multiLvlStrRef>
              <c:f>Sheet1!$A$2:$A$7</c:f>
              <c:multiLvlStrCache>
                <c:ptCount val="6"/>
                <c:lvl>
                  <c:pt idx="0">
                    <c:v>&lt;5k</c:v>
                  </c:pt>
                  <c:pt idx="1">
                    <c:v>5-10k</c:v>
                  </c:pt>
                  <c:pt idx="2">
                    <c:v>10-15k</c:v>
                  </c:pt>
                  <c:pt idx="3">
                    <c:v>15-20k</c:v>
                  </c:pt>
                  <c:pt idx="4">
                    <c:v>20-30k</c:v>
                  </c:pt>
                  <c:pt idx="5">
                    <c:v>30k+</c:v>
                  </c:pt>
                </c:lvl>
              </c:multiLvlStrCache>
            </c:multiLvlStrRef>
          </c:cat>
          <c:val>
            <c:numRef>
              <c:f>Sheet1!$B$2:$B$7</c:f>
              <c:numCache>
                <c:formatCode>General</c:formatCode>
                <c:ptCount val="6"/>
                <c:pt idx="0">
                  <c:v>57.2</c:v>
                </c:pt>
                <c:pt idx="1">
                  <c:v>25.1</c:v>
                </c:pt>
                <c:pt idx="2">
                  <c:v>20.5</c:v>
                </c:pt>
                <c:pt idx="3">
                  <c:v>16.2</c:v>
                </c:pt>
                <c:pt idx="4">
                  <c:v>14.4</c:v>
                </c:pt>
                <c:pt idx="5">
                  <c:v>19.5</c:v>
                </c:pt>
              </c:numCache>
            </c:numRef>
          </c:val>
        </c:ser>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1F1F"/>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j-lt"/>
              </a:defRPr>
            </a:pPr>
            <a:r>
              <a:rPr sz="1200" b="0" i="0" u="none" strike="noStrike">
                <a:solidFill>
                  <a:srgbClr val="1E2761"/>
                </a:solidFill>
                <a:latin typeface="+mj-lt"/>
              </a:rPr>
              <a:t>By occupation</a:t>
            </a:r>
          </a:p>
        </c:rich>
      </c:tx>
      <c:layout/>
      <c:overlay val="0"/>
    </c:title>
    <c:autoTitleDeleted val="0"/>
    <c:plotArea>
      <c:layout/>
      <c:barChart>
        <c:barDir val="col"/>
        <c:grouping val="clustered"/>
        <c:varyColors val="0"/>
        <c:ser>
          <c:idx val="0"/>
          <c:order val="0"/>
          <c:tx>
            <c:strRef>
              <c:f>Sheet1!$B$1</c:f>
              <c:strCache>
                <c:ptCount val="1"/>
                <c:pt idx="0">
                  <c:v>Default rate</c:v>
                </c:pt>
              </c:strCache>
            </c:strRef>
          </c:tx>
          <c:spPr>
            <a:solidFill>
              <a:srgbClr val="8C8C8C"/>
            </a:solidFill>
            <a:effectLst/>
          </c:spPr>
          <c:invertIfNegative val="0"/>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cat>
            <c:multiLvlStrRef>
              <c:f>Sheet1!$A$2:$A$7</c:f>
              <c:multiLvlStrCache>
                <c:ptCount val="6"/>
                <c:lvl>
                  <c:pt idx="0">
                    <c:v>Sales</c:v>
                  </c:pt>
                  <c:pt idx="1">
                    <c:v>Self</c:v>
                  </c:pt>
                  <c:pt idx="2">
                    <c:v>Mgr</c:v>
                  </c:pt>
                  <c:pt idx="3">
                    <c:v>Other</c:v>
                  </c:pt>
                  <c:pt idx="4">
                    <c:v>ProfExe</c:v>
                  </c:pt>
                  <c:pt idx="5">
                    <c:v>Office</c:v>
                  </c:pt>
                </c:lvl>
              </c:multiLvlStrCache>
            </c:multiLvlStrRef>
          </c:cat>
          <c:val>
            <c:numRef>
              <c:f>Sheet1!$B$2:$B$7</c:f>
              <c:numCache>
                <c:formatCode>General</c:formatCode>
                <c:ptCount val="6"/>
                <c:pt idx="0">
                  <c:v>34.9</c:v>
                </c:pt>
                <c:pt idx="1">
                  <c:v>30.1</c:v>
                </c:pt>
                <c:pt idx="2">
                  <c:v>23.3</c:v>
                </c:pt>
                <c:pt idx="3">
                  <c:v>23.2</c:v>
                </c:pt>
                <c:pt idx="4">
                  <c:v>16.6</c:v>
                </c:pt>
                <c:pt idx="5">
                  <c:v>13.2</c:v>
                </c:pt>
              </c:numCache>
            </c:numRef>
          </c:val>
        </c:ser>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1F1F"/>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j-lt"/>
              </a:defRPr>
            </a:pPr>
            <a:r>
              <a:rPr sz="1200" b="0" i="0" u="none" strike="noStrike">
                <a:solidFill>
                  <a:srgbClr val="1E2761"/>
                </a:solidFill>
                <a:latin typeface="+mj-lt"/>
              </a:rPr>
              <a:t>Test set (1,788 unseen applicants), % </a:t>
            </a:r>
          </a:p>
        </c:rich>
      </c:tx>
      <c:layout/>
      <c:overlay val="0"/>
    </c:title>
    <c:autoTitleDeleted val="0"/>
    <c:plotArea>
      <c:layout/>
      <c:barChart>
        <c:barDir val="bar"/>
        <c:grouping val="clustered"/>
        <c:varyColors val="0"/>
        <c:ser>
          <c:idx val="0"/>
          <c:order val="0"/>
          <c:tx>
            <c:strRef>
              <c:f>Sheet1!$B$1</c:f>
              <c:strCache>
                <c:ptCount val="1"/>
                <c:pt idx="0">
                  <c:v>Defaulters caught (recall)</c:v>
                </c:pt>
              </c:strCache>
            </c:strRef>
          </c:tx>
          <c:spPr>
            <a:solidFill>
              <a:srgbClr val="1E2761"/>
            </a:solidFill>
            <a:effectLst/>
          </c:spPr>
          <c:invertIfNegative val="0"/>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cat>
            <c:multiLvlStrRef>
              <c:f>Sheet1!$A$2:$A$7</c:f>
              <c:multiLvlStrCache>
                <c:ptCount val="6"/>
                <c:lvl>
                  <c:pt idx="0">
                    <c:v>Logistic Regression (balanced)</c:v>
                  </c:pt>
                  <c:pt idx="1">
                    <c:v>Decision Tree (tuned)</c:v>
                  </c:pt>
                  <c:pt idx="2">
                    <c:v>Bagged trees (200)</c:v>
                  </c:pt>
                  <c:pt idx="3">
                    <c:v>Random Forest (default)</c:v>
                  </c:pt>
                  <c:pt idx="4">
                    <c:v>Random Forest (class weights)</c:v>
                  </c:pt>
                  <c:pt idx="5">
                    <c:v>Random Forest, threshold 0.25</c:v>
                  </c:pt>
                </c:lvl>
              </c:multiLvlStrCache>
            </c:multiLvlStrRef>
          </c:cat>
          <c:val>
            <c:numRef>
              <c:f>Sheet1!$B$2:$B$7</c:f>
              <c:numCache>
                <c:formatCode>General</c:formatCode>
                <c:ptCount val="6"/>
                <c:pt idx="0">
                  <c:v>79.6</c:v>
                </c:pt>
                <c:pt idx="1">
                  <c:v>82.1</c:v>
                </c:pt>
                <c:pt idx="2">
                  <c:v>68.3</c:v>
                </c:pt>
                <c:pt idx="3">
                  <c:v>68.6</c:v>
                </c:pt>
                <c:pt idx="4">
                  <c:v>77.3</c:v>
                </c:pt>
                <c:pt idx="5">
                  <c:v>92.7</c:v>
                </c:pt>
              </c:numCache>
            </c:numRef>
          </c:val>
        </c:ser>
        <c:ser>
          <c:idx val="1"/>
          <c:order val="1"/>
          <c:tx>
            <c:strRef>
              <c:f>Sheet1!$C$1</c:f>
              <c:strCache>
                <c:ptCount val="1"/>
                <c:pt idx="0">
                  <c:v>Precision</c:v>
                </c:pt>
              </c:strCache>
            </c:strRef>
          </c:tx>
          <c:spPr>
            <a:solidFill>
              <a:srgbClr val="9DB4DE"/>
            </a:solidFill>
            <a:effectLst/>
          </c:spPr>
          <c:invertIfNegative val="0"/>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cat>
            <c:multiLvlStrRef>
              <c:f>Sheet1!$A$2:$A$7</c:f>
              <c:multiLvlStrCache>
                <c:ptCount val="6"/>
                <c:lvl>
                  <c:pt idx="0">
                    <c:v>Logistic Regression (balanced)</c:v>
                  </c:pt>
                  <c:pt idx="1">
                    <c:v>Decision Tree (tuned)</c:v>
                  </c:pt>
                  <c:pt idx="2">
                    <c:v>Bagged trees (200)</c:v>
                  </c:pt>
                  <c:pt idx="3">
                    <c:v>Random Forest (default)</c:v>
                  </c:pt>
                  <c:pt idx="4">
                    <c:v>Random Forest (class weights)</c:v>
                  </c:pt>
                  <c:pt idx="5">
                    <c:v>Random Forest, threshold 0.25</c:v>
                  </c:pt>
                </c:lvl>
              </c:multiLvlStrCache>
            </c:multiLvlStrRef>
          </c:cat>
          <c:val>
            <c:numRef>
              <c:f>Sheet1!$C$2:$C$7</c:f>
              <c:numCache>
                <c:formatCode>General</c:formatCode>
                <c:ptCount val="6"/>
                <c:pt idx="0">
                  <c:v>60.8</c:v>
                </c:pt>
                <c:pt idx="1">
                  <c:v>53.1</c:v>
                </c:pt>
                <c:pt idx="2">
                  <c:v>82.7</c:v>
                </c:pt>
                <c:pt idx="3">
                  <c:v>84.2</c:v>
                </c:pt>
                <c:pt idx="4">
                  <c:v>76.9</c:v>
                </c:pt>
                <c:pt idx="5">
                  <c:v>66.9</c:v>
                </c:pt>
              </c:numCache>
            </c:numRef>
          </c:val>
        </c:ser>
        <c:dLbls>
          <c:numFmt formatCode="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1F1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3E3E3"/>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8C8C8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j-lt"/>
              </a:defRPr>
            </a:pPr>
            <a:r>
              <a:rPr sz="1200" b="0" i="0" u="none" strike="noStrike">
                <a:solidFill>
                  <a:srgbClr val="1E2761"/>
                </a:solidFill>
                <a:latin typeface="+mj-lt"/>
              </a:rPr>
              <a:t>Class-weighted Random Forest, out-of-fold on training rows</a:t>
            </a:r>
          </a:p>
        </c:rich>
      </c:tx>
      <c:layout/>
      <c:overlay val="0"/>
    </c:title>
    <c:autoTitleDeleted val="0"/>
    <c:plotArea>
      <c:layout/>
      <c:lineChart>
        <c:varyColors val="0"/>
        <c:ser>
          <c:idx val="0"/>
          <c:order val="0"/>
          <c:tx>
            <c:strRef>
              <c:f>Sheet1!$B$1</c:f>
              <c:strCache>
                <c:ptCount val="1"/>
                <c:pt idx="0">
                  <c:v>Defaulters caught (recall) %</c:v>
                </c:pt>
              </c:strCache>
            </c:strRef>
          </c:tx>
          <c:spPr>
            <a:solidFill>
              <a:srgbClr val="3C8D5A"/>
            </a:solidFill>
            <a:ln w="31750" cap="flat">
              <a:solidFill>
                <a:srgbClr val="3C8D5A"/>
              </a:solidFill>
              <a:prstDash val="solid"/>
              <a:round/>
            </a:ln>
            <a:effectLst/>
          </c:spPr>
          <c:invertIfNegative val="0"/>
          <c:dLbls>
            <c:numFmt formatCode="#,##0" sourceLinked="0"/>
            <c:txPr>
              <a:bodyPr/>
              <a:lstStyle/>
              <a:p>
                <a:pPr>
                  <a:defRPr b="0" i="0" strike="noStrike" sz="1000" u="none">
                    <a:solidFill>
                      <a:srgbClr val="1F1F1F"/>
                    </a:solidFill>
                    <a:latin typeface="+mn-lt"/>
                  </a:defRPr>
                </a:pPr>
              </a:p>
            </c:txPr>
            <c:showLegendKey val="0"/>
            <c:showVal val="0"/>
            <c:showCatName val="0"/>
            <c:showSerName val="0"/>
            <c:showPercent val="0"/>
            <c:showBubbleSize val="0"/>
            <c:showLeaderLines val="0"/>
          </c:dLbls>
          <c:marker>
            <c:symbol val="circle"/>
            <c:size val="6"/>
            <c:spPr>
              <a:solidFill>
                <a:srgbClr val="3C8D5A"/>
              </a:solidFill>
              <a:ln w="9525" cap="flat">
                <a:solidFill>
                  <a:srgbClr val="3C8D5A"/>
                </a:solidFill>
                <a:prstDash val="solid"/>
                <a:round/>
              </a:ln>
              <a:effectLst/>
            </c:spPr>
          </c:marker>
          <c:cat>
            <c:multiLvlStrRef>
              <c:f>Sheet1!$A$2:$A$12</c:f>
              <c:multiLvlStrCache>
                <c:ptCount val="11"/>
                <c:lvl>
                  <c:pt idx="0">
                    <c:v>0.20</c:v>
                  </c:pt>
                  <c:pt idx="1">
                    <c:v>0.25</c:v>
                  </c:pt>
                  <c:pt idx="2">
                    <c:v>0.30</c:v>
                  </c:pt>
                  <c:pt idx="3">
                    <c:v>0.35</c:v>
                  </c:pt>
                  <c:pt idx="4">
                    <c:v>0.40</c:v>
                  </c:pt>
                  <c:pt idx="5">
                    <c:v>0.45</c:v>
                  </c:pt>
                  <c:pt idx="6">
                    <c:v>0.50</c:v>
                  </c:pt>
                  <c:pt idx="7">
                    <c:v>0.55</c:v>
                  </c:pt>
                  <c:pt idx="8">
                    <c:v>0.60</c:v>
                  </c:pt>
                  <c:pt idx="9">
                    <c:v>0.65</c:v>
                  </c:pt>
                  <c:pt idx="10">
                    <c:v>0.70</c:v>
                  </c:pt>
                </c:lvl>
              </c:multiLvlStrCache>
            </c:multiLvlStrRef>
          </c:cat>
          <c:val>
            <c:numRef>
              <c:f>Sheet1!$B$2:$B$12</c:f>
              <c:numCache>
                <c:formatCode>General</c:formatCode>
                <c:ptCount val="11"/>
                <c:pt idx="0">
                  <c:v>95.6</c:v>
                </c:pt>
                <c:pt idx="1">
                  <c:v>93.5</c:v>
                </c:pt>
                <c:pt idx="2">
                  <c:v>90.3</c:v>
                </c:pt>
                <c:pt idx="3">
                  <c:v>87.6</c:v>
                </c:pt>
                <c:pt idx="4">
                  <c:v>84.7</c:v>
                </c:pt>
                <c:pt idx="5">
                  <c:v>82.6</c:v>
                </c:pt>
                <c:pt idx="6">
                  <c:v>80.2</c:v>
                </c:pt>
                <c:pt idx="7">
                  <c:v>76.7</c:v>
                </c:pt>
                <c:pt idx="8">
                  <c:v>72.1</c:v>
                </c:pt>
                <c:pt idx="9">
                  <c:v>68</c:v>
                </c:pt>
                <c:pt idx="10">
                  <c:v>62.3</c:v>
                </c:pt>
              </c:numCache>
            </c:numRef>
          </c:val>
          <c:smooth val="0"/>
        </c:ser>
        <c:ser>
          <c:idx val="1"/>
          <c:order val="1"/>
          <c:tx>
            <c:strRef>
              <c:f>Sheet1!$C$1</c:f>
              <c:strCache>
                <c:ptCount val="1"/>
                <c:pt idx="0">
                  <c:v>Precision %</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000" u="none">
                    <a:solidFill>
                      <a:srgbClr val="1F1F1F"/>
                    </a:solidFill>
                    <a:latin typeface="+mn-lt"/>
                  </a:defRPr>
                </a:pPr>
              </a:p>
            </c:txPr>
            <c:showLegendKey val="0"/>
            <c:showVal val="0"/>
            <c:showCatName val="0"/>
            <c:showSerName val="0"/>
            <c:showPercent val="0"/>
            <c:showBubbleSize val="0"/>
            <c:showLeaderLines val="0"/>
          </c:dLbls>
          <c:marker>
            <c:symbol val="circle"/>
            <c:size val="6"/>
            <c:spPr>
              <a:solidFill>
                <a:srgbClr val="1E2761"/>
              </a:solidFill>
              <a:ln w="9525" cap="flat">
                <a:solidFill>
                  <a:srgbClr val="1E2761"/>
                </a:solidFill>
                <a:prstDash val="solid"/>
                <a:round/>
              </a:ln>
              <a:effectLst/>
            </c:spPr>
          </c:marker>
          <c:cat>
            <c:multiLvlStrRef>
              <c:f>Sheet1!$A$2:$A$12</c:f>
              <c:multiLvlStrCache>
                <c:ptCount val="11"/>
                <c:lvl>
                  <c:pt idx="0">
                    <c:v>0.20</c:v>
                  </c:pt>
                  <c:pt idx="1">
                    <c:v>0.25</c:v>
                  </c:pt>
                  <c:pt idx="2">
                    <c:v>0.30</c:v>
                  </c:pt>
                  <c:pt idx="3">
                    <c:v>0.35</c:v>
                  </c:pt>
                  <c:pt idx="4">
                    <c:v>0.40</c:v>
                  </c:pt>
                  <c:pt idx="5">
                    <c:v>0.45</c:v>
                  </c:pt>
                  <c:pt idx="6">
                    <c:v>0.50</c:v>
                  </c:pt>
                  <c:pt idx="7">
                    <c:v>0.55</c:v>
                  </c:pt>
                  <c:pt idx="8">
                    <c:v>0.60</c:v>
                  </c:pt>
                  <c:pt idx="9">
                    <c:v>0.65</c:v>
                  </c:pt>
                  <c:pt idx="10">
                    <c:v>0.70</c:v>
                  </c:pt>
                </c:lvl>
              </c:multiLvlStrCache>
            </c:multiLvlStrRef>
          </c:cat>
          <c:val>
            <c:numRef>
              <c:f>Sheet1!$C$2:$C$12</c:f>
              <c:numCache>
                <c:formatCode>General</c:formatCode>
                <c:ptCount val="11"/>
                <c:pt idx="0">
                  <c:v>60.3</c:v>
                </c:pt>
                <c:pt idx="1">
                  <c:v>65.2</c:v>
                </c:pt>
                <c:pt idx="2">
                  <c:v>67.8</c:v>
                </c:pt>
                <c:pt idx="3">
                  <c:v>69.9</c:v>
                </c:pt>
                <c:pt idx="4">
                  <c:v>71.5</c:v>
                </c:pt>
                <c:pt idx="5">
                  <c:v>73.3</c:v>
                </c:pt>
                <c:pt idx="6">
                  <c:v>75.9</c:v>
                </c:pt>
                <c:pt idx="7">
                  <c:v>78.2</c:v>
                </c:pt>
                <c:pt idx="8">
                  <c:v>80.9</c:v>
                </c:pt>
                <c:pt idx="9">
                  <c:v>83.2</c:v>
                </c:pt>
                <c:pt idx="10">
                  <c:v>84.5</c:v>
                </c:pt>
              </c:numCache>
            </c:numRef>
          </c:val>
          <c:smooth val="0"/>
        </c:ser>
        <c:dLbls>
          <c:numFmt formatCode="#,##0" sourceLinked="0"/>
          <c:txPr>
            <a:bodyPr/>
            <a:lstStyle/>
            <a:p>
              <a:pPr>
                <a:defRPr b="0" i="0" strike="noStrike" sz="1000" u="none">
                  <a:solidFill>
                    <a:srgbClr val="1F1F1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8C8C8C"/>
                    </a:solidFill>
                    <a:latin typeface="Arial"/>
                  </a:defRPr>
                </a:pPr>
                <a:r>
                  <a:rPr sz="1000" b="0" i="0" u="none" strike="noStrike">
                    <a:solidFill>
                      <a:srgbClr val="8C8C8C"/>
                    </a:solidFill>
                    <a:latin typeface="Arial"/>
                  </a:rPr>
                  <a:t>probability threshold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1F1F"/>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8C8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j-lt"/>
              </a:defRPr>
            </a:pPr>
            <a:r>
              <a:rPr sz="1200" b="0" i="0" u="none" strike="noStrike">
                <a:solidFill>
                  <a:srgbClr val="1E2761"/>
                </a:solidFill>
                <a:latin typeface="+mj-lt"/>
              </a:rPr>
              <a:t>Impurity-based importance (%), final Random Forest</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1E2761"/>
            </a:solidFill>
            <a:effectLst/>
          </c:spPr>
          <c:invertIfNegative val="0"/>
          <c:dLbls>
            <c:numFmt formatCode="0.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cat>
            <c:multiLvlStrRef>
              <c:f>Sheet1!$A$2:$A$13</c:f>
              <c:multiLvlStrCache>
                <c:ptCount val="12"/>
                <c:lvl>
                  <c:pt idx="0">
                    <c:v>Debt-to-income missing</c:v>
                  </c:pt>
                  <c:pt idx="1">
                    <c:v>Debt-to-income ratio</c:v>
                  </c:pt>
                  <c:pt idx="2">
                    <c:v>Age of oldest credit line</c:v>
                  </c:pt>
                  <c:pt idx="3">
                    <c:v>Delinquent credit lines</c:v>
                  </c:pt>
                  <c:pt idx="4">
                    <c:v>Property value</c:v>
                  </c:pt>
                  <c:pt idx="5">
                    <c:v>Loan amount</c:v>
                  </c:pt>
                  <c:pt idx="6">
                    <c:v>Mortgage due</c:v>
                  </c:pt>
                  <c:pt idx="7">
                    <c:v>Number of credit lines</c:v>
                  </c:pt>
                  <c:pt idx="8">
                    <c:v>Years at job</c:v>
                  </c:pt>
                  <c:pt idx="9">
                    <c:v>Derogatory reports</c:v>
                  </c:pt>
                  <c:pt idx="10">
                    <c:v>Recent inquiries</c:v>
                  </c:pt>
                  <c:pt idx="11">
                    <c:v>Property value missing</c:v>
                  </c:pt>
                </c:lvl>
              </c:multiLvlStrCache>
            </c:multiLvlStrRef>
          </c:cat>
          <c:val>
            <c:numRef>
              <c:f>Sheet1!$B$2:$B$13</c:f>
              <c:numCache>
                <c:formatCode>General</c:formatCode>
                <c:ptCount val="12"/>
                <c:pt idx="0">
                  <c:v>18.7</c:v>
                </c:pt>
                <c:pt idx="1">
                  <c:v>17.8</c:v>
                </c:pt>
                <c:pt idx="2">
                  <c:v>8.4</c:v>
                </c:pt>
                <c:pt idx="3">
                  <c:v>7.2</c:v>
                </c:pt>
                <c:pt idx="4">
                  <c:v>6.8</c:v>
                </c:pt>
                <c:pt idx="5">
                  <c:v>6.4</c:v>
                </c:pt>
                <c:pt idx="6">
                  <c:v>6.2</c:v>
                </c:pt>
                <c:pt idx="7">
                  <c:v>5.9</c:v>
                </c:pt>
                <c:pt idx="8">
                  <c:v>5.1</c:v>
                </c:pt>
                <c:pt idx="9">
                  <c:v>3.7</c:v>
                </c:pt>
                <c:pt idx="10">
                  <c:v>3.1</c:v>
                </c:pt>
                <c:pt idx="11">
                  <c:v>1.9</c:v>
                </c:pt>
              </c:numCache>
            </c:numRef>
          </c:val>
        </c:ser>
        <c:dLbls>
          <c:numFmt formatCode="0.0" sourceLinked="0"/>
          <c:txPr>
            <a:bodyPr/>
            <a:lstStyle/>
            <a:p>
              <a:pPr>
                <a:defRPr b="0" i="0" strike="noStrike" sz="1000" u="none">
                  <a:solidFill>
                    <a:srgbClr val="1F1F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1F1F"/>
                </a:solidFill>
                <a:latin typeface="+mn-lt"/>
              </a:defRPr>
            </a:pPr>
            <a:endParaRPr lang="en-US"/>
          </a:p>
        </c:txPr>
        <c:crossAx val="2094734552"/>
        <c:crosses val="autoZero"/>
        <c:auto val="1"/>
        <c:lblAlgn val="ctr"/>
        <c:noMultiLvlLbl val="1"/>
      </c:catAx>
      <c:valAx>
        <c:axId val="2094734552"/>
        <c:scaling>
          <c:orientation val="minMax"/>
          <c:max val="24"/>
          <c:min val="0"/>
        </c:scaling>
        <c:delete val="0"/>
        <c:axPos val="b"/>
        <c:majorGridlines>
          <c:spPr>
            <a:ln w="6350" cap="flat">
              <a:solidFill>
                <a:srgbClr val="E3E3E3"/>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In the next eight minutes I will show how a bank can cut its home-equity loan losses by more than three quarters with a model it can also explain to regulators and applicants.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remember. One in five loans goes bad. The biggest red flag is income the bank could not verify. The proposed model catches 93 percent of defaulters before the money leaves the bank. And under reasonable assumptions that is worth about nine million dollars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context: profit comes from interest, losses come from defaulters, and the current manual process is slow and inconsistent. The data is 5,960 recent home equity loans with 12 attributes and a 20 percent default rate. Almost half the applications have at least one blank field, which turns out to matter a great 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Explore the data, prepare it, build linear and non-linear models, measure them on the metric that follows the money, and turn the result into recommendations. The key preparation decision was to keep a flag for every missing field instead of just filling the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finding. When the debt-to-income ratio is missing, 62 percent of those applicants defaulted. When the property valuation is missing, 94 percent. The absence of information is itself a signal, so the models carry a flag for every missing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drivers that are easy to explain. The debt-to-income ratio is not a slope but a cliff: between 20 and 40 percent, 4 to 7 percent default; above 45 percent, 87 to 100 percent. And repayment history repeats: each delinquent credit line roughly doubles the default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supporting drivers. A long credit history protects. Small loans are the riskiest, not the safest. Occupation matters a little; at the usual threshold removing it changes performance by about a point, and the fair-lending review decides whether it stays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comparing models, the yardstick. Approving a future defaulter costs the bank most of the principal; declining a good customer costs only the margin. So the primary metric is recall, the share of defaulters we catch, with precision as the guard-rail against declining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model variants were built; these six tell the story. The forest with class weights has the best balance and ranks applicants among the best. It was selected, together with its threshold, on out-of-fold expected cost using training data only; on the test set it then catches 93 percent of defaulters while two thirds of the flagged applicants really would have defaulted.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A Random Forest does the scoring; a surrogate decision tree fitted to the forest's own decisions, which reproduces ninety percent of them, provides the plain-language reasons for every decline. On unseen applicants the forest catches 93 percent of defaulters and two out of three flagged applicants really would have defaulted.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outputs a probability, and 0.5 is only a convention. The cut-off was chosen on out-of-fold predictions of the training data, so the test set played no part. Moving it to 0.25 cuts missed defaulters from 45 to 15 per thousand applicants on the test set, at the price of declining 92 instead of 46 good customers. It is the cheapest operating point for any cost ratio between three and six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together with round-number assumptions, the bank's default-related cost falls from about 10.8 million to about 1.9 million a year on 6,000 applications. Even if the real benefit were a quarter of that, the project pays back inside a year. Finance should replace these assumptions with actual loss and margin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in three phases: prepare, shadow and pilot, then scale. And two policy rules the bank can adopt immediately, with or without the model: a debt-to-income limit of 45 percent and a hard look at anyone with two or more delinquencies or derogatory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risks are selection bias, because the data only covers approved loans, drift in the missing-value signal once verification becomes mandatory, and fair-lending exposure. Each has a concrete mitigation. Next steps include reject inference, engineered ratios, calibration and time-based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18872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2834640"/>
            <a:ext cx="8046720" cy="1097280"/>
          </a:xfrm>
          <a:prstGeom prst="rect">
            <a:avLst/>
          </a:prstGeom>
          <a:noFill/>
          <a:ln/>
        </p:spPr>
        <p:txBody>
          <a:bodyPr wrap="square" rtlCol="0"/>
          <a:lstStyle>
            <a:lvl1pPr algn="l" indent="0" marL="0">
              <a:buNone/>
              <a:defRPr lang="en-US" sz="1800" dirty="0">
                <a:solidFill>
                  <a:srgbClr val="EEF2FA"/>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rtlCol="0"/>
          <a:lstStyle>
            <a:lvl1pPr algn="l" indent="0" marL="0">
              <a:buNone/>
              <a:defRPr lang="en-US" sz="2400" b="1" dirty="0">
                <a:solidFill>
                  <a:srgbClr val="1E2761"/>
                </a:solidFill>
              </a:defRPr>
            </a:lvl1pPr>
          </a:lstStyle>
          <a:p>
            <a:pPr algn="l" indent="0" marL="0">
              <a:buNone/>
            </a:pPr>
            <a:endParaRPr lang="en-US" sz="2400" dirty="0"/>
          </a:p>
        </p:txBody>
      </p:sp>
      <p:sp>
        <p:nvSpPr>
          <p:cNvPr id="3" name="Text 0"/>
          <p:cNvSpPr/>
          <p:nvPr/>
        </p:nvSpPr>
        <p:spPr>
          <a:xfrm>
            <a:off x="457200" y="4773168"/>
            <a:ext cx="4572000" cy="274320"/>
          </a:xfrm>
          <a:prstGeom prst="rect">
            <a:avLst/>
          </a:prstGeom>
          <a:noFill/>
          <a:ln/>
        </p:spPr>
        <p:txBody>
          <a:bodyPr wrap="square" lIns="0" tIns="0" rIns="0" bIns="0" rtlCol="0" anchor="ctr"/>
          <a:lstStyle/>
          <a:p>
            <a:pPr indent="0" marL="0">
              <a:buNone/>
            </a:pPr>
            <a:r>
              <a:rPr lang="en-US" sz="900" dirty="0">
                <a:solidFill>
                  <a:srgbClr val="8C8C8C"/>
                </a:solidFill>
              </a:rPr>
              <a:t>Loan Default Prediction  |  Capstone</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chart" Target="/ppt/charts/chart6.xml"/><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188720"/>
          </a:xfrm>
          <a:prstGeom prst="rect">
            <a:avLst/>
          </a:prstGeom>
          <a:noFill/>
          <a:ln/>
        </p:spPr>
        <p:txBody>
          <a:bodyPr wrap="square" lIns="0" tIns="0" rIns="0" bIns="0" rtlCol="0" anchor="b"/>
          <a:lstStyle/>
          <a:p>
            <a:pPr algn="l" indent="0" marL="0">
              <a:buNone/>
            </a:pPr>
            <a:r>
              <a:rPr lang="en-US" sz="4000" b="1" dirty="0">
                <a:solidFill>
                  <a:srgbClr val="FFFFFF"/>
                </a:solidFill>
              </a:rPr>
              <a:t>Loan Default Prediction</a:t>
            </a:r>
            <a:endParaRPr lang="en-US" sz="4000" dirty="0"/>
          </a:p>
        </p:txBody>
      </p:sp>
      <p:sp>
        <p:nvSpPr>
          <p:cNvPr id="3" name="Text 0"/>
          <p:cNvSpPr/>
          <p:nvPr>
            <p:ph idx="101" type="body" hasCustomPrompt="1"/>
          </p:nvPr>
        </p:nvSpPr>
        <p:spPr>
          <a:xfrm>
            <a:off x="548640" y="2834640"/>
            <a:ext cx="8046720" cy="1097280"/>
          </a:xfrm>
          <a:prstGeom prst="rect">
            <a:avLst/>
          </a:prstGeom>
          <a:noFill/>
          <a:ln/>
        </p:spPr>
        <p:txBody>
          <a:bodyPr wrap="square" lIns="0" tIns="0" rIns="0" bIns="0" rtlCol="0" anchor="t"/>
          <a:lstStyle/>
          <a:p>
            <a:pPr algn="l" indent="0" marL="0">
              <a:buNone/>
            </a:pPr>
            <a:r>
              <a:rPr lang="en-US" sz="1800" dirty="0">
                <a:solidFill>
                  <a:schemeClr val="bg2"/>
                </a:solidFill>
              </a:rPr>
              <a:t>An interpretable credit-scoring model for home equity loan approvals</a:t>
            </a:r>
            <a:endParaRPr lang="en-US" sz="1800" dirty="0"/>
          </a:p>
          <a:p>
            <a:pPr algn="l" indent="0" marL="0">
              <a:buNone/>
            </a:pPr>
            <a:r>
              <a:rPr lang="en-US" sz="1200" dirty="0">
                <a:solidFill>
                  <a:schemeClr val="accent4"/>
                </a:solidFill>
              </a:rPr>
              <a:t>Capstone Project  |  Practical Data Science  |  MIT Professional Education - Applied AI and Data Science Program</a:t>
            </a:r>
            <a:endParaRPr lang="en-US" sz="1800" dirty="0"/>
          </a:p>
          <a:p>
            <a:pPr algn="l" indent="0" marL="0">
              <a:buNone/>
            </a:pPr>
            <a:r>
              <a:rPr lang="en-US" sz="1200" dirty="0">
                <a:solidFill>
                  <a:schemeClr val="accent4"/>
                </a:solidFill>
              </a:rPr>
              <a:t>Shubham Garg  |  November 2026</a:t>
            </a:r>
            <a:endParaRPr lang="en-US" sz="1800" dirty="0"/>
          </a:p>
        </p:txBody>
      </p:sp>
      <p:sp>
        <p:nvSpPr>
          <p:cNvPr id="4" name="title marker"/>
          <p:cNvSpPr/>
          <p:nvPr/>
        </p:nvSpPr>
        <p:spPr>
          <a:xfrm>
            <a:off x="548640" y="1325880"/>
            <a:ext cx="822960" cy="73152"/>
          </a:xfrm>
          <a:prstGeom prst="rect">
            <a:avLst/>
          </a:prstGeom>
          <a:solidFill>
            <a:schemeClr val="accent2"/>
          </a:solidFill>
          <a:ln w="12700">
            <a:solidFill>
              <a:schemeClr val="accent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Key takeaways</a:t>
            </a:r>
            <a:endParaRPr lang="en-US" sz="2400" dirty="0"/>
          </a:p>
        </p:txBody>
      </p:sp>
      <p:sp>
        <p:nvSpPr>
          <p:cNvPr id="3" name="takeaway card 1"/>
          <p:cNvSpPr/>
          <p:nvPr/>
        </p:nvSpPr>
        <p:spPr>
          <a:xfrm>
            <a:off x="457200" y="1188720"/>
            <a:ext cx="1965960" cy="3291840"/>
          </a:xfrm>
          <a:prstGeom prst="roundRect">
            <a:avLst>
              <a:gd name="adj" fmla="val 3721"/>
            </a:avLst>
          </a:prstGeom>
          <a:solidFill>
            <a:schemeClr val="bg2"/>
          </a:solidFill>
          <a:ln w="9525">
            <a:solidFill>
              <a:schemeClr val="bg2"/>
            </a:solidFill>
            <a:prstDash val="solid"/>
          </a:ln>
          <a:effectLst>
            <a:outerShdw sx="100000" sy="100000" kx="0" ky="0" algn="bl" rotWithShape="0" blurRad="50800" dist="12700" dir="5400000">
              <a:srgbClr val="A0A0A0">
                <a:alpha val="25000"/>
              </a:srgbClr>
            </a:outerShdw>
          </a:effectLst>
        </p:spPr>
      </p:sp>
      <p:sp>
        <p:nvSpPr>
          <p:cNvPr id="4" name="takeaway number 1"/>
          <p:cNvSpPr txBox="1"/>
          <p:nvPr/>
        </p:nvSpPr>
        <p:spPr>
          <a:xfrm>
            <a:off x="594360" y="1371600"/>
            <a:ext cx="1691640" cy="822960"/>
          </a:xfrm>
          <a:prstGeom prst="rect">
            <a:avLst/>
          </a:prstGeom>
          <a:noFill/>
          <a:ln/>
        </p:spPr>
        <p:txBody>
          <a:bodyPr wrap="square" lIns="0" tIns="0" rIns="0" bIns="0" rtlCol="0" anchor="ctr"/>
          <a:lstStyle/>
          <a:p>
            <a:pPr algn="l" indent="0" marL="0">
              <a:buNone/>
            </a:pPr>
            <a:r>
              <a:rPr lang="en-US" sz="3400" b="1" dirty="0">
                <a:solidFill>
                  <a:schemeClr val="accent1"/>
                </a:solidFill>
              </a:rPr>
              <a:t>1 in 5</a:t>
            </a:r>
            <a:endParaRPr lang="en-US" sz="3400" dirty="0"/>
          </a:p>
        </p:txBody>
      </p:sp>
      <p:sp>
        <p:nvSpPr>
          <p:cNvPr id="5" name="takeaway text 1"/>
          <p:cNvSpPr txBox="1"/>
          <p:nvPr/>
        </p:nvSpPr>
        <p:spPr>
          <a:xfrm>
            <a:off x="594360" y="2286000"/>
            <a:ext cx="1691640" cy="2011680"/>
          </a:xfrm>
          <a:prstGeom prst="rect">
            <a:avLst/>
          </a:prstGeom>
          <a:noFill/>
          <a:ln/>
        </p:spPr>
        <p:txBody>
          <a:bodyPr wrap="square" lIns="0" tIns="0" rIns="0" bIns="0" rtlCol="0" anchor="t"/>
          <a:lstStyle/>
          <a:p>
            <a:pPr algn="l" indent="0" marL="0">
              <a:buNone/>
            </a:pPr>
            <a:r>
              <a:rPr lang="en-US" sz="1250" dirty="0">
                <a:solidFill>
                  <a:schemeClr val="tx1"/>
                </a:solidFill>
              </a:rPr>
              <a:t>home equity loans in the data ended in default. Accuracy alone is a misleading yardstick.</a:t>
            </a:r>
            <a:endParaRPr lang="en-US" sz="1250" dirty="0"/>
          </a:p>
        </p:txBody>
      </p:sp>
      <p:sp>
        <p:nvSpPr>
          <p:cNvPr id="6" name="takeaway card 2"/>
          <p:cNvSpPr/>
          <p:nvPr/>
        </p:nvSpPr>
        <p:spPr>
          <a:xfrm>
            <a:off x="2560320" y="1188720"/>
            <a:ext cx="1965960" cy="3291840"/>
          </a:xfrm>
          <a:prstGeom prst="roundRect">
            <a:avLst>
              <a:gd name="adj" fmla="val 3721"/>
            </a:avLst>
          </a:prstGeom>
          <a:solidFill>
            <a:schemeClr val="bg2"/>
          </a:solidFill>
          <a:ln w="9525">
            <a:solidFill>
              <a:schemeClr val="bg2"/>
            </a:solidFill>
            <a:prstDash val="solid"/>
          </a:ln>
          <a:effectLst>
            <a:outerShdw sx="100000" sy="100000" kx="0" ky="0" algn="bl" rotWithShape="0" blurRad="50800" dist="12700" dir="5400000">
              <a:srgbClr val="A0A0A0">
                <a:alpha val="25000"/>
              </a:srgbClr>
            </a:outerShdw>
          </a:effectLst>
        </p:spPr>
      </p:sp>
      <p:sp>
        <p:nvSpPr>
          <p:cNvPr id="7" name="takeaway number 2"/>
          <p:cNvSpPr txBox="1"/>
          <p:nvPr/>
        </p:nvSpPr>
        <p:spPr>
          <a:xfrm>
            <a:off x="2697480" y="1371600"/>
            <a:ext cx="1691640" cy="822960"/>
          </a:xfrm>
          <a:prstGeom prst="rect">
            <a:avLst/>
          </a:prstGeom>
          <a:noFill/>
          <a:ln/>
        </p:spPr>
        <p:txBody>
          <a:bodyPr wrap="square" lIns="0" tIns="0" rIns="0" bIns="0" rtlCol="0" anchor="ctr"/>
          <a:lstStyle/>
          <a:p>
            <a:pPr algn="l" indent="0" marL="0">
              <a:buNone/>
            </a:pPr>
            <a:r>
              <a:rPr lang="en-US" sz="3400" b="1" dirty="0">
                <a:solidFill>
                  <a:schemeClr val="accent1"/>
                </a:solidFill>
              </a:rPr>
              <a:t>62%</a:t>
            </a:r>
            <a:endParaRPr lang="en-US" sz="3400" dirty="0"/>
          </a:p>
        </p:txBody>
      </p:sp>
      <p:sp>
        <p:nvSpPr>
          <p:cNvPr id="8" name="takeaway text 2"/>
          <p:cNvSpPr txBox="1"/>
          <p:nvPr/>
        </p:nvSpPr>
        <p:spPr>
          <a:xfrm>
            <a:off x="2697480" y="2286000"/>
            <a:ext cx="1691640" cy="2011680"/>
          </a:xfrm>
          <a:prstGeom prst="rect">
            <a:avLst/>
          </a:prstGeom>
          <a:noFill/>
          <a:ln/>
        </p:spPr>
        <p:txBody>
          <a:bodyPr wrap="square" lIns="0" tIns="0" rIns="0" bIns="0" rtlCol="0" anchor="t"/>
          <a:lstStyle/>
          <a:p>
            <a:pPr algn="l" indent="0" marL="0">
              <a:buNone/>
            </a:pPr>
            <a:r>
              <a:rPr lang="en-US" sz="1250" dirty="0">
                <a:solidFill>
                  <a:schemeClr val="tx1"/>
                </a:solidFill>
              </a:rPr>
              <a:t>default rate when the applicant's debt-to-income ratio is missing, versus 8.6% when it is recorded. Unverified income is the strongest warning sign.</a:t>
            </a:r>
            <a:endParaRPr lang="en-US" sz="1250" dirty="0"/>
          </a:p>
        </p:txBody>
      </p:sp>
      <p:sp>
        <p:nvSpPr>
          <p:cNvPr id="9" name="takeaway card 3"/>
          <p:cNvSpPr/>
          <p:nvPr/>
        </p:nvSpPr>
        <p:spPr>
          <a:xfrm>
            <a:off x="4663440" y="1188720"/>
            <a:ext cx="1965960" cy="3291840"/>
          </a:xfrm>
          <a:prstGeom prst="roundRect">
            <a:avLst>
              <a:gd name="adj" fmla="val 3721"/>
            </a:avLst>
          </a:prstGeom>
          <a:solidFill>
            <a:schemeClr val="bg2"/>
          </a:solidFill>
          <a:ln w="9525">
            <a:solidFill>
              <a:schemeClr val="bg2"/>
            </a:solidFill>
            <a:prstDash val="solid"/>
          </a:ln>
          <a:effectLst>
            <a:outerShdw sx="100000" sy="100000" kx="0" ky="0" algn="bl" rotWithShape="0" blurRad="50800" dist="12700" dir="5400000">
              <a:srgbClr val="A0A0A0">
                <a:alpha val="25000"/>
              </a:srgbClr>
            </a:outerShdw>
          </a:effectLst>
        </p:spPr>
      </p:sp>
      <p:sp>
        <p:nvSpPr>
          <p:cNvPr id="10" name="takeaway number 3"/>
          <p:cNvSpPr txBox="1"/>
          <p:nvPr/>
        </p:nvSpPr>
        <p:spPr>
          <a:xfrm>
            <a:off x="4800600" y="1371600"/>
            <a:ext cx="1691640" cy="822960"/>
          </a:xfrm>
          <a:prstGeom prst="rect">
            <a:avLst/>
          </a:prstGeom>
          <a:noFill/>
          <a:ln/>
        </p:spPr>
        <p:txBody>
          <a:bodyPr wrap="square" lIns="0" tIns="0" rIns="0" bIns="0" rtlCol="0" anchor="ctr"/>
          <a:lstStyle/>
          <a:p>
            <a:pPr algn="l" indent="0" marL="0">
              <a:buNone/>
            </a:pPr>
            <a:r>
              <a:rPr lang="en-US" sz="3400" b="1" dirty="0">
                <a:solidFill>
                  <a:schemeClr val="accent5"/>
                </a:solidFill>
              </a:rPr>
              <a:t>93%</a:t>
            </a:r>
            <a:endParaRPr lang="en-US" sz="3400" dirty="0"/>
          </a:p>
        </p:txBody>
      </p:sp>
      <p:sp>
        <p:nvSpPr>
          <p:cNvPr id="11" name="takeaway text 3"/>
          <p:cNvSpPr txBox="1"/>
          <p:nvPr/>
        </p:nvSpPr>
        <p:spPr>
          <a:xfrm>
            <a:off x="4800600" y="2286000"/>
            <a:ext cx="1691640" cy="2011680"/>
          </a:xfrm>
          <a:prstGeom prst="rect">
            <a:avLst/>
          </a:prstGeom>
          <a:noFill/>
          <a:ln/>
        </p:spPr>
        <p:txBody>
          <a:bodyPr wrap="square" lIns="0" tIns="0" rIns="0" bIns="0" rtlCol="0" anchor="t"/>
          <a:lstStyle/>
          <a:p>
            <a:pPr algn="l" indent="0" marL="0">
              <a:buNone/>
            </a:pPr>
            <a:r>
              <a:rPr lang="en-US" sz="1250" dirty="0">
                <a:solidFill>
                  <a:schemeClr val="tx1"/>
                </a:solidFill>
              </a:rPr>
              <a:t>of future defaulters are caught by the proposed Random Forest model on unseen applicants, while 2 of every 3 applicants it flags really would have defaulted.</a:t>
            </a:r>
            <a:endParaRPr lang="en-US" sz="1250" dirty="0"/>
          </a:p>
        </p:txBody>
      </p:sp>
      <p:sp>
        <p:nvSpPr>
          <p:cNvPr id="12" name="takeaway card 4"/>
          <p:cNvSpPr/>
          <p:nvPr/>
        </p:nvSpPr>
        <p:spPr>
          <a:xfrm>
            <a:off x="6766560" y="1188720"/>
            <a:ext cx="1965960" cy="3291840"/>
          </a:xfrm>
          <a:prstGeom prst="roundRect">
            <a:avLst>
              <a:gd name="adj" fmla="val 3721"/>
            </a:avLst>
          </a:prstGeom>
          <a:solidFill>
            <a:schemeClr val="bg2"/>
          </a:solidFill>
          <a:ln w="9525">
            <a:solidFill>
              <a:schemeClr val="bg2"/>
            </a:solidFill>
            <a:prstDash val="solid"/>
          </a:ln>
          <a:effectLst>
            <a:outerShdw sx="100000" sy="100000" kx="0" ky="0" algn="bl" rotWithShape="0" blurRad="50800" dist="12700" dir="5400000">
              <a:srgbClr val="A0A0A0">
                <a:alpha val="25000"/>
              </a:srgbClr>
            </a:outerShdw>
          </a:effectLst>
        </p:spPr>
      </p:sp>
      <p:sp>
        <p:nvSpPr>
          <p:cNvPr id="13" name="takeaway number 4"/>
          <p:cNvSpPr txBox="1"/>
          <p:nvPr/>
        </p:nvSpPr>
        <p:spPr>
          <a:xfrm>
            <a:off x="6903720" y="1371600"/>
            <a:ext cx="1691640" cy="822960"/>
          </a:xfrm>
          <a:prstGeom prst="rect">
            <a:avLst/>
          </a:prstGeom>
          <a:noFill/>
          <a:ln/>
        </p:spPr>
        <p:txBody>
          <a:bodyPr wrap="square" lIns="0" tIns="0" rIns="0" bIns="0" rtlCol="0" anchor="ctr"/>
          <a:lstStyle/>
          <a:p>
            <a:pPr algn="l" indent="0" marL="0">
              <a:buNone/>
            </a:pPr>
            <a:r>
              <a:rPr lang="en-US" sz="3400" b="1" dirty="0">
                <a:solidFill>
                  <a:schemeClr val="accent1"/>
                </a:solidFill>
              </a:rPr>
              <a:t>~$9M</a:t>
            </a:r>
            <a:endParaRPr lang="en-US" sz="3400" dirty="0"/>
          </a:p>
        </p:txBody>
      </p:sp>
      <p:sp>
        <p:nvSpPr>
          <p:cNvPr id="14" name="takeaway text 4"/>
          <p:cNvSpPr txBox="1"/>
          <p:nvPr/>
        </p:nvSpPr>
        <p:spPr>
          <a:xfrm>
            <a:off x="6903720" y="2286000"/>
            <a:ext cx="1691640" cy="2011680"/>
          </a:xfrm>
          <a:prstGeom prst="rect">
            <a:avLst/>
          </a:prstGeom>
          <a:noFill/>
          <a:ln/>
        </p:spPr>
        <p:txBody>
          <a:bodyPr wrap="square" lIns="0" tIns="0" rIns="0" bIns="0" rtlCol="0" anchor="t"/>
          <a:lstStyle/>
          <a:p>
            <a:pPr algn="l" indent="0" marL="0">
              <a:buNone/>
            </a:pPr>
            <a:r>
              <a:rPr lang="en-US" sz="1250" dirty="0">
                <a:solidFill>
                  <a:schemeClr val="tx1"/>
                </a:solidFill>
              </a:rPr>
              <a:t>indicative annual benefit on 6,000 applications, from roughly $10.8M of default-related cost down to about $1.9M.</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The problem: approving home equity loans without losing the profit to defaults</a:t>
            </a:r>
            <a:endParaRPr lang="en-US" sz="2400" dirty="0"/>
          </a:p>
        </p:txBody>
      </p:sp>
      <p:sp>
        <p:nvSpPr>
          <p:cNvPr id="3" name="problem bullets"/>
          <p:cNvSpPr txBox="1"/>
          <p:nvPr/>
        </p:nvSpPr>
        <p:spPr>
          <a:xfrm>
            <a:off x="457200" y="1143000"/>
            <a:ext cx="4846320" cy="27432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chemeClr val="tx1"/>
                </a:solidFill>
              </a:rPr>
              <a:t>Interest on home loans is a major share of retail bank profit; bad loans eat it up.</a:t>
            </a:r>
            <a:endParaRPr lang="en-US" sz="1350" dirty="0"/>
          </a:p>
          <a:p>
            <a:pPr marL="177800" indent="-177800">
              <a:spcAft>
                <a:spcPts val="800"/>
              </a:spcAft>
              <a:buSzPct val="100000"/>
              <a:buChar char="•"/>
            </a:pPr>
            <a:r>
              <a:rPr lang="en-US" sz="1350" dirty="0">
                <a:solidFill>
                  <a:schemeClr val="tx1"/>
                </a:solidFill>
              </a:rPr>
              <a:t>Today each application is judged manually: slow, inconsistent across underwriters, open to error and bias.</a:t>
            </a:r>
            <a:endParaRPr lang="en-US" sz="1350" dirty="0"/>
          </a:p>
          <a:p>
            <a:pPr marL="177800" indent="-177800">
              <a:spcAft>
                <a:spcPts val="800"/>
              </a:spcAft>
              <a:buSzPct val="100000"/>
              <a:buChar char="•"/>
            </a:pPr>
            <a:r>
              <a:rPr lang="en-US" sz="1350" dirty="0">
                <a:solidFill>
                  <a:schemeClr val="tx1"/>
                </a:solidFill>
              </a:rPr>
              <a:t>The consumer credit department wants an empirically derived credit-scoring model built on its own recent loans.</a:t>
            </a:r>
            <a:endParaRPr lang="en-US" sz="1350" dirty="0"/>
          </a:p>
          <a:p>
            <a:pPr marL="177800" indent="-177800">
              <a:spcAft>
                <a:spcPts val="800"/>
              </a:spcAft>
              <a:buSzPct val="100000"/>
              <a:buChar char="•"/>
            </a:pPr>
            <a:r>
              <a:rPr lang="en-US" sz="1350" dirty="0">
                <a:solidFill>
                  <a:schemeClr val="tx1"/>
                </a:solidFill>
              </a:rPr>
              <a:t>Constraint: under the Equal Credit Opportunity Act every rejection needs a specific, defensible reason, so the model must be interpretable.</a:t>
            </a:r>
            <a:endParaRPr lang="en-US" sz="1350" dirty="0"/>
          </a:p>
        </p:txBody>
      </p:sp>
      <p:sp>
        <p:nvSpPr>
          <p:cNvPr id="4" name="data card"/>
          <p:cNvSpPr/>
          <p:nvPr/>
        </p:nvSpPr>
        <p:spPr>
          <a:xfrm>
            <a:off x="5577840" y="1143000"/>
            <a:ext cx="3108960" cy="3429000"/>
          </a:xfrm>
          <a:prstGeom prst="roundRect">
            <a:avLst>
              <a:gd name="adj" fmla="val 2353"/>
            </a:avLst>
          </a:prstGeom>
          <a:solidFill>
            <a:schemeClr val="bg2"/>
          </a:solidFill>
          <a:ln w="9525">
            <a:solidFill>
              <a:schemeClr val="bg2"/>
            </a:solidFill>
            <a:prstDash val="solid"/>
          </a:ln>
        </p:spPr>
      </p:sp>
      <p:sp>
        <p:nvSpPr>
          <p:cNvPr id="5" name="data card title"/>
          <p:cNvSpPr txBox="1"/>
          <p:nvPr/>
        </p:nvSpPr>
        <p:spPr>
          <a:xfrm>
            <a:off x="5760720" y="1234440"/>
            <a:ext cx="2743200" cy="365760"/>
          </a:xfrm>
          <a:prstGeom prst="rect">
            <a:avLst/>
          </a:prstGeom>
          <a:noFill/>
          <a:ln/>
        </p:spPr>
        <p:txBody>
          <a:bodyPr wrap="square" lIns="0" tIns="0" rIns="0" bIns="0" rtlCol="0" anchor="ctr"/>
          <a:lstStyle/>
          <a:p>
            <a:pPr indent="0" marL="0">
              <a:buNone/>
            </a:pPr>
            <a:r>
              <a:rPr lang="en-US" sz="1200" b="1" dirty="0">
                <a:solidFill>
                  <a:schemeClr val="accent1"/>
                </a:solidFill>
              </a:rPr>
              <a:t>The data: Home Equity dataset (HMEQ)</a:t>
            </a:r>
            <a:endParaRPr lang="en-US" sz="1200" dirty="0"/>
          </a:p>
        </p:txBody>
      </p:sp>
      <p:sp>
        <p:nvSpPr>
          <p:cNvPr id="6" name="stat 5,960"/>
          <p:cNvSpPr txBox="1"/>
          <p:nvPr/>
        </p:nvSpPr>
        <p:spPr>
          <a:xfrm>
            <a:off x="5760720" y="1600200"/>
            <a:ext cx="1371600" cy="685800"/>
          </a:xfrm>
          <a:prstGeom prst="rect">
            <a:avLst/>
          </a:prstGeom>
          <a:noFill/>
          <a:ln/>
        </p:spPr>
        <p:txBody>
          <a:bodyPr wrap="square" lIns="0" tIns="0" rIns="0" bIns="0" rtlCol="0" anchor="b"/>
          <a:lstStyle/>
          <a:p>
            <a:pPr algn="ctr" indent="0" marL="0">
              <a:buNone/>
            </a:pPr>
            <a:r>
              <a:rPr lang="en-US" sz="2800" b="1" dirty="0">
                <a:solidFill>
                  <a:schemeClr val="accent1"/>
                </a:solidFill>
              </a:rPr>
              <a:t>5,960</a:t>
            </a:r>
            <a:endParaRPr lang="en-US" sz="2800" dirty="0"/>
          </a:p>
        </p:txBody>
      </p:sp>
      <p:sp>
        <p:nvSpPr>
          <p:cNvPr id="7" name="stat label recent loans"/>
          <p:cNvSpPr txBox="1"/>
          <p:nvPr/>
        </p:nvSpPr>
        <p:spPr>
          <a:xfrm>
            <a:off x="5760720" y="2313432"/>
            <a:ext cx="1371600" cy="502920"/>
          </a:xfrm>
          <a:prstGeom prst="rect">
            <a:avLst/>
          </a:prstGeom>
          <a:noFill/>
          <a:ln/>
        </p:spPr>
        <p:txBody>
          <a:bodyPr wrap="square" lIns="0" tIns="0" rIns="0" bIns="0" rtlCol="0" anchor="t"/>
          <a:lstStyle/>
          <a:p>
            <a:pPr algn="ctr" indent="0" marL="0">
              <a:buNone/>
            </a:pPr>
            <a:r>
              <a:rPr lang="en-US" sz="1100" dirty="0">
                <a:solidFill>
                  <a:schemeClr val="tx1"/>
                </a:solidFill>
              </a:rPr>
              <a:t>recent loans</a:t>
            </a:r>
            <a:endParaRPr lang="en-US" sz="1100" dirty="0"/>
          </a:p>
        </p:txBody>
      </p:sp>
      <p:sp>
        <p:nvSpPr>
          <p:cNvPr id="8" name="stat 12"/>
          <p:cNvSpPr txBox="1"/>
          <p:nvPr/>
        </p:nvSpPr>
        <p:spPr>
          <a:xfrm>
            <a:off x="7178040" y="1600200"/>
            <a:ext cx="1371600" cy="685800"/>
          </a:xfrm>
          <a:prstGeom prst="rect">
            <a:avLst/>
          </a:prstGeom>
          <a:noFill/>
          <a:ln/>
        </p:spPr>
        <p:txBody>
          <a:bodyPr wrap="square" lIns="0" tIns="0" rIns="0" bIns="0" rtlCol="0" anchor="b"/>
          <a:lstStyle/>
          <a:p>
            <a:pPr algn="ctr" indent="0" marL="0">
              <a:buNone/>
            </a:pPr>
            <a:r>
              <a:rPr lang="en-US" sz="2800" b="1" dirty="0">
                <a:solidFill>
                  <a:schemeClr val="accent1"/>
                </a:solidFill>
              </a:rPr>
              <a:t>12</a:t>
            </a:r>
            <a:endParaRPr lang="en-US" sz="2800" dirty="0"/>
          </a:p>
        </p:txBody>
      </p:sp>
      <p:sp>
        <p:nvSpPr>
          <p:cNvPr id="9" name="stat label attributes known at application"/>
          <p:cNvSpPr txBox="1"/>
          <p:nvPr/>
        </p:nvSpPr>
        <p:spPr>
          <a:xfrm>
            <a:off x="7178040" y="2313432"/>
            <a:ext cx="1371600" cy="502920"/>
          </a:xfrm>
          <a:prstGeom prst="rect">
            <a:avLst/>
          </a:prstGeom>
          <a:noFill/>
          <a:ln/>
        </p:spPr>
        <p:txBody>
          <a:bodyPr wrap="square" lIns="0" tIns="0" rIns="0" bIns="0" rtlCol="0" anchor="t"/>
          <a:lstStyle/>
          <a:p>
            <a:pPr algn="ctr" indent="0" marL="0">
              <a:buNone/>
            </a:pPr>
            <a:r>
              <a:rPr lang="en-US" sz="1100" dirty="0">
                <a:solidFill>
                  <a:schemeClr val="tx1"/>
                </a:solidFill>
              </a:rPr>
              <a:t>attributes known at application</a:t>
            </a:r>
            <a:endParaRPr lang="en-US" sz="1100" dirty="0"/>
          </a:p>
        </p:txBody>
      </p:sp>
      <p:sp>
        <p:nvSpPr>
          <p:cNvPr id="10" name="stat 19.9%"/>
          <p:cNvSpPr txBox="1"/>
          <p:nvPr/>
        </p:nvSpPr>
        <p:spPr>
          <a:xfrm>
            <a:off x="5760720" y="2880360"/>
            <a:ext cx="1371600" cy="685800"/>
          </a:xfrm>
          <a:prstGeom prst="rect">
            <a:avLst/>
          </a:prstGeom>
          <a:noFill/>
          <a:ln/>
        </p:spPr>
        <p:txBody>
          <a:bodyPr wrap="square" lIns="0" tIns="0" rIns="0" bIns="0" rtlCol="0" anchor="b"/>
          <a:lstStyle/>
          <a:p>
            <a:pPr algn="ctr" indent="0" marL="0">
              <a:buNone/>
            </a:pPr>
            <a:r>
              <a:rPr lang="en-US" sz="2800" b="1" dirty="0">
                <a:solidFill>
                  <a:schemeClr val="accent2"/>
                </a:solidFill>
              </a:rPr>
              <a:t>19.9%</a:t>
            </a:r>
            <a:endParaRPr lang="en-US" sz="2800" dirty="0"/>
          </a:p>
        </p:txBody>
      </p:sp>
      <p:sp>
        <p:nvSpPr>
          <p:cNvPr id="11" name="stat label defaulted or seriously delinquent"/>
          <p:cNvSpPr txBox="1"/>
          <p:nvPr/>
        </p:nvSpPr>
        <p:spPr>
          <a:xfrm>
            <a:off x="5760720" y="3593592"/>
            <a:ext cx="1371600" cy="502920"/>
          </a:xfrm>
          <a:prstGeom prst="rect">
            <a:avLst/>
          </a:prstGeom>
          <a:noFill/>
          <a:ln/>
        </p:spPr>
        <p:txBody>
          <a:bodyPr wrap="square" lIns="0" tIns="0" rIns="0" bIns="0" rtlCol="0" anchor="t"/>
          <a:lstStyle/>
          <a:p>
            <a:pPr algn="ctr" indent="0" marL="0">
              <a:buNone/>
            </a:pPr>
            <a:r>
              <a:rPr lang="en-US" sz="1100" dirty="0">
                <a:solidFill>
                  <a:schemeClr val="tx1"/>
                </a:solidFill>
              </a:rPr>
              <a:t>defaulted or seriously delinquent</a:t>
            </a:r>
            <a:endParaRPr lang="en-US" sz="1100" dirty="0"/>
          </a:p>
        </p:txBody>
      </p:sp>
      <p:sp>
        <p:nvSpPr>
          <p:cNvPr id="12" name="stat 44%"/>
          <p:cNvSpPr txBox="1"/>
          <p:nvPr/>
        </p:nvSpPr>
        <p:spPr>
          <a:xfrm>
            <a:off x="7178040" y="2880360"/>
            <a:ext cx="1371600" cy="685800"/>
          </a:xfrm>
          <a:prstGeom prst="rect">
            <a:avLst/>
          </a:prstGeom>
          <a:noFill/>
          <a:ln/>
        </p:spPr>
        <p:txBody>
          <a:bodyPr wrap="square" lIns="0" tIns="0" rIns="0" bIns="0" rtlCol="0" anchor="b"/>
          <a:lstStyle/>
          <a:p>
            <a:pPr algn="ctr" indent="0" marL="0">
              <a:buNone/>
            </a:pPr>
            <a:r>
              <a:rPr lang="en-US" sz="2800" b="1" dirty="0">
                <a:solidFill>
                  <a:schemeClr val="accent3"/>
                </a:solidFill>
              </a:rPr>
              <a:t>44%</a:t>
            </a:r>
            <a:endParaRPr lang="en-US" sz="2800" dirty="0"/>
          </a:p>
        </p:txBody>
      </p:sp>
      <p:sp>
        <p:nvSpPr>
          <p:cNvPr id="13" name="stat label of applications have a blank field"/>
          <p:cNvSpPr txBox="1"/>
          <p:nvPr/>
        </p:nvSpPr>
        <p:spPr>
          <a:xfrm>
            <a:off x="7178040" y="3593592"/>
            <a:ext cx="1371600" cy="502920"/>
          </a:xfrm>
          <a:prstGeom prst="rect">
            <a:avLst/>
          </a:prstGeom>
          <a:noFill/>
          <a:ln/>
        </p:spPr>
        <p:txBody>
          <a:bodyPr wrap="square" lIns="0" tIns="0" rIns="0" bIns="0" rtlCol="0" anchor="t"/>
          <a:lstStyle/>
          <a:p>
            <a:pPr algn="ctr" indent="0" marL="0">
              <a:buNone/>
            </a:pPr>
            <a:r>
              <a:rPr lang="en-US" sz="1100" dirty="0">
                <a:solidFill>
                  <a:schemeClr val="tx1"/>
                </a:solidFill>
              </a:rPr>
              <a:t>of applications have a blank field</a:t>
            </a:r>
            <a:endParaRPr lang="en-US" sz="1100" dirty="0"/>
          </a:p>
        </p:txBody>
      </p:sp>
      <p:sp>
        <p:nvSpPr>
          <p:cNvPr id="14" name="objective"/>
          <p:cNvSpPr txBox="1"/>
          <p:nvPr/>
        </p:nvSpPr>
        <p:spPr>
          <a:xfrm>
            <a:off x="457200" y="3977640"/>
            <a:ext cx="4846320" cy="640080"/>
          </a:xfrm>
          <a:prstGeom prst="rect">
            <a:avLst/>
          </a:prstGeom>
          <a:noFill/>
          <a:ln/>
        </p:spPr>
        <p:txBody>
          <a:bodyPr wrap="square" lIns="0" tIns="0" rIns="0" bIns="0" rtlCol="0" anchor="t"/>
          <a:lstStyle/>
          <a:p>
            <a:pPr indent="0" marL="0">
              <a:buNone/>
            </a:pPr>
            <a:r>
              <a:rPr lang="en-US" sz="1250" i="1" dirty="0">
                <a:solidFill>
                  <a:schemeClr val="accent1"/>
                </a:solidFill>
              </a:rPr>
              <a:t>Objective: predict which applicants are likely to default and tell the bank which attributes to weigh when approving a loan.</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Approach: from raw applications to a decision the bank can defend</a:t>
            </a:r>
            <a:endParaRPr lang="en-US" sz="2400" dirty="0"/>
          </a:p>
        </p:txBody>
      </p:sp>
      <p:sp>
        <p:nvSpPr>
          <p:cNvPr id="3" name="step card 1"/>
          <p:cNvSpPr/>
          <p:nvPr/>
        </p:nvSpPr>
        <p:spPr>
          <a:xfrm>
            <a:off x="457200" y="1234440"/>
            <a:ext cx="1554480" cy="3200400"/>
          </a:xfrm>
          <a:prstGeom prst="roundRect">
            <a:avLst>
              <a:gd name="adj" fmla="val 4706"/>
            </a:avLst>
          </a:prstGeom>
          <a:solidFill>
            <a:schemeClr val="bg2"/>
          </a:solidFill>
          <a:ln w="9525">
            <a:solidFill>
              <a:schemeClr val="bg2"/>
            </a:solidFill>
            <a:prstDash val="solid"/>
          </a:ln>
        </p:spPr>
      </p:sp>
      <p:sp>
        <p:nvSpPr>
          <p:cNvPr id="4" name="step 1"/>
          <p:cNvSpPr/>
          <p:nvPr/>
        </p:nvSpPr>
        <p:spPr>
          <a:xfrm>
            <a:off x="594360" y="1371600"/>
            <a:ext cx="384048" cy="384048"/>
          </a:xfrm>
          <a:prstGeom prst="ellipse">
            <a:avLst/>
          </a:prstGeom>
          <a:solidFill>
            <a:schemeClr val="accent1"/>
          </a:solidFill>
          <a:ln w="12700">
            <a:solidFill>
              <a:schemeClr val="accent1"/>
            </a:solidFill>
            <a:prstDash val="solid"/>
          </a:ln>
        </p:spPr>
      </p:sp>
      <p:sp>
        <p:nvSpPr>
          <p:cNvPr id="5" name="step number 1"/>
          <p:cNvSpPr txBox="1"/>
          <p:nvPr/>
        </p:nvSpPr>
        <p:spPr>
          <a:xfrm>
            <a:off x="594360" y="1371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step title 1"/>
          <p:cNvSpPr txBox="1"/>
          <p:nvPr/>
        </p:nvSpPr>
        <p:spPr>
          <a:xfrm>
            <a:off x="594360" y="1828800"/>
            <a:ext cx="1325880" cy="365760"/>
          </a:xfrm>
          <a:prstGeom prst="rect">
            <a:avLst/>
          </a:prstGeom>
          <a:noFill/>
          <a:ln/>
        </p:spPr>
        <p:txBody>
          <a:bodyPr wrap="square" lIns="0" tIns="0" rIns="0" bIns="0" rtlCol="0" anchor="ctr"/>
          <a:lstStyle/>
          <a:p>
            <a:pPr indent="0" marL="0">
              <a:buNone/>
            </a:pPr>
            <a:r>
              <a:rPr lang="en-US" sz="1500" b="1" dirty="0">
                <a:solidFill>
                  <a:schemeClr val="accent1"/>
                </a:solidFill>
              </a:rPr>
              <a:t>Explore</a:t>
            </a:r>
            <a:endParaRPr lang="en-US" sz="1500" dirty="0"/>
          </a:p>
        </p:txBody>
      </p:sp>
      <p:sp>
        <p:nvSpPr>
          <p:cNvPr id="7" name="step text 1"/>
          <p:cNvSpPr txBox="1"/>
          <p:nvPr/>
        </p:nvSpPr>
        <p:spPr>
          <a:xfrm>
            <a:off x="594360" y="2240280"/>
            <a:ext cx="1325880" cy="2103120"/>
          </a:xfrm>
          <a:prstGeom prst="rect">
            <a:avLst/>
          </a:prstGeom>
          <a:noFill/>
          <a:ln/>
        </p:spPr>
        <p:txBody>
          <a:bodyPr wrap="square" lIns="0" tIns="0" rIns="0" bIns="0" rtlCol="0" anchor="t"/>
          <a:lstStyle/>
          <a:p>
            <a:pPr indent="0" marL="0">
              <a:buNone/>
            </a:pPr>
            <a:r>
              <a:rPr lang="en-US" sz="1100" dirty="0">
                <a:solidFill>
                  <a:schemeClr val="tx1"/>
                </a:solidFill>
              </a:rPr>
              <a:t>Univariate, bivariate and correlation analysis; default rate by band; pattern of missing values</a:t>
            </a:r>
            <a:endParaRPr lang="en-US" sz="1100" dirty="0"/>
          </a:p>
        </p:txBody>
      </p:sp>
      <p:sp>
        <p:nvSpPr>
          <p:cNvPr id="8" name="step card 2"/>
          <p:cNvSpPr/>
          <p:nvPr/>
        </p:nvSpPr>
        <p:spPr>
          <a:xfrm>
            <a:off x="2139696" y="1234440"/>
            <a:ext cx="1554480" cy="3200400"/>
          </a:xfrm>
          <a:prstGeom prst="roundRect">
            <a:avLst>
              <a:gd name="adj" fmla="val 4706"/>
            </a:avLst>
          </a:prstGeom>
          <a:solidFill>
            <a:schemeClr val="bg2"/>
          </a:solidFill>
          <a:ln w="9525">
            <a:solidFill>
              <a:schemeClr val="bg2"/>
            </a:solidFill>
            <a:prstDash val="solid"/>
          </a:ln>
        </p:spPr>
      </p:sp>
      <p:sp>
        <p:nvSpPr>
          <p:cNvPr id="9" name="step 2"/>
          <p:cNvSpPr/>
          <p:nvPr/>
        </p:nvSpPr>
        <p:spPr>
          <a:xfrm>
            <a:off x="2276856" y="1371600"/>
            <a:ext cx="384048" cy="384048"/>
          </a:xfrm>
          <a:prstGeom prst="ellipse">
            <a:avLst/>
          </a:prstGeom>
          <a:solidFill>
            <a:schemeClr val="accent1"/>
          </a:solidFill>
          <a:ln w="12700">
            <a:solidFill>
              <a:schemeClr val="accent1"/>
            </a:solidFill>
            <a:prstDash val="solid"/>
          </a:ln>
        </p:spPr>
      </p:sp>
      <p:sp>
        <p:nvSpPr>
          <p:cNvPr id="10" name="step number 2"/>
          <p:cNvSpPr txBox="1"/>
          <p:nvPr/>
        </p:nvSpPr>
        <p:spPr>
          <a:xfrm>
            <a:off x="2276856" y="1371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step title 2"/>
          <p:cNvSpPr txBox="1"/>
          <p:nvPr/>
        </p:nvSpPr>
        <p:spPr>
          <a:xfrm>
            <a:off x="2276856" y="1828800"/>
            <a:ext cx="1325880" cy="365760"/>
          </a:xfrm>
          <a:prstGeom prst="rect">
            <a:avLst/>
          </a:prstGeom>
          <a:noFill/>
          <a:ln/>
        </p:spPr>
        <p:txBody>
          <a:bodyPr wrap="square" lIns="0" tIns="0" rIns="0" bIns="0" rtlCol="0" anchor="ctr"/>
          <a:lstStyle/>
          <a:p>
            <a:pPr indent="0" marL="0">
              <a:buNone/>
            </a:pPr>
            <a:r>
              <a:rPr lang="en-US" sz="1500" b="1" dirty="0">
                <a:solidFill>
                  <a:schemeClr val="accent1"/>
                </a:solidFill>
              </a:rPr>
              <a:t>Prepare</a:t>
            </a:r>
            <a:endParaRPr lang="en-US" sz="1500" dirty="0"/>
          </a:p>
        </p:txBody>
      </p:sp>
      <p:sp>
        <p:nvSpPr>
          <p:cNvPr id="12" name="step text 2"/>
          <p:cNvSpPr txBox="1"/>
          <p:nvPr/>
        </p:nvSpPr>
        <p:spPr>
          <a:xfrm>
            <a:off x="2276856" y="2240280"/>
            <a:ext cx="1325880" cy="2103120"/>
          </a:xfrm>
          <a:prstGeom prst="rect">
            <a:avLst/>
          </a:prstGeom>
          <a:noFill/>
          <a:ln/>
        </p:spPr>
        <p:txBody>
          <a:bodyPr wrap="square" lIns="0" tIns="0" rIns="0" bIns="0" rtlCol="0" anchor="t"/>
          <a:lstStyle/>
          <a:p>
            <a:pPr indent="0" marL="0">
              <a:buNone/>
            </a:pPr>
            <a:r>
              <a:rPr lang="en-US" sz="1100" dirty="0">
                <a:solidFill>
                  <a:schemeClr val="tx1"/>
                </a:solidFill>
              </a:rPr>
              <a:t>Hold out a stratified 30% test set first; flag every missing field; impute median/mode learned on training rows; cap outliers for the linear model only; one-hot encode</a:t>
            </a:r>
            <a:endParaRPr lang="en-US" sz="1100" dirty="0"/>
          </a:p>
        </p:txBody>
      </p:sp>
      <p:sp>
        <p:nvSpPr>
          <p:cNvPr id="13" name="step card 3"/>
          <p:cNvSpPr/>
          <p:nvPr/>
        </p:nvSpPr>
        <p:spPr>
          <a:xfrm>
            <a:off x="3822192" y="1234440"/>
            <a:ext cx="1554480" cy="3200400"/>
          </a:xfrm>
          <a:prstGeom prst="roundRect">
            <a:avLst>
              <a:gd name="adj" fmla="val 4706"/>
            </a:avLst>
          </a:prstGeom>
          <a:solidFill>
            <a:schemeClr val="bg2"/>
          </a:solidFill>
          <a:ln w="9525">
            <a:solidFill>
              <a:schemeClr val="bg2"/>
            </a:solidFill>
            <a:prstDash val="solid"/>
          </a:ln>
        </p:spPr>
      </p:sp>
      <p:sp>
        <p:nvSpPr>
          <p:cNvPr id="14" name="step 3"/>
          <p:cNvSpPr/>
          <p:nvPr/>
        </p:nvSpPr>
        <p:spPr>
          <a:xfrm>
            <a:off x="3959352" y="1371600"/>
            <a:ext cx="384048" cy="384048"/>
          </a:xfrm>
          <a:prstGeom prst="ellipse">
            <a:avLst/>
          </a:prstGeom>
          <a:solidFill>
            <a:schemeClr val="accent1"/>
          </a:solidFill>
          <a:ln w="12700">
            <a:solidFill>
              <a:schemeClr val="accent1"/>
            </a:solidFill>
            <a:prstDash val="solid"/>
          </a:ln>
        </p:spPr>
      </p:sp>
      <p:sp>
        <p:nvSpPr>
          <p:cNvPr id="15" name="step number 3"/>
          <p:cNvSpPr txBox="1"/>
          <p:nvPr/>
        </p:nvSpPr>
        <p:spPr>
          <a:xfrm>
            <a:off x="3959352" y="1371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step title 3"/>
          <p:cNvSpPr txBox="1"/>
          <p:nvPr/>
        </p:nvSpPr>
        <p:spPr>
          <a:xfrm>
            <a:off x="3959352" y="1828800"/>
            <a:ext cx="1325880" cy="365760"/>
          </a:xfrm>
          <a:prstGeom prst="rect">
            <a:avLst/>
          </a:prstGeom>
          <a:noFill/>
          <a:ln/>
        </p:spPr>
        <p:txBody>
          <a:bodyPr wrap="square" lIns="0" tIns="0" rIns="0" bIns="0" rtlCol="0" anchor="ctr"/>
          <a:lstStyle/>
          <a:p>
            <a:pPr indent="0" marL="0">
              <a:buNone/>
            </a:pPr>
            <a:r>
              <a:rPr lang="en-US" sz="1500" b="1" dirty="0">
                <a:solidFill>
                  <a:schemeClr val="accent1"/>
                </a:solidFill>
              </a:rPr>
              <a:t>Model</a:t>
            </a:r>
            <a:endParaRPr lang="en-US" sz="1500" dirty="0"/>
          </a:p>
        </p:txBody>
      </p:sp>
      <p:sp>
        <p:nvSpPr>
          <p:cNvPr id="17" name="step text 3"/>
          <p:cNvSpPr txBox="1"/>
          <p:nvPr/>
        </p:nvSpPr>
        <p:spPr>
          <a:xfrm>
            <a:off x="3959352" y="2240280"/>
            <a:ext cx="1325880" cy="2103120"/>
          </a:xfrm>
          <a:prstGeom prst="rect">
            <a:avLst/>
          </a:prstGeom>
          <a:noFill/>
          <a:ln/>
        </p:spPr>
        <p:txBody>
          <a:bodyPr wrap="square" lIns="0" tIns="0" rIns="0" bIns="0" rtlCol="0" anchor="t"/>
          <a:lstStyle/>
          <a:p>
            <a:pPr indent="0" marL="0">
              <a:buNone/>
            </a:pPr>
            <a:r>
              <a:rPr lang="en-US" sz="1100" dirty="0">
                <a:solidFill>
                  <a:schemeClr val="tx1"/>
                </a:solidFill>
              </a:rPr>
              <a:t>Logistic Regression (linear benchmark), Decision Tree, Bagging, Random Forest; class weights; cross-validated grid search</a:t>
            </a:r>
            <a:endParaRPr lang="en-US" sz="1100" dirty="0"/>
          </a:p>
        </p:txBody>
      </p:sp>
      <p:sp>
        <p:nvSpPr>
          <p:cNvPr id="18" name="step card 4"/>
          <p:cNvSpPr/>
          <p:nvPr/>
        </p:nvSpPr>
        <p:spPr>
          <a:xfrm>
            <a:off x="5504688" y="1234440"/>
            <a:ext cx="1554480" cy="3200400"/>
          </a:xfrm>
          <a:prstGeom prst="roundRect">
            <a:avLst>
              <a:gd name="adj" fmla="val 4706"/>
            </a:avLst>
          </a:prstGeom>
          <a:solidFill>
            <a:schemeClr val="accent4"/>
          </a:solidFill>
          <a:ln w="9525">
            <a:solidFill>
              <a:schemeClr val="accent4"/>
            </a:solidFill>
            <a:prstDash val="solid"/>
          </a:ln>
        </p:spPr>
      </p:sp>
      <p:sp>
        <p:nvSpPr>
          <p:cNvPr id="19" name="step 4"/>
          <p:cNvSpPr/>
          <p:nvPr/>
        </p:nvSpPr>
        <p:spPr>
          <a:xfrm>
            <a:off x="5641848" y="1371600"/>
            <a:ext cx="384048" cy="384048"/>
          </a:xfrm>
          <a:prstGeom prst="ellipse">
            <a:avLst/>
          </a:prstGeom>
          <a:solidFill>
            <a:schemeClr val="accent1"/>
          </a:solidFill>
          <a:ln w="12700">
            <a:solidFill>
              <a:schemeClr val="accent1"/>
            </a:solidFill>
            <a:prstDash val="solid"/>
          </a:ln>
        </p:spPr>
      </p:sp>
      <p:sp>
        <p:nvSpPr>
          <p:cNvPr id="20" name="step number 4"/>
          <p:cNvSpPr txBox="1"/>
          <p:nvPr/>
        </p:nvSpPr>
        <p:spPr>
          <a:xfrm>
            <a:off x="5641848" y="1371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step title 4"/>
          <p:cNvSpPr txBox="1"/>
          <p:nvPr/>
        </p:nvSpPr>
        <p:spPr>
          <a:xfrm>
            <a:off x="5641848" y="1828800"/>
            <a:ext cx="1325880" cy="365760"/>
          </a:xfrm>
          <a:prstGeom prst="rect">
            <a:avLst/>
          </a:prstGeom>
          <a:noFill/>
          <a:ln/>
        </p:spPr>
        <p:txBody>
          <a:bodyPr wrap="square" lIns="0" tIns="0" rIns="0" bIns="0" rtlCol="0" anchor="ctr"/>
          <a:lstStyle/>
          <a:p>
            <a:pPr indent="0" marL="0">
              <a:buNone/>
            </a:pPr>
            <a:r>
              <a:rPr lang="en-US" sz="1500" b="1" dirty="0">
                <a:solidFill>
                  <a:schemeClr val="accent1"/>
                </a:solidFill>
              </a:rPr>
              <a:t>Measure</a:t>
            </a:r>
            <a:endParaRPr lang="en-US" sz="1500" dirty="0"/>
          </a:p>
        </p:txBody>
      </p:sp>
      <p:sp>
        <p:nvSpPr>
          <p:cNvPr id="22" name="step text 4"/>
          <p:cNvSpPr txBox="1"/>
          <p:nvPr/>
        </p:nvSpPr>
        <p:spPr>
          <a:xfrm>
            <a:off x="5641848" y="2240280"/>
            <a:ext cx="1325880" cy="2103120"/>
          </a:xfrm>
          <a:prstGeom prst="rect">
            <a:avLst/>
          </a:prstGeom>
          <a:noFill/>
          <a:ln/>
        </p:spPr>
        <p:txBody>
          <a:bodyPr wrap="square" lIns="0" tIns="0" rIns="0" bIns="0" rtlCol="0" anchor="t"/>
          <a:lstStyle/>
          <a:p>
            <a:pPr indent="0" marL="0">
              <a:buNone/>
            </a:pPr>
            <a:r>
              <a:rPr lang="en-US" sz="1100" dirty="0">
                <a:solidFill>
                  <a:schemeClr val="tx1"/>
                </a:solidFill>
              </a:rPr>
              <a:t>Recall on defaulters as the primary metric; precision, F1, ROC-AUC as guard-rails; final model and threshold chosen on out-of-fold expected cost</a:t>
            </a:r>
            <a:endParaRPr lang="en-US" sz="1100" dirty="0"/>
          </a:p>
        </p:txBody>
      </p:sp>
      <p:sp>
        <p:nvSpPr>
          <p:cNvPr id="23" name="step card 5"/>
          <p:cNvSpPr/>
          <p:nvPr/>
        </p:nvSpPr>
        <p:spPr>
          <a:xfrm>
            <a:off x="7187184" y="1234440"/>
            <a:ext cx="1554480" cy="3200400"/>
          </a:xfrm>
          <a:prstGeom prst="roundRect">
            <a:avLst>
              <a:gd name="adj" fmla="val 4706"/>
            </a:avLst>
          </a:prstGeom>
          <a:solidFill>
            <a:schemeClr val="bg2"/>
          </a:solidFill>
          <a:ln w="9525">
            <a:solidFill>
              <a:schemeClr val="bg2"/>
            </a:solidFill>
            <a:prstDash val="solid"/>
          </a:ln>
        </p:spPr>
      </p:sp>
      <p:sp>
        <p:nvSpPr>
          <p:cNvPr id="24" name="step 5"/>
          <p:cNvSpPr/>
          <p:nvPr/>
        </p:nvSpPr>
        <p:spPr>
          <a:xfrm>
            <a:off x="7324344" y="1371600"/>
            <a:ext cx="384048" cy="384048"/>
          </a:xfrm>
          <a:prstGeom prst="ellipse">
            <a:avLst/>
          </a:prstGeom>
          <a:solidFill>
            <a:schemeClr val="accent1"/>
          </a:solidFill>
          <a:ln w="12700">
            <a:solidFill>
              <a:schemeClr val="accent1"/>
            </a:solidFill>
            <a:prstDash val="solid"/>
          </a:ln>
        </p:spPr>
      </p:sp>
      <p:sp>
        <p:nvSpPr>
          <p:cNvPr id="25" name="step number 5"/>
          <p:cNvSpPr txBox="1"/>
          <p:nvPr/>
        </p:nvSpPr>
        <p:spPr>
          <a:xfrm>
            <a:off x="7324344" y="1371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step title 5"/>
          <p:cNvSpPr txBox="1"/>
          <p:nvPr/>
        </p:nvSpPr>
        <p:spPr>
          <a:xfrm>
            <a:off x="7324344" y="1828800"/>
            <a:ext cx="1325880" cy="365760"/>
          </a:xfrm>
          <a:prstGeom prst="rect">
            <a:avLst/>
          </a:prstGeom>
          <a:noFill/>
          <a:ln/>
        </p:spPr>
        <p:txBody>
          <a:bodyPr wrap="square" lIns="0" tIns="0" rIns="0" bIns="0" rtlCol="0" anchor="ctr"/>
          <a:lstStyle/>
          <a:p>
            <a:pPr indent="0" marL="0">
              <a:buNone/>
            </a:pPr>
            <a:r>
              <a:rPr lang="en-US" sz="1500" b="1" dirty="0">
                <a:solidFill>
                  <a:schemeClr val="accent1"/>
                </a:solidFill>
              </a:rPr>
              <a:t>Recommend</a:t>
            </a:r>
            <a:endParaRPr lang="en-US" sz="1500" dirty="0"/>
          </a:p>
        </p:txBody>
      </p:sp>
      <p:sp>
        <p:nvSpPr>
          <p:cNvPr id="27" name="step text 5"/>
          <p:cNvSpPr txBox="1"/>
          <p:nvPr/>
        </p:nvSpPr>
        <p:spPr>
          <a:xfrm>
            <a:off x="7324344" y="2240280"/>
            <a:ext cx="1325880" cy="2103120"/>
          </a:xfrm>
          <a:prstGeom prst="rect">
            <a:avLst/>
          </a:prstGeom>
          <a:noFill/>
          <a:ln/>
        </p:spPr>
        <p:txBody>
          <a:bodyPr wrap="square" lIns="0" tIns="0" rIns="0" bIns="0" rtlCol="0" anchor="t"/>
          <a:lstStyle/>
          <a:p>
            <a:pPr indent="0" marL="0">
              <a:buNone/>
            </a:pPr>
            <a:r>
              <a:rPr lang="en-US" sz="1100" dirty="0">
                <a:solidFill>
                  <a:schemeClr val="tx1"/>
                </a:solidFill>
              </a:rPr>
              <a:t>Model specification, business rules, implementation plan, benefits, risks</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Insight 1: information the applicant did not provide is the strongest warning sign</a:t>
            </a:r>
            <a:endParaRPr lang="en-US" sz="2400" dirty="0"/>
          </a:p>
        </p:txBody>
      </p:sp>
      <p:graphicFrame>
        <p:nvGraphicFramePr>
          <p:cNvPr id="3" name="missing fields chart" descr=""/>
          <p:cNvGraphicFramePr/>
          <p:nvPr/>
        </p:nvGraphicFramePr>
        <p:xfrm>
          <a:off x="365760" y="109728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insight 1 bullets"/>
          <p:cNvSpPr txBox="1"/>
          <p:nvPr/>
        </p:nvSpPr>
        <p:spPr>
          <a:xfrm>
            <a:off x="5669280" y="1143000"/>
            <a:ext cx="3108960" cy="35661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chemeClr val="tx1"/>
                </a:solidFill>
              </a:rPr>
              <a:t>No recorded debt-to-income ratio: 62% default (1,267 applicants, 21% of the data).</a:t>
            </a:r>
            <a:endParaRPr lang="en-US" sz="1250" dirty="0"/>
          </a:p>
          <a:p>
            <a:pPr marL="177800" indent="-177800">
              <a:spcAft>
                <a:spcPts val="800"/>
              </a:spcAft>
              <a:buSzPct val="100000"/>
              <a:buChar char="•"/>
            </a:pPr>
            <a:r>
              <a:rPr lang="en-US" sz="1250" dirty="0">
                <a:solidFill>
                  <a:schemeClr val="tx1"/>
                </a:solidFill>
              </a:rPr>
              <a:t>No property valuation: 94% default (112 applicants).</a:t>
            </a:r>
            <a:endParaRPr lang="en-US" sz="1250" dirty="0"/>
          </a:p>
          <a:p>
            <a:pPr marL="177800" indent="-177800">
              <a:spcAft>
                <a:spcPts val="800"/>
              </a:spcAft>
              <a:buSzPct val="100000"/>
              <a:buChar char="•"/>
            </a:pPr>
            <a:r>
              <a:rPr lang="en-US" sz="1250" dirty="0">
                <a:solidFill>
                  <a:schemeClr val="tx1"/>
                </a:solidFill>
              </a:rPr>
              <a:t>Overall default rate is 20%, so these gaps multiply risk three to five times.</a:t>
            </a:r>
            <a:endParaRPr lang="en-US" sz="1250" dirty="0"/>
          </a:p>
          <a:p>
            <a:pPr marL="177800" indent="-177800">
              <a:spcAft>
                <a:spcPts val="800"/>
              </a:spcAft>
              <a:buSzPct val="100000"/>
              <a:buChar char="•"/>
            </a:pPr>
            <a:r>
              <a:rPr lang="en-US" sz="1250" dirty="0">
                <a:solidFill>
                  <a:schemeClr val="tx1"/>
                </a:solidFill>
              </a:rPr>
              <a:t>Interpretation: income or collateral that could not be verified, or that the applicant chose not to supply.</a:t>
            </a:r>
            <a:endParaRPr lang="en-US" sz="1250" dirty="0"/>
          </a:p>
          <a:p>
            <a:pPr marL="177800" indent="-177800">
              <a:spcAft>
                <a:spcPts val="800"/>
              </a:spcAft>
              <a:buSzPct val="100000"/>
              <a:buChar char="•"/>
            </a:pPr>
            <a:r>
              <a:rPr lang="en-US" sz="1250" dirty="0">
                <a:solidFill>
                  <a:schemeClr val="tx1"/>
                </a:solidFill>
              </a:rPr>
              <a:t>Action: every imputed field gets a 'was missing' flag in the model, and verification should become mandatory in the process.</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Insight 2: debt burden has a cliff at 45%, and past delinquency repeats</a:t>
            </a:r>
            <a:endParaRPr lang="en-US" sz="2400" dirty="0"/>
          </a:p>
        </p:txBody>
      </p:sp>
      <p:graphicFrame>
        <p:nvGraphicFramePr>
          <p:cNvPr id="3" name="debt to income chart" descr=""/>
          <p:cNvGraphicFramePr/>
          <p:nvPr/>
        </p:nvGraphicFramePr>
        <p:xfrm>
          <a:off x="365760" y="1097280"/>
          <a:ext cx="416052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delinquency chart" descr=""/>
          <p:cNvGraphicFramePr/>
          <p:nvPr/>
        </p:nvGraphicFramePr>
        <p:xfrm>
          <a:off x="4617720" y="1097280"/>
          <a:ext cx="4160520" cy="3017520"/>
        </p:xfrm>
        <a:graphic xmlns:a="http://schemas.openxmlformats.org/drawingml/2006/main">
          <a:graphicData uri="http://schemas.openxmlformats.org/drawingml/2006/chart">
            <c:chart xmlns:c="http://schemas.openxmlformats.org/drawingml/2006/chart" r:id="rId2"/>
          </a:graphicData>
        </a:graphic>
      </p:graphicFrame>
      <p:sp>
        <p:nvSpPr>
          <p:cNvPr id="5" name="insight 2 summary"/>
          <p:cNvSpPr txBox="1"/>
          <p:nvPr/>
        </p:nvSpPr>
        <p:spPr>
          <a:xfrm>
            <a:off x="457200" y="4160520"/>
            <a:ext cx="8229600" cy="548640"/>
          </a:xfrm>
          <a:prstGeom prst="rect">
            <a:avLst/>
          </a:prstGeom>
          <a:noFill/>
          <a:ln/>
        </p:spPr>
        <p:txBody>
          <a:bodyPr wrap="square" lIns="0" tIns="0" rIns="0" bIns="0" rtlCol="0" anchor="t"/>
          <a:lstStyle/>
          <a:p>
            <a:pPr indent="0" marL="0">
              <a:buNone/>
            </a:pPr>
            <a:r>
              <a:rPr lang="en-US" sz="1200" dirty="0">
                <a:solidFill>
                  <a:schemeClr val="tx1"/>
                </a:solidFill>
              </a:rPr>
              <a:t>Between a 20% and a 40% ratio only 4-7% default; above 45% almost everyone does. Each delinquent line or derogatory report roughly doubles the risk (0 reports: 17%, 1: 39%, 2: 51%, 3+: about 75%). Both are plain-language rules an applicant can be given.</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Insight 3: long credit histories protect, small loans do not, occupation matters less</a:t>
            </a:r>
            <a:endParaRPr lang="en-US" sz="2400" dirty="0"/>
          </a:p>
        </p:txBody>
      </p:sp>
      <p:graphicFrame>
        <p:nvGraphicFramePr>
          <p:cNvPr id="3" name="credit age chart" descr=""/>
          <p:cNvGraphicFramePr/>
          <p:nvPr/>
        </p:nvGraphicFramePr>
        <p:xfrm>
          <a:off x="365760" y="1097280"/>
          <a:ext cx="283464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loan amount chart" descr=""/>
          <p:cNvGraphicFramePr/>
          <p:nvPr/>
        </p:nvGraphicFramePr>
        <p:xfrm>
          <a:off x="3200400" y="1097280"/>
          <a:ext cx="2834640" cy="283464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occupation chart" descr=""/>
          <p:cNvGraphicFramePr/>
          <p:nvPr/>
        </p:nvGraphicFramePr>
        <p:xfrm>
          <a:off x="6035040" y="1097280"/>
          <a:ext cx="2743200" cy="2834640"/>
        </p:xfrm>
        <a:graphic xmlns:a="http://schemas.openxmlformats.org/drawingml/2006/main">
          <a:graphicData uri="http://schemas.openxmlformats.org/drawingml/2006/chart">
            <c:chart xmlns:c="http://schemas.openxmlformats.org/drawingml/2006/chart" r:id="rId3"/>
          </a:graphicData>
        </a:graphic>
      </p:graphicFrame>
      <p:sp>
        <p:nvSpPr>
          <p:cNvPr id="6" name="insight 3 summary"/>
          <p:cNvSpPr txBox="1"/>
          <p:nvPr/>
        </p:nvSpPr>
        <p:spPr>
          <a:xfrm>
            <a:off x="457200" y="3977640"/>
            <a:ext cx="8229600" cy="731520"/>
          </a:xfrm>
          <a:prstGeom prst="rect">
            <a:avLst/>
          </a:prstGeom>
          <a:noFill/>
          <a:ln/>
        </p:spPr>
        <p:txBody>
          <a:bodyPr wrap="square" lIns="0" tIns="0" rIns="0" bIns="0" rtlCol="0" anchor="t"/>
          <a:lstStyle/>
          <a:p>
            <a:pPr indent="0" marL="0">
              <a:buNone/>
            </a:pPr>
            <a:r>
              <a:rPr lang="en-US" sz="1200" dirty="0">
                <a:solidFill>
                  <a:schemeClr val="tx1"/>
                </a:solidFill>
              </a:rPr>
              <a:t>Default rate (%) by group. Applicants with under five years of credit history default four times as often as those with twenty-plus years. Loans under $5,000 default 57% of the time. Occupation shifts risk moderately; on its own it adds little once financial behaviour is known, and it stays in the model only subject to the fair-lending review.</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Measure of success: the two mistakes do not cost the same</a:t>
            </a:r>
            <a:endParaRPr lang="en-US" sz="2400" dirty="0"/>
          </a:p>
        </p:txBody>
      </p:sp>
      <p:sp>
        <p:nvSpPr>
          <p:cNvPr id="3" name="error card 1"/>
          <p:cNvSpPr/>
          <p:nvPr/>
        </p:nvSpPr>
        <p:spPr>
          <a:xfrm>
            <a:off x="457200" y="1188720"/>
            <a:ext cx="4023360" cy="2011680"/>
          </a:xfrm>
          <a:prstGeom prst="roundRect">
            <a:avLst>
              <a:gd name="adj" fmla="val 3636"/>
            </a:avLst>
          </a:prstGeom>
          <a:solidFill>
            <a:schemeClr val="bg2"/>
          </a:solidFill>
          <a:ln w="9525">
            <a:solidFill>
              <a:schemeClr val="bg2"/>
            </a:solidFill>
            <a:prstDash val="solid"/>
          </a:ln>
        </p:spPr>
      </p:sp>
      <p:sp>
        <p:nvSpPr>
          <p:cNvPr id="4" name="error marker 1"/>
          <p:cNvSpPr/>
          <p:nvPr/>
        </p:nvSpPr>
        <p:spPr>
          <a:xfrm>
            <a:off x="640080" y="1371600"/>
            <a:ext cx="457200" cy="457200"/>
          </a:xfrm>
          <a:prstGeom prst="ellipse">
            <a:avLst/>
          </a:prstGeom>
          <a:solidFill>
            <a:schemeClr val="accent2"/>
          </a:solidFill>
          <a:ln w="12700">
            <a:solidFill>
              <a:schemeClr val="accent2"/>
            </a:solidFill>
            <a:prstDash val="solid"/>
          </a:ln>
        </p:spPr>
      </p:sp>
      <p:sp>
        <p:nvSpPr>
          <p:cNvPr id="5" name="error title 1"/>
          <p:cNvSpPr txBox="1"/>
          <p:nvPr/>
        </p:nvSpPr>
        <p:spPr>
          <a:xfrm>
            <a:off x="1234440" y="1325880"/>
            <a:ext cx="3108960" cy="548640"/>
          </a:xfrm>
          <a:prstGeom prst="rect">
            <a:avLst/>
          </a:prstGeom>
          <a:noFill/>
          <a:ln/>
        </p:spPr>
        <p:txBody>
          <a:bodyPr wrap="square" lIns="0" tIns="0" rIns="0" bIns="0" rtlCol="0" anchor="ctr"/>
          <a:lstStyle/>
          <a:p>
            <a:pPr indent="0" marL="0">
              <a:buNone/>
            </a:pPr>
            <a:r>
              <a:rPr lang="en-US" sz="1700" b="1" dirty="0">
                <a:solidFill>
                  <a:schemeClr val="accent2"/>
                </a:solidFill>
              </a:rPr>
              <a:t>Missed defaulter</a:t>
            </a:r>
            <a:endParaRPr lang="en-US" sz="1700" dirty="0"/>
          </a:p>
        </p:txBody>
      </p:sp>
      <p:sp>
        <p:nvSpPr>
          <p:cNvPr id="6" name="error desc 1"/>
          <p:cNvSpPr txBox="1"/>
          <p:nvPr/>
        </p:nvSpPr>
        <p:spPr>
          <a:xfrm>
            <a:off x="640080" y="1965960"/>
            <a:ext cx="3657600" cy="457200"/>
          </a:xfrm>
          <a:prstGeom prst="rect">
            <a:avLst/>
          </a:prstGeom>
          <a:noFill/>
          <a:ln/>
        </p:spPr>
        <p:txBody>
          <a:bodyPr wrap="square" lIns="0" tIns="0" rIns="0" bIns="0" rtlCol="0" anchor="t"/>
          <a:lstStyle/>
          <a:p>
            <a:pPr indent="0" marL="0">
              <a:buNone/>
            </a:pPr>
            <a:r>
              <a:rPr lang="en-US" sz="1200" dirty="0">
                <a:solidFill>
                  <a:schemeClr val="tx1"/>
                </a:solidFill>
              </a:rPr>
              <a:t>The model says 'will repay', the customer defaults.</a:t>
            </a:r>
            <a:endParaRPr lang="en-US" sz="1200" dirty="0"/>
          </a:p>
        </p:txBody>
      </p:sp>
      <p:sp>
        <p:nvSpPr>
          <p:cNvPr id="7" name="error cost 1"/>
          <p:cNvSpPr txBox="1"/>
          <p:nvPr/>
        </p:nvSpPr>
        <p:spPr>
          <a:xfrm>
            <a:off x="640080" y="2468880"/>
            <a:ext cx="3657600" cy="640080"/>
          </a:xfrm>
          <a:prstGeom prst="rect">
            <a:avLst/>
          </a:prstGeom>
          <a:noFill/>
          <a:ln/>
        </p:spPr>
        <p:txBody>
          <a:bodyPr wrap="square" lIns="0" tIns="0" rIns="0" bIns="0" rtlCol="0" anchor="t"/>
          <a:lstStyle/>
          <a:p>
            <a:pPr indent="0" marL="0">
              <a:buNone/>
            </a:pPr>
            <a:r>
              <a:rPr lang="en-US" sz="1200" b="1" dirty="0">
                <a:solidFill>
                  <a:schemeClr val="tx1"/>
                </a:solidFill>
              </a:rPr>
              <a:t>Bank loses most of the principal plus collection cost: about $9,000 on a typical $16,900 defaulted loan.</a:t>
            </a:r>
            <a:endParaRPr lang="en-US" sz="1200" dirty="0"/>
          </a:p>
        </p:txBody>
      </p:sp>
      <p:sp>
        <p:nvSpPr>
          <p:cNvPr id="8" name="error card 2"/>
          <p:cNvSpPr/>
          <p:nvPr/>
        </p:nvSpPr>
        <p:spPr>
          <a:xfrm>
            <a:off x="4663440" y="1188720"/>
            <a:ext cx="4023360" cy="2011680"/>
          </a:xfrm>
          <a:prstGeom prst="roundRect">
            <a:avLst>
              <a:gd name="adj" fmla="val 3636"/>
            </a:avLst>
          </a:prstGeom>
          <a:solidFill>
            <a:schemeClr val="bg2"/>
          </a:solidFill>
          <a:ln w="9525">
            <a:solidFill>
              <a:schemeClr val="bg2"/>
            </a:solidFill>
            <a:prstDash val="solid"/>
          </a:ln>
        </p:spPr>
      </p:sp>
      <p:sp>
        <p:nvSpPr>
          <p:cNvPr id="9" name="error marker 2"/>
          <p:cNvSpPr/>
          <p:nvPr/>
        </p:nvSpPr>
        <p:spPr>
          <a:xfrm>
            <a:off x="4846320" y="1371600"/>
            <a:ext cx="457200" cy="457200"/>
          </a:xfrm>
          <a:prstGeom prst="ellipse">
            <a:avLst/>
          </a:prstGeom>
          <a:solidFill>
            <a:schemeClr val="accent3"/>
          </a:solidFill>
          <a:ln w="12700">
            <a:solidFill>
              <a:schemeClr val="accent3"/>
            </a:solidFill>
            <a:prstDash val="solid"/>
          </a:ln>
        </p:spPr>
      </p:sp>
      <p:sp>
        <p:nvSpPr>
          <p:cNvPr id="10" name="error title 2"/>
          <p:cNvSpPr txBox="1"/>
          <p:nvPr/>
        </p:nvSpPr>
        <p:spPr>
          <a:xfrm>
            <a:off x="5440680" y="1325880"/>
            <a:ext cx="3108960" cy="548640"/>
          </a:xfrm>
          <a:prstGeom prst="rect">
            <a:avLst/>
          </a:prstGeom>
          <a:noFill/>
          <a:ln/>
        </p:spPr>
        <p:txBody>
          <a:bodyPr wrap="square" lIns="0" tIns="0" rIns="0" bIns="0" rtlCol="0" anchor="ctr"/>
          <a:lstStyle/>
          <a:p>
            <a:pPr indent="0" marL="0">
              <a:buNone/>
            </a:pPr>
            <a:r>
              <a:rPr lang="en-US" sz="1700" b="1" dirty="0">
                <a:solidFill>
                  <a:schemeClr val="accent3"/>
                </a:solidFill>
              </a:rPr>
              <a:t>Wrongly declined</a:t>
            </a:r>
            <a:endParaRPr lang="en-US" sz="1700" dirty="0"/>
          </a:p>
        </p:txBody>
      </p:sp>
      <p:sp>
        <p:nvSpPr>
          <p:cNvPr id="11" name="error desc 2"/>
          <p:cNvSpPr txBox="1"/>
          <p:nvPr/>
        </p:nvSpPr>
        <p:spPr>
          <a:xfrm>
            <a:off x="4846320" y="1965960"/>
            <a:ext cx="3657600" cy="457200"/>
          </a:xfrm>
          <a:prstGeom prst="rect">
            <a:avLst/>
          </a:prstGeom>
          <a:noFill/>
          <a:ln/>
        </p:spPr>
        <p:txBody>
          <a:bodyPr wrap="square" lIns="0" tIns="0" rIns="0" bIns="0" rtlCol="0" anchor="t"/>
          <a:lstStyle/>
          <a:p>
            <a:pPr indent="0" marL="0">
              <a:buNone/>
            </a:pPr>
            <a:r>
              <a:rPr lang="en-US" sz="1200" dirty="0">
                <a:solidFill>
                  <a:schemeClr val="tx1"/>
                </a:solidFill>
              </a:rPr>
              <a:t>The model says 'will default', the customer would have repaid.</a:t>
            </a:r>
            <a:endParaRPr lang="en-US" sz="1200" dirty="0"/>
          </a:p>
        </p:txBody>
      </p:sp>
      <p:sp>
        <p:nvSpPr>
          <p:cNvPr id="12" name="error cost 2"/>
          <p:cNvSpPr txBox="1"/>
          <p:nvPr/>
        </p:nvSpPr>
        <p:spPr>
          <a:xfrm>
            <a:off x="4846320" y="2468880"/>
            <a:ext cx="3657600" cy="640080"/>
          </a:xfrm>
          <a:prstGeom prst="rect">
            <a:avLst/>
          </a:prstGeom>
          <a:noFill/>
          <a:ln/>
        </p:spPr>
        <p:txBody>
          <a:bodyPr wrap="square" lIns="0" tIns="0" rIns="0" bIns="0" rtlCol="0" anchor="t"/>
          <a:lstStyle/>
          <a:p>
            <a:pPr indent="0" marL="0">
              <a:buNone/>
            </a:pPr>
            <a:r>
              <a:rPr lang="en-US" sz="1200" b="1" dirty="0">
                <a:solidFill>
                  <a:schemeClr val="tx1"/>
                </a:solidFill>
              </a:rPr>
              <a:t>Bank forgoes the interest margin on one good customer: about $2,000.</a:t>
            </a:r>
            <a:endParaRPr lang="en-US" sz="1200" dirty="0"/>
          </a:p>
        </p:txBody>
      </p:sp>
      <p:sp>
        <p:nvSpPr>
          <p:cNvPr id="13" name="metric bullets"/>
          <p:cNvSpPr txBox="1"/>
          <p:nvPr/>
        </p:nvSpPr>
        <p:spPr>
          <a:xfrm>
            <a:off x="457200" y="3383280"/>
            <a:ext cx="8229600" cy="13258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chemeClr val="tx1"/>
                </a:solidFill>
              </a:rPr>
              <a:t>A missed defaulter costs roughly 4.5 times a wrongly declined customer, so the primary metric is Recall: the share of future defaulters the model catches.</a:t>
            </a:r>
            <a:endParaRPr lang="en-US" sz="1250" dirty="0"/>
          </a:p>
          <a:p>
            <a:pPr marL="177800" indent="-177800">
              <a:spcAft>
                <a:spcPts val="800"/>
              </a:spcAft>
              <a:buSzPct val="100000"/>
              <a:buChar char="•"/>
            </a:pPr>
            <a:r>
              <a:rPr lang="en-US" sz="1250" dirty="0">
                <a:solidFill>
                  <a:schemeClr val="tx1"/>
                </a:solidFill>
              </a:rPr>
              <a:t>Guard-rails: Precision (how many of the flagged applicants really default) and F1, so the model does not simply decline everyone. ROC-AUC measures how well applicants are ranked by risk, which matters when the threshold moves.</a:t>
            </a:r>
            <a:endParaRPr lang="en-US" sz="1250" dirty="0"/>
          </a:p>
          <a:p>
            <a:pPr marL="177800" indent="-177800">
              <a:spcAft>
                <a:spcPts val="800"/>
              </a:spcAft>
              <a:buSzPct val="100000"/>
              <a:buChar char="•"/>
            </a:pPr>
            <a:r>
              <a:rPr lang="en-US" sz="1250" dirty="0">
                <a:solidFill>
                  <a:schemeClr val="tx1"/>
                </a:solidFill>
              </a:rPr>
              <a:t>Individual models are tuned by cross-validated grid search on recall; the final model and its threshold are chosen on out-of-fold expected cost, training data only; the held-out 30% is scored once.</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Model comparison: the Random Forest gives the best balance</a:t>
            </a:r>
            <a:endParaRPr lang="en-US" sz="2400" dirty="0"/>
          </a:p>
        </p:txBody>
      </p:sp>
      <p:graphicFrame>
        <p:nvGraphicFramePr>
          <p:cNvPr id="3" name="model comparison chart" descr=""/>
          <p:cNvGraphicFramePr/>
          <p:nvPr/>
        </p:nvGraphicFramePr>
        <p:xfrm>
          <a:off x="365760" y="1097280"/>
          <a:ext cx="5394960" cy="3566160"/>
        </p:xfrm>
        <a:graphic xmlns:a="http://schemas.openxmlformats.org/drawingml/2006/main">
          <a:graphicData uri="http://schemas.openxmlformats.org/drawingml/2006/chart">
            <c:chart xmlns:c="http://schemas.openxmlformats.org/drawingml/2006/chart" r:id="rId1"/>
          </a:graphicData>
        </a:graphic>
      </p:graphicFrame>
      <p:sp>
        <p:nvSpPr>
          <p:cNvPr id="4" name="comparison bullets"/>
          <p:cNvSpPr txBox="1"/>
          <p:nvPr/>
        </p:nvSpPr>
        <p:spPr>
          <a:xfrm>
            <a:off x="5897880" y="1143000"/>
            <a:ext cx="2880360" cy="35661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Linear vs non-linear: logistic regression reaches 80% recall but only 61% precision. The data is made of thresholds, which trees capture and a straight line cannot.</a:t>
            </a:r>
            <a:endParaRPr lang="en-US" sz="1200" dirty="0"/>
          </a:p>
          <a:p>
            <a:pPr marL="177800" indent="-177800">
              <a:spcAft>
                <a:spcPts val="800"/>
              </a:spcAft>
              <a:buSzPct val="100000"/>
              <a:buChar char="•"/>
            </a:pPr>
            <a:r>
              <a:rPr lang="en-US" sz="1200" dirty="0">
                <a:solidFill>
                  <a:schemeClr val="tx1"/>
                </a:solidFill>
              </a:rPr>
              <a:t>Single tree vs ensembles: the tuned tree catches 82% but declines almost one good customer per defaulter caught (53% precision). Bagging 200 trees lifts precision to 83% and AUC to 0.95 at 68% recall.</a:t>
            </a:r>
            <a:endParaRPr lang="en-US" sz="1200" dirty="0"/>
          </a:p>
          <a:p>
            <a:pPr marL="177800" indent="-177800">
              <a:spcAft>
                <a:spcPts val="800"/>
              </a:spcAft>
              <a:buSzPct val="100000"/>
              <a:buChar char="•"/>
            </a:pPr>
            <a:r>
              <a:rPr lang="en-US" sz="1200" dirty="0">
                <a:solidFill>
                  <a:schemeClr val="tx1"/>
                </a:solidFill>
              </a:rPr>
              <a:t>The class-weighted forest catches 77% at 77% precision with a ROC-AUC of 0.96: among the best at ranking applicants by risk.</a:t>
            </a:r>
            <a:endParaRPr lang="en-US" sz="1200" dirty="0"/>
          </a:p>
          <a:p>
            <a:pPr marL="177800" indent="-177800">
              <a:spcAft>
                <a:spcPts val="800"/>
              </a:spcAft>
              <a:buSzPct val="100000"/>
              <a:buChar char="•"/>
            </a:pPr>
            <a:r>
              <a:rPr lang="en-US" sz="1200" dirty="0">
                <a:solidFill>
                  <a:schemeClr val="tx1"/>
                </a:solidFill>
              </a:rPr>
              <a:t>Chosen on out-of-fold expected cost (training data only), with its threshold moved to 0.25, it catches 93% at 67% precision on the test set: the lowest cost of any option.</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Proposed solution: a Random Forest scorer explained by a surrogate decision tree</a:t>
            </a:r>
            <a:endParaRPr lang="en-US" sz="2400" dirty="0"/>
          </a:p>
        </p:txBody>
      </p:sp>
      <p:sp>
        <p:nvSpPr>
          <p:cNvPr id="3" name="spec card"/>
          <p:cNvSpPr/>
          <p:nvPr/>
        </p:nvSpPr>
        <p:spPr>
          <a:xfrm>
            <a:off x="457200" y="1143000"/>
            <a:ext cx="4846320" cy="3520440"/>
          </a:xfrm>
          <a:prstGeom prst="roundRect">
            <a:avLst>
              <a:gd name="adj" fmla="val 2078"/>
            </a:avLst>
          </a:prstGeom>
          <a:solidFill>
            <a:schemeClr val="bg2"/>
          </a:solidFill>
          <a:ln w="9525">
            <a:solidFill>
              <a:schemeClr val="bg2"/>
            </a:solidFill>
            <a:prstDash val="solid"/>
          </a:ln>
        </p:spPr>
      </p:sp>
      <p:sp>
        <p:nvSpPr>
          <p:cNvPr id="4" name="spec title"/>
          <p:cNvSpPr txBox="1"/>
          <p:nvPr/>
        </p:nvSpPr>
        <p:spPr>
          <a:xfrm>
            <a:off x="640080" y="1234440"/>
            <a:ext cx="4480560" cy="365760"/>
          </a:xfrm>
          <a:prstGeom prst="rect">
            <a:avLst/>
          </a:prstGeom>
          <a:noFill/>
          <a:ln/>
        </p:spPr>
        <p:txBody>
          <a:bodyPr wrap="square" lIns="0" tIns="0" rIns="0" bIns="0" rtlCol="0" anchor="ctr"/>
          <a:lstStyle/>
          <a:p>
            <a:pPr indent="0" marL="0">
              <a:buNone/>
            </a:pPr>
            <a:r>
              <a:rPr lang="en-US" sz="1400" b="1" dirty="0">
                <a:solidFill>
                  <a:schemeClr val="accent1"/>
                </a:solidFill>
              </a:rPr>
              <a:t>Model specification</a:t>
            </a:r>
            <a:endParaRPr lang="en-US" sz="1400" dirty="0"/>
          </a:p>
        </p:txBody>
      </p:sp>
      <p:sp>
        <p:nvSpPr>
          <p:cNvPr id="5" name="spec bullets"/>
          <p:cNvSpPr txBox="1"/>
          <p:nvPr/>
        </p:nvSpPr>
        <p:spPr>
          <a:xfrm>
            <a:off x="640080" y="1645920"/>
            <a:ext cx="4480560" cy="292608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chemeClr val="tx1"/>
                </a:solidFill>
              </a:rPr>
              <a:t>Scoring engine: Random Forest, 200 trees, class weights 0.2 (repaid) / 0.8 (default).</a:t>
            </a:r>
            <a:endParaRPr lang="en-US" sz="1150" dirty="0"/>
          </a:p>
          <a:p>
            <a:pPr marL="177800" indent="-177800">
              <a:spcAft>
                <a:spcPts val="800"/>
              </a:spcAft>
              <a:buSzPct val="100000"/>
              <a:buChar char="•"/>
            </a:pPr>
            <a:r>
              <a:rPr lang="en-US" sz="1150" dirty="0">
                <a:solidFill>
                  <a:schemeClr val="tx1"/>
                </a:solidFill>
              </a:rPr>
              <a:t>Inputs: all 27 (10 financial attributes, 11 missing-value flags, occupation and loan purpose). Fallback without occupation and purpose: 12 inputs, about a sixth more credit-error cost.</a:t>
            </a:r>
            <a:endParaRPr lang="en-US" sz="1150" dirty="0"/>
          </a:p>
          <a:p>
            <a:pPr marL="177800" indent="-177800">
              <a:spcAft>
                <a:spcPts val="800"/>
              </a:spcAft>
              <a:buSzPct val="100000"/>
              <a:buChar char="•"/>
            </a:pPr>
            <a:r>
              <a:rPr lang="en-US" sz="1150" dirty="0">
                <a:solidFill>
                  <a:schemeClr val="tx1"/>
                </a:solidFill>
              </a:rPr>
              <a:t>Decision threshold 0.25, chosen by minimising expected cost on out-of-fold predictions of the training rows (stable for cost ratios 3:1 to 6:1); approve / refer / decline bands keep an underwriter in the loop.</a:t>
            </a:r>
            <a:endParaRPr lang="en-US" sz="1150" dirty="0"/>
          </a:p>
          <a:p>
            <a:pPr marL="177800" indent="-177800">
              <a:spcAft>
                <a:spcPts val="800"/>
              </a:spcAft>
              <a:buSzPct val="100000"/>
              <a:buChar char="•"/>
            </a:pPr>
            <a:r>
              <a:rPr lang="en-US" sz="1150" dirty="0">
                <a:solidFill>
                  <a:schemeClr val="tx1"/>
                </a:solidFill>
              </a:rPr>
              <a:t>Explanation layer: a depth-4 surrogate tree fitted to the forest's own decisions reproduces 90% of them; its rules (ratio missing or above 44%, delinquent lines, credit-history length, loan size, job tenure) supply the ECOA adverse-action reasons.</a:t>
            </a:r>
            <a:endParaRPr lang="en-US" sz="1150" dirty="0"/>
          </a:p>
          <a:p>
            <a:pPr marL="177800" indent="-177800">
              <a:spcAft>
                <a:spcPts val="800"/>
              </a:spcAft>
              <a:buSzPct val="100000"/>
              <a:buChar char="•"/>
            </a:pPr>
            <a:r>
              <a:rPr lang="en-US" sz="1150" dirty="0">
                <a:solidFill>
                  <a:schemeClr val="tx1"/>
                </a:solidFill>
              </a:rPr>
              <a:t>Test set held out before any pre-processing; scored once, after all choices were made on training data.</a:t>
            </a:r>
            <a:endParaRPr lang="en-US" sz="1150" dirty="0"/>
          </a:p>
        </p:txBody>
      </p:sp>
      <p:sp>
        <p:nvSpPr>
          <p:cNvPr id="6" name="stat 93%"/>
          <p:cNvSpPr txBox="1"/>
          <p:nvPr/>
        </p:nvSpPr>
        <p:spPr>
          <a:xfrm>
            <a:off x="5577840" y="1188720"/>
            <a:ext cx="1508760" cy="685800"/>
          </a:xfrm>
          <a:prstGeom prst="rect">
            <a:avLst/>
          </a:prstGeom>
          <a:noFill/>
          <a:ln/>
        </p:spPr>
        <p:txBody>
          <a:bodyPr wrap="square" lIns="0" tIns="0" rIns="0" bIns="0" rtlCol="0" anchor="b"/>
          <a:lstStyle/>
          <a:p>
            <a:pPr algn="ctr" indent="0" marL="0">
              <a:buNone/>
            </a:pPr>
            <a:r>
              <a:rPr lang="en-US" sz="3400" b="1" dirty="0">
                <a:solidFill>
                  <a:schemeClr val="accent5"/>
                </a:solidFill>
              </a:rPr>
              <a:t>93%</a:t>
            </a:r>
            <a:endParaRPr lang="en-US" sz="3400" dirty="0"/>
          </a:p>
        </p:txBody>
      </p:sp>
      <p:sp>
        <p:nvSpPr>
          <p:cNvPr id="7" name="stat label of defaulters caught"/>
          <p:cNvSpPr txBox="1"/>
          <p:nvPr/>
        </p:nvSpPr>
        <p:spPr>
          <a:xfrm>
            <a:off x="5577840" y="1901952"/>
            <a:ext cx="1508760" cy="502920"/>
          </a:xfrm>
          <a:prstGeom prst="rect">
            <a:avLst/>
          </a:prstGeom>
          <a:noFill/>
          <a:ln/>
        </p:spPr>
        <p:txBody>
          <a:bodyPr wrap="square" lIns="0" tIns="0" rIns="0" bIns="0" rtlCol="0" anchor="t"/>
          <a:lstStyle/>
          <a:p>
            <a:pPr algn="ctr" indent="0" marL="0">
              <a:buNone/>
            </a:pPr>
            <a:r>
              <a:rPr lang="en-US" sz="1100" dirty="0">
                <a:solidFill>
                  <a:schemeClr val="tx1"/>
                </a:solidFill>
              </a:rPr>
              <a:t>of defaulters caught</a:t>
            </a:r>
            <a:endParaRPr lang="en-US" sz="1100" dirty="0"/>
          </a:p>
        </p:txBody>
      </p:sp>
      <p:sp>
        <p:nvSpPr>
          <p:cNvPr id="8" name="stat 67%"/>
          <p:cNvSpPr txBox="1"/>
          <p:nvPr/>
        </p:nvSpPr>
        <p:spPr>
          <a:xfrm>
            <a:off x="7178040" y="1188720"/>
            <a:ext cx="1508760" cy="685800"/>
          </a:xfrm>
          <a:prstGeom prst="rect">
            <a:avLst/>
          </a:prstGeom>
          <a:noFill/>
          <a:ln/>
        </p:spPr>
        <p:txBody>
          <a:bodyPr wrap="square" lIns="0" tIns="0" rIns="0" bIns="0" rtlCol="0" anchor="b"/>
          <a:lstStyle/>
          <a:p>
            <a:pPr algn="ctr" indent="0" marL="0">
              <a:buNone/>
            </a:pPr>
            <a:r>
              <a:rPr lang="en-US" sz="3400" b="1" dirty="0">
                <a:solidFill>
                  <a:schemeClr val="accent1"/>
                </a:solidFill>
              </a:rPr>
              <a:t>67%</a:t>
            </a:r>
            <a:endParaRPr lang="en-US" sz="3400" dirty="0"/>
          </a:p>
        </p:txBody>
      </p:sp>
      <p:sp>
        <p:nvSpPr>
          <p:cNvPr id="9" name="stat label of flagged applicants truly default"/>
          <p:cNvSpPr txBox="1"/>
          <p:nvPr/>
        </p:nvSpPr>
        <p:spPr>
          <a:xfrm>
            <a:off x="7178040" y="1901952"/>
            <a:ext cx="1508760" cy="502920"/>
          </a:xfrm>
          <a:prstGeom prst="rect">
            <a:avLst/>
          </a:prstGeom>
          <a:noFill/>
          <a:ln/>
        </p:spPr>
        <p:txBody>
          <a:bodyPr wrap="square" lIns="0" tIns="0" rIns="0" bIns="0" rtlCol="0" anchor="t"/>
          <a:lstStyle/>
          <a:p>
            <a:pPr algn="ctr" indent="0" marL="0">
              <a:buNone/>
            </a:pPr>
            <a:r>
              <a:rPr lang="en-US" sz="1100" dirty="0">
                <a:solidFill>
                  <a:schemeClr val="tx1"/>
                </a:solidFill>
              </a:rPr>
              <a:t>of flagged applicants truly default</a:t>
            </a:r>
            <a:endParaRPr lang="en-US" sz="1100" dirty="0"/>
          </a:p>
        </p:txBody>
      </p:sp>
      <p:sp>
        <p:nvSpPr>
          <p:cNvPr id="10" name="stat 0.96"/>
          <p:cNvSpPr txBox="1"/>
          <p:nvPr/>
        </p:nvSpPr>
        <p:spPr>
          <a:xfrm>
            <a:off x="5577840" y="2514600"/>
            <a:ext cx="1508760" cy="685800"/>
          </a:xfrm>
          <a:prstGeom prst="rect">
            <a:avLst/>
          </a:prstGeom>
          <a:noFill/>
          <a:ln/>
        </p:spPr>
        <p:txBody>
          <a:bodyPr wrap="square" lIns="0" tIns="0" rIns="0" bIns="0" rtlCol="0" anchor="b"/>
          <a:lstStyle/>
          <a:p>
            <a:pPr algn="ctr" indent="0" marL="0">
              <a:buNone/>
            </a:pPr>
            <a:r>
              <a:rPr lang="en-US" sz="3400" b="1" dirty="0">
                <a:solidFill>
                  <a:schemeClr val="accent1"/>
                </a:solidFill>
              </a:rPr>
              <a:t>0.96</a:t>
            </a:r>
            <a:endParaRPr lang="en-US" sz="3400" dirty="0"/>
          </a:p>
        </p:txBody>
      </p:sp>
      <p:sp>
        <p:nvSpPr>
          <p:cNvPr id="11" name="stat label ROC-AUC: risk ranking quality"/>
          <p:cNvSpPr txBox="1"/>
          <p:nvPr/>
        </p:nvSpPr>
        <p:spPr>
          <a:xfrm>
            <a:off x="5577840" y="3227832"/>
            <a:ext cx="1508760" cy="502920"/>
          </a:xfrm>
          <a:prstGeom prst="rect">
            <a:avLst/>
          </a:prstGeom>
          <a:noFill/>
          <a:ln/>
        </p:spPr>
        <p:txBody>
          <a:bodyPr wrap="square" lIns="0" tIns="0" rIns="0" bIns="0" rtlCol="0" anchor="t"/>
          <a:lstStyle/>
          <a:p>
            <a:pPr algn="ctr" indent="0" marL="0">
              <a:buNone/>
            </a:pPr>
            <a:r>
              <a:rPr lang="en-US" sz="1100" dirty="0">
                <a:solidFill>
                  <a:schemeClr val="tx1"/>
                </a:solidFill>
              </a:rPr>
              <a:t>ROC-AUC: risk ranking quality</a:t>
            </a:r>
            <a:endParaRPr lang="en-US" sz="1100" dirty="0"/>
          </a:p>
        </p:txBody>
      </p:sp>
      <p:sp>
        <p:nvSpPr>
          <p:cNvPr id="12" name="stat 89%"/>
          <p:cNvSpPr txBox="1"/>
          <p:nvPr/>
        </p:nvSpPr>
        <p:spPr>
          <a:xfrm>
            <a:off x="7178040" y="2514600"/>
            <a:ext cx="1508760" cy="685800"/>
          </a:xfrm>
          <a:prstGeom prst="rect">
            <a:avLst/>
          </a:prstGeom>
          <a:noFill/>
          <a:ln/>
        </p:spPr>
        <p:txBody>
          <a:bodyPr wrap="square" lIns="0" tIns="0" rIns="0" bIns="0" rtlCol="0" anchor="b"/>
          <a:lstStyle/>
          <a:p>
            <a:pPr algn="ctr" indent="0" marL="0">
              <a:buNone/>
            </a:pPr>
            <a:r>
              <a:rPr lang="en-US" sz="3400" b="1" dirty="0">
                <a:solidFill>
                  <a:schemeClr val="accent1"/>
                </a:solidFill>
              </a:rPr>
              <a:t>89%</a:t>
            </a:r>
            <a:endParaRPr lang="en-US" sz="3400" dirty="0"/>
          </a:p>
        </p:txBody>
      </p:sp>
      <p:sp>
        <p:nvSpPr>
          <p:cNvPr id="13" name="stat label overall accuracy"/>
          <p:cNvSpPr txBox="1"/>
          <p:nvPr/>
        </p:nvSpPr>
        <p:spPr>
          <a:xfrm>
            <a:off x="7178040" y="3227832"/>
            <a:ext cx="1508760" cy="502920"/>
          </a:xfrm>
          <a:prstGeom prst="rect">
            <a:avLst/>
          </a:prstGeom>
          <a:noFill/>
          <a:ln/>
        </p:spPr>
        <p:txBody>
          <a:bodyPr wrap="square" lIns="0" tIns="0" rIns="0" bIns="0" rtlCol="0" anchor="t"/>
          <a:lstStyle/>
          <a:p>
            <a:pPr algn="ctr" indent="0" marL="0">
              <a:buNone/>
            </a:pPr>
            <a:r>
              <a:rPr lang="en-US" sz="1100" dirty="0">
                <a:solidFill>
                  <a:schemeClr val="tx1"/>
                </a:solidFill>
              </a:rPr>
              <a:t>overall accuracy</a:t>
            </a:r>
            <a:endParaRPr lang="en-US" sz="1100" dirty="0"/>
          </a:p>
        </p:txBody>
      </p:sp>
      <p:sp>
        <p:nvSpPr>
          <p:cNvPr id="14" name="per 1000 note"/>
          <p:cNvSpPr txBox="1"/>
          <p:nvPr/>
        </p:nvSpPr>
        <p:spPr>
          <a:xfrm>
            <a:off x="5577840" y="3886200"/>
            <a:ext cx="3108960" cy="777240"/>
          </a:xfrm>
          <a:prstGeom prst="rect">
            <a:avLst/>
          </a:prstGeom>
          <a:noFill/>
          <a:ln/>
        </p:spPr>
        <p:txBody>
          <a:bodyPr wrap="square" lIns="0" tIns="0" rIns="0" bIns="0" rtlCol="0" anchor="t"/>
          <a:lstStyle/>
          <a:p>
            <a:pPr indent="0" marL="0">
              <a:buNone/>
            </a:pPr>
            <a:r>
              <a:rPr lang="en-US" sz="1150" i="1" dirty="0">
                <a:solidFill>
                  <a:schemeClr val="tx1"/>
                </a:solidFill>
              </a:rPr>
              <a:t>Per 1,000 applicants: about 185 of 200 defaulters flagged in advance, 15 missed, 92 good customers referred or declined.</a:t>
            </a:r>
            <a:endParaRPr lang="en-US" sz="11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Why a 0.25 threshold: the decision cut-off is a business dial, not a constant</a:t>
            </a:r>
            <a:endParaRPr lang="en-US" sz="2400" dirty="0"/>
          </a:p>
        </p:txBody>
      </p:sp>
      <p:graphicFrame>
        <p:nvGraphicFramePr>
          <p:cNvPr id="3" name="threshold chart" descr=""/>
          <p:cNvGraphicFramePr/>
          <p:nvPr/>
        </p:nvGraphicFramePr>
        <p:xfrm>
          <a:off x="365760" y="1097280"/>
          <a:ext cx="4846320" cy="3337560"/>
        </p:xfrm>
        <a:graphic xmlns:a="http://schemas.openxmlformats.org/drawingml/2006/main">
          <a:graphicData uri="http://schemas.openxmlformats.org/drawingml/2006/chart">
            <c:chart xmlns:c="http://schemas.openxmlformats.org/drawingml/2006/chart" r:id="rId1"/>
          </a:graphicData>
        </a:graphic>
      </p:graphicFrame>
      <p:sp>
        <p:nvSpPr>
          <p:cNvPr id="4" name="threshold card 1"/>
          <p:cNvSpPr/>
          <p:nvPr/>
        </p:nvSpPr>
        <p:spPr>
          <a:xfrm>
            <a:off x="5394960" y="1188720"/>
            <a:ext cx="3383280" cy="1645920"/>
          </a:xfrm>
          <a:prstGeom prst="roundRect">
            <a:avLst>
              <a:gd name="adj" fmla="val 4444"/>
            </a:avLst>
          </a:prstGeom>
          <a:solidFill>
            <a:schemeClr val="bg2"/>
          </a:solidFill>
          <a:ln w="9525">
            <a:solidFill>
              <a:schemeClr val="bg2"/>
            </a:solidFill>
            <a:prstDash val="solid"/>
          </a:ln>
        </p:spPr>
      </p:sp>
      <p:sp>
        <p:nvSpPr>
          <p:cNvPr id="5" name="threshold card title 1"/>
          <p:cNvSpPr txBox="1"/>
          <p:nvPr/>
        </p:nvSpPr>
        <p:spPr>
          <a:xfrm>
            <a:off x="5577840" y="1280160"/>
            <a:ext cx="3017520" cy="365760"/>
          </a:xfrm>
          <a:prstGeom prst="rect">
            <a:avLst/>
          </a:prstGeom>
          <a:noFill/>
          <a:ln/>
        </p:spPr>
        <p:txBody>
          <a:bodyPr wrap="square" lIns="0" tIns="0" rIns="0" bIns="0" rtlCol="0" anchor="ctr"/>
          <a:lstStyle/>
          <a:p>
            <a:pPr indent="0" marL="0">
              <a:buNone/>
            </a:pPr>
            <a:r>
              <a:rPr lang="en-US" sz="1400" b="1" dirty="0">
                <a:solidFill>
                  <a:schemeClr val="accent6"/>
                </a:solidFill>
              </a:rPr>
              <a:t>At 0.50 (default)</a:t>
            </a:r>
            <a:endParaRPr lang="en-US" sz="1400" dirty="0"/>
          </a:p>
        </p:txBody>
      </p:sp>
      <p:sp>
        <p:nvSpPr>
          <p:cNvPr id="6" name="threshold card body 1"/>
          <p:cNvSpPr txBox="1"/>
          <p:nvPr/>
        </p:nvSpPr>
        <p:spPr>
          <a:xfrm>
            <a:off x="5577840" y="1691640"/>
            <a:ext cx="3017520" cy="10972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45 missed defaulters</a:t>
            </a:r>
            <a:endParaRPr lang="en-US" sz="1200" dirty="0"/>
          </a:p>
          <a:p>
            <a:pPr marL="177800" indent="-177800">
              <a:spcAft>
                <a:spcPts val="800"/>
              </a:spcAft>
              <a:buSzPct val="100000"/>
              <a:buChar char="•"/>
            </a:pPr>
            <a:r>
              <a:rPr lang="en-US" sz="1200" dirty="0">
                <a:solidFill>
                  <a:schemeClr val="tx1"/>
                </a:solidFill>
              </a:rPr>
              <a:t>46 good customers declined</a:t>
            </a:r>
            <a:endParaRPr lang="en-US" sz="1200" dirty="0"/>
          </a:p>
          <a:p>
            <a:pPr marL="177800" indent="-177800">
              <a:spcAft>
                <a:spcPts val="800"/>
              </a:spcAft>
              <a:buSzPct val="100000"/>
              <a:buChar char="•"/>
            </a:pPr>
            <a:r>
              <a:rPr lang="en-US" sz="1200" dirty="0">
                <a:solidFill>
                  <a:schemeClr val="tx1"/>
                </a:solidFill>
              </a:rPr>
              <a:t>$501k indicative cost</a:t>
            </a:r>
            <a:endParaRPr lang="en-US" sz="1200" dirty="0"/>
          </a:p>
        </p:txBody>
      </p:sp>
      <p:sp>
        <p:nvSpPr>
          <p:cNvPr id="7" name="threshold card 2"/>
          <p:cNvSpPr/>
          <p:nvPr/>
        </p:nvSpPr>
        <p:spPr>
          <a:xfrm>
            <a:off x="5394960" y="2971800"/>
            <a:ext cx="3383280" cy="1645920"/>
          </a:xfrm>
          <a:prstGeom prst="roundRect">
            <a:avLst>
              <a:gd name="adj" fmla="val 4444"/>
            </a:avLst>
          </a:prstGeom>
          <a:solidFill>
            <a:schemeClr val="bg2"/>
          </a:solidFill>
          <a:ln w="9525">
            <a:solidFill>
              <a:schemeClr val="bg2"/>
            </a:solidFill>
            <a:prstDash val="solid"/>
          </a:ln>
        </p:spPr>
      </p:sp>
      <p:sp>
        <p:nvSpPr>
          <p:cNvPr id="8" name="threshold card title 2"/>
          <p:cNvSpPr txBox="1"/>
          <p:nvPr/>
        </p:nvSpPr>
        <p:spPr>
          <a:xfrm>
            <a:off x="5577840" y="3063240"/>
            <a:ext cx="3017520" cy="365760"/>
          </a:xfrm>
          <a:prstGeom prst="rect">
            <a:avLst/>
          </a:prstGeom>
          <a:noFill/>
          <a:ln/>
        </p:spPr>
        <p:txBody>
          <a:bodyPr wrap="square" lIns="0" tIns="0" rIns="0" bIns="0" rtlCol="0" anchor="ctr"/>
          <a:lstStyle/>
          <a:p>
            <a:pPr indent="0" marL="0">
              <a:buNone/>
            </a:pPr>
            <a:r>
              <a:rPr lang="en-US" sz="1400" b="1" dirty="0">
                <a:solidFill>
                  <a:schemeClr val="accent5"/>
                </a:solidFill>
              </a:rPr>
              <a:t>At 0.25 (proposed)</a:t>
            </a:r>
            <a:endParaRPr lang="en-US" sz="1400" dirty="0"/>
          </a:p>
        </p:txBody>
      </p:sp>
      <p:sp>
        <p:nvSpPr>
          <p:cNvPr id="9" name="threshold card body 2"/>
          <p:cNvSpPr txBox="1"/>
          <p:nvPr/>
        </p:nvSpPr>
        <p:spPr>
          <a:xfrm>
            <a:off x="5577840" y="3474720"/>
            <a:ext cx="3017520" cy="10972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15 missed defaulters</a:t>
            </a:r>
            <a:endParaRPr lang="en-US" sz="1200" dirty="0"/>
          </a:p>
          <a:p>
            <a:pPr marL="177800" indent="-177800">
              <a:spcAft>
                <a:spcPts val="800"/>
              </a:spcAft>
              <a:buSzPct val="100000"/>
              <a:buChar char="•"/>
            </a:pPr>
            <a:r>
              <a:rPr lang="en-US" sz="1200" dirty="0">
                <a:solidFill>
                  <a:schemeClr val="tx1"/>
                </a:solidFill>
              </a:rPr>
              <a:t>92 good customers declined</a:t>
            </a:r>
            <a:endParaRPr lang="en-US" sz="1200" dirty="0"/>
          </a:p>
          <a:p>
            <a:pPr marL="177800" indent="-177800">
              <a:spcAft>
                <a:spcPts val="800"/>
              </a:spcAft>
              <a:buSzPct val="100000"/>
              <a:buChar char="•"/>
            </a:pPr>
            <a:r>
              <a:rPr lang="en-US" sz="1200" dirty="0">
                <a:solidFill>
                  <a:schemeClr val="tx1"/>
                </a:solidFill>
              </a:rPr>
              <a:t>$314k indicative cost</a:t>
            </a:r>
            <a:endParaRPr lang="en-US" sz="1200" dirty="0"/>
          </a:p>
        </p:txBody>
      </p:sp>
      <p:sp>
        <p:nvSpPr>
          <p:cNvPr id="10" name="threshold footnote"/>
          <p:cNvSpPr txBox="1"/>
          <p:nvPr/>
        </p:nvSpPr>
        <p:spPr>
          <a:xfrm>
            <a:off x="457200" y="4498848"/>
            <a:ext cx="7680960" cy="256032"/>
          </a:xfrm>
          <a:prstGeom prst="rect">
            <a:avLst/>
          </a:prstGeom>
          <a:noFill/>
          <a:ln/>
        </p:spPr>
        <p:txBody>
          <a:bodyPr wrap="square" lIns="0" tIns="0" rIns="0" bIns="0" rtlCol="0" anchor="ctr"/>
          <a:lstStyle/>
          <a:p>
            <a:pPr indent="0" marL="0">
              <a:buNone/>
            </a:pPr>
            <a:r>
              <a:rPr lang="en-US" sz="900" dirty="0">
                <a:solidFill>
                  <a:schemeClr val="accent6"/>
                </a:solidFill>
              </a:rPr>
              <a:t>Curves: out-of-fold predictions on the training rows, which is where the threshold was chosen. Cards: test set, per 1,000 applicants; cost assumes $9,000 per missed defaulter and $2,000 per wrongly declined customer. The optimum stays at 0.25 for cost ratios from 3:1 to 6:1.</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Business impact: an indicative $9 million a year</a:t>
            </a:r>
            <a:endParaRPr lang="en-US" sz="2400" dirty="0"/>
          </a:p>
        </p:txBody>
      </p:sp>
      <p:graphicFrame>
        <p:nvGraphicFramePr>
          <p:cNvPr id="13" name="impact table"/>
          <p:cNvGraphicFramePr>
            <a:graphicFrameLocks noGrp="1"/>
          </p:cNvGraphicFramePr>
          <p:nvPr>
            <p:extLst>
              <p:ext uri="{D42A27DB-BD31-4B8C-83A1-F6EECF244321}">
                <p14:modId xmlns:p14="http://schemas.microsoft.com/office/powerpoint/2010/main" val="1579011935"/>
              </p:ext>
            </p:extLst>
          </p:nvPr>
        </p:nvGraphicFramePr>
        <p:xfrm>
          <a:off x="457200" y="1188720"/>
          <a:ext cx="5303520" cy="914400"/>
        </p:xfrm>
        <a:graphic>
          <a:graphicData uri="http://schemas.openxmlformats.org/drawingml/2006/table">
            <a:tbl>
              <a:tblPr/>
              <a:tblGrid>
                <a:gridCol w="2194560"/>
                <a:gridCol w="1371600"/>
                <a:gridCol w="173736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Per year, 6,000 applications</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Current process</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With the proposed model</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r>
              <a:tr h="384048">
                <a:tc>
                  <a:txBody>
                    <a:bodyPr/>
                    <a:lstStyle/>
                    <a:p>
                      <a:pPr indent="0" marL="0">
                        <a:buNone/>
                      </a:pPr>
                      <a:r>
                        <a:rPr lang="en-US" sz="1150" dirty="0">
                          <a:solidFill>
                            <a:srgbClr val="1F1F1F"/>
                          </a:solidFill>
                          <a:latin typeface="Calibri" pitchFamily="34" charset="0"/>
                          <a:ea typeface="Calibri" pitchFamily="34" charset="-122"/>
                          <a:cs typeface="Calibri" pitchFamily="34" charset="-120"/>
                        </a:rPr>
                        <a:t>Loans that default</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1F1F1F"/>
                          </a:solidFill>
                          <a:latin typeface="Calibri" pitchFamily="34" charset="0"/>
                          <a:ea typeface="Calibri" pitchFamily="34" charset="-122"/>
                          <a:cs typeface="Calibri" pitchFamily="34" charset="-120"/>
                        </a:rPr>
                        <a:t>about 1,200 (20%)</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1F1F1F"/>
                          </a:solidFill>
                          <a:latin typeface="Calibri" pitchFamily="34" charset="0"/>
                          <a:ea typeface="Calibri" pitchFamily="34" charset="-122"/>
                          <a:cs typeface="Calibri" pitchFamily="34" charset="-120"/>
                        </a:rPr>
                        <a:t>about 90 slip through</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1150" dirty="0">
                          <a:solidFill>
                            <a:srgbClr val="1F1F1F"/>
                          </a:solidFill>
                          <a:latin typeface="Calibri" pitchFamily="34" charset="0"/>
                          <a:ea typeface="Calibri" pitchFamily="34" charset="-122"/>
                          <a:cs typeface="Calibri" pitchFamily="34" charset="-120"/>
                        </a:rPr>
                        <a:t>Default-related losses</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1F1F1F"/>
                          </a:solidFill>
                          <a:latin typeface="Calibri" pitchFamily="34" charset="0"/>
                          <a:ea typeface="Calibri" pitchFamily="34" charset="-122"/>
                          <a:cs typeface="Calibri" pitchFamily="34" charset="-120"/>
                        </a:rPr>
                        <a:t>about $10.8M</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1F1F1F"/>
                          </a:solidFill>
                          <a:latin typeface="Calibri" pitchFamily="34" charset="0"/>
                          <a:ea typeface="Calibri" pitchFamily="34" charset="-122"/>
                          <a:cs typeface="Calibri" pitchFamily="34" charset="-120"/>
                        </a:rPr>
                        <a:t>about $0.8M</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1150" dirty="0">
                          <a:solidFill>
                            <a:srgbClr val="1F1F1F"/>
                          </a:solidFill>
                          <a:latin typeface="Calibri" pitchFamily="34" charset="0"/>
                          <a:ea typeface="Calibri" pitchFamily="34" charset="-122"/>
                          <a:cs typeface="Calibri" pitchFamily="34" charset="-120"/>
                        </a:rPr>
                        <a:t>Good customers declined or referred</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1F1F1F"/>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1F1F1F"/>
                          </a:solidFill>
                          <a:latin typeface="Calibri" pitchFamily="34" charset="0"/>
                          <a:ea typeface="Calibri" pitchFamily="34" charset="-122"/>
                          <a:cs typeface="Calibri" pitchFamily="34" charset="-120"/>
                        </a:rPr>
                        <a:t>about 550, margin forgone about $1.1M</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1150" b="1" dirty="0">
                          <a:solidFill>
                            <a:srgbClr val="1F1F1F"/>
                          </a:solidFill>
                          <a:latin typeface="Calibri" pitchFamily="34" charset="0"/>
                          <a:ea typeface="Calibri" pitchFamily="34" charset="-122"/>
                          <a:cs typeface="Calibri" pitchFamily="34" charset="-120"/>
                        </a:rPr>
                        <a:t>Total cost of credit errors</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50" b="1" dirty="0">
                          <a:solidFill>
                            <a:srgbClr val="1F1F1F"/>
                          </a:solidFill>
                          <a:latin typeface="Calibri" pitchFamily="34" charset="0"/>
                          <a:ea typeface="Calibri" pitchFamily="34" charset="-122"/>
                          <a:cs typeface="Calibri" pitchFamily="34" charset="-120"/>
                        </a:rPr>
                        <a:t>about $10.8M</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50" b="1" dirty="0">
                          <a:solidFill>
                            <a:srgbClr val="1F1F1F"/>
                          </a:solidFill>
                          <a:latin typeface="Calibri" pitchFamily="34" charset="0"/>
                          <a:ea typeface="Calibri" pitchFamily="34" charset="-122"/>
                          <a:cs typeface="Calibri" pitchFamily="34" charset="-120"/>
                        </a:rPr>
                        <a:t>about $1.9M</a:t>
                      </a:r>
                      <a:endParaRPr lang="en-US" sz="1150" dirty="0">
                        <a:latin typeface="Calibri" charset="0"/>
                        <a:ea typeface="Calibri" charset="0"/>
                        <a:cs typeface="Calibri"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benefit card"/>
          <p:cNvSpPr/>
          <p:nvPr/>
        </p:nvSpPr>
        <p:spPr>
          <a:xfrm>
            <a:off x="6035040" y="1188720"/>
            <a:ext cx="2743200" cy="1920240"/>
          </a:xfrm>
          <a:prstGeom prst="roundRect">
            <a:avLst>
              <a:gd name="adj" fmla="val 3810"/>
            </a:avLst>
          </a:prstGeom>
          <a:solidFill>
            <a:schemeClr val="accent1"/>
          </a:solidFill>
          <a:ln w="9525">
            <a:solidFill>
              <a:schemeClr val="accent1"/>
            </a:solidFill>
            <a:prstDash val="solid"/>
          </a:ln>
        </p:spPr>
      </p:sp>
      <p:sp>
        <p:nvSpPr>
          <p:cNvPr id="5" name="benefit number"/>
          <p:cNvSpPr txBox="1"/>
          <p:nvPr/>
        </p:nvSpPr>
        <p:spPr>
          <a:xfrm>
            <a:off x="6126480" y="1280160"/>
            <a:ext cx="2560320" cy="868680"/>
          </a:xfrm>
          <a:prstGeom prst="rect">
            <a:avLst/>
          </a:prstGeom>
          <a:noFill/>
          <a:ln/>
        </p:spPr>
        <p:txBody>
          <a:bodyPr wrap="square" lIns="0" tIns="0" rIns="0" bIns="0" rtlCol="0" anchor="b"/>
          <a:lstStyle/>
          <a:p>
            <a:pPr algn="ctr" indent="0" marL="0">
              <a:buNone/>
            </a:pPr>
            <a:r>
              <a:rPr lang="en-US" sz="4000" b="1" dirty="0">
                <a:solidFill>
                  <a:schemeClr val="bg1"/>
                </a:solidFill>
              </a:rPr>
              <a:t>~$9M</a:t>
            </a:r>
            <a:endParaRPr lang="en-US" sz="4000" dirty="0"/>
          </a:p>
        </p:txBody>
      </p:sp>
      <p:sp>
        <p:nvSpPr>
          <p:cNvPr id="6" name="benefit label"/>
          <p:cNvSpPr txBox="1"/>
          <p:nvPr/>
        </p:nvSpPr>
        <p:spPr>
          <a:xfrm>
            <a:off x="6126480" y="2194560"/>
            <a:ext cx="2560320" cy="822960"/>
          </a:xfrm>
          <a:prstGeom prst="rect">
            <a:avLst/>
          </a:prstGeom>
          <a:noFill/>
          <a:ln/>
        </p:spPr>
        <p:txBody>
          <a:bodyPr wrap="square" lIns="0" tIns="0" rIns="0" bIns="0" rtlCol="0" anchor="t"/>
          <a:lstStyle/>
          <a:p>
            <a:pPr algn="ctr" indent="0" marL="0">
              <a:buNone/>
            </a:pPr>
            <a:r>
              <a:rPr lang="en-US" sz="1200" dirty="0">
                <a:solidFill>
                  <a:schemeClr val="bg2"/>
                </a:solidFill>
              </a:rPr>
              <a:t>indicative gross annual benefit; about $8.8M after running costs, $8.5M in year one</a:t>
            </a:r>
            <a:endParaRPr lang="en-US" sz="1200" dirty="0"/>
          </a:p>
        </p:txBody>
      </p:sp>
      <p:sp>
        <p:nvSpPr>
          <p:cNvPr id="7" name="impact bullets"/>
          <p:cNvSpPr txBox="1"/>
          <p:nvPr/>
        </p:nvSpPr>
        <p:spPr>
          <a:xfrm>
            <a:off x="457200" y="3291840"/>
            <a:ext cx="8321040" cy="141732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chemeClr val="tx1"/>
                </a:solidFill>
              </a:rPr>
              <a:t>Assumptions: 6,000 applications a year, defaulted loans average $16,900 with about half recovered ($9,000 per missed defaulter), forgone margin about $2,000 per declined good customer, production performance equal to test performance.</a:t>
            </a:r>
            <a:endParaRPr lang="en-US" sz="1100" dirty="0"/>
          </a:p>
          <a:p>
            <a:pPr marL="177800" indent="-177800">
              <a:spcAft>
                <a:spcPts val="800"/>
              </a:spcAft>
              <a:buSzPct val="100000"/>
              <a:buChar char="•"/>
            </a:pPr>
            <a:r>
              <a:rPr lang="en-US" sz="1100" dirty="0">
                <a:solidFill>
                  <a:schemeClr val="tx1"/>
                </a:solidFill>
              </a:rPr>
              <a:t>Costs: roughly $300-400k one-off (pipeline, integration, validation, fairness review, training) and about $100k a year to run and monitor. Pays back within the first year even if only a quarter of the benefit is realised.</a:t>
            </a:r>
            <a:endParaRPr lang="en-US" sz="1100" dirty="0"/>
          </a:p>
          <a:p>
            <a:pPr marL="177800" indent="-177800">
              <a:spcAft>
                <a:spcPts val="800"/>
              </a:spcAft>
              <a:buSzPct val="100000"/>
              <a:buChar char="•"/>
            </a:pPr>
            <a:r>
              <a:rPr lang="en-US" sz="1100" dirty="0">
                <a:solidFill>
                  <a:schemeClr val="tx1"/>
                </a:solidFill>
              </a:rPr>
              <a:t>Non-financial: faster decisions, consistent treatment, auditable reasons for every decline, verified income and valuation on every application.</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Recommendations and implementation roadmap</a:t>
            </a:r>
            <a:endParaRPr lang="en-US" sz="2400" dirty="0"/>
          </a:p>
        </p:txBody>
      </p:sp>
      <p:sp>
        <p:nvSpPr>
          <p:cNvPr id="3" name="phase card 1"/>
          <p:cNvSpPr/>
          <p:nvPr/>
        </p:nvSpPr>
        <p:spPr>
          <a:xfrm>
            <a:off x="457200" y="1188720"/>
            <a:ext cx="2651760" cy="2331720"/>
          </a:xfrm>
          <a:prstGeom prst="roundRect">
            <a:avLst>
              <a:gd name="adj" fmla="val 3137"/>
            </a:avLst>
          </a:prstGeom>
          <a:solidFill>
            <a:schemeClr val="bg2"/>
          </a:solidFill>
          <a:ln w="9525">
            <a:solidFill>
              <a:schemeClr val="bg2"/>
            </a:solidFill>
            <a:prstDash val="solid"/>
          </a:ln>
        </p:spPr>
      </p:sp>
      <p:sp>
        <p:nvSpPr>
          <p:cNvPr id="4" name="step 1"/>
          <p:cNvSpPr/>
          <p:nvPr/>
        </p:nvSpPr>
        <p:spPr>
          <a:xfrm>
            <a:off x="594360" y="1298448"/>
            <a:ext cx="384048" cy="384048"/>
          </a:xfrm>
          <a:prstGeom prst="ellipse">
            <a:avLst/>
          </a:prstGeom>
          <a:solidFill>
            <a:schemeClr val="accent1"/>
          </a:solidFill>
          <a:ln w="12700">
            <a:solidFill>
              <a:schemeClr val="accent1"/>
            </a:solidFill>
            <a:prstDash val="solid"/>
          </a:ln>
        </p:spPr>
      </p:sp>
      <p:sp>
        <p:nvSpPr>
          <p:cNvPr id="5" name="step number 1"/>
          <p:cNvSpPr txBox="1"/>
          <p:nvPr/>
        </p:nvSpPr>
        <p:spPr>
          <a:xfrm>
            <a:off x="594360" y="1298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phase title 1"/>
          <p:cNvSpPr txBox="1"/>
          <p:nvPr/>
        </p:nvSpPr>
        <p:spPr>
          <a:xfrm>
            <a:off x="1051560" y="1298448"/>
            <a:ext cx="1965960" cy="384048"/>
          </a:xfrm>
          <a:prstGeom prst="rect">
            <a:avLst/>
          </a:prstGeom>
          <a:noFill/>
          <a:ln/>
        </p:spPr>
        <p:txBody>
          <a:bodyPr wrap="square" lIns="0" tIns="0" rIns="0" bIns="0" rtlCol="0" anchor="ctr"/>
          <a:lstStyle/>
          <a:p>
            <a:pPr indent="0" marL="0">
              <a:buNone/>
            </a:pPr>
            <a:r>
              <a:rPr lang="en-US" sz="1300" b="1" dirty="0">
                <a:solidFill>
                  <a:schemeClr val="accent1"/>
                </a:solidFill>
              </a:rPr>
              <a:t>Months 0-2: prepare</a:t>
            </a:r>
            <a:endParaRPr lang="en-US" sz="1300" dirty="0"/>
          </a:p>
        </p:txBody>
      </p:sp>
      <p:sp>
        <p:nvSpPr>
          <p:cNvPr id="7" name="phase bullets 1"/>
          <p:cNvSpPr txBox="1"/>
          <p:nvPr/>
        </p:nvSpPr>
        <p:spPr>
          <a:xfrm>
            <a:off x="594360" y="1783080"/>
            <a:ext cx="2377440" cy="169164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chemeClr val="tx1"/>
                </a:solidFill>
              </a:rPr>
              <a:t>Make income and valuation verification mandatory fields</a:t>
            </a:r>
            <a:endParaRPr lang="en-US" sz="1100" dirty="0"/>
          </a:p>
          <a:p>
            <a:pPr marL="177800" indent="-177800">
              <a:spcAft>
                <a:spcPts val="800"/>
              </a:spcAft>
              <a:buSzPct val="100000"/>
              <a:buChar char="•"/>
            </a:pPr>
            <a:r>
              <a:rPr lang="en-US" sz="1100" dirty="0">
                <a:solidFill>
                  <a:schemeClr val="tx1"/>
                </a:solidFill>
              </a:rPr>
              <a:t>Build the scoring pipeline and reason codes</a:t>
            </a:r>
            <a:endParaRPr lang="en-US" sz="1100" dirty="0"/>
          </a:p>
          <a:p>
            <a:pPr marL="177800" indent="-177800">
              <a:spcAft>
                <a:spcPts val="800"/>
              </a:spcAft>
              <a:buSzPct val="100000"/>
              <a:buChar char="•"/>
            </a:pPr>
            <a:r>
              <a:rPr lang="en-US" sz="1100" dirty="0">
                <a:solidFill>
                  <a:schemeClr val="tx1"/>
                </a:solidFill>
              </a:rPr>
              <a:t>Calibrate the threshold with real loss and margin figures</a:t>
            </a:r>
            <a:endParaRPr lang="en-US" sz="1100" dirty="0"/>
          </a:p>
          <a:p>
            <a:pPr marL="177800" indent="-177800">
              <a:spcAft>
                <a:spcPts val="800"/>
              </a:spcAft>
              <a:buSzPct val="100000"/>
              <a:buChar char="•"/>
            </a:pPr>
            <a:r>
              <a:rPr lang="en-US" sz="1100" dirty="0">
                <a:solidFill>
                  <a:schemeClr val="tx1"/>
                </a:solidFill>
              </a:rPr>
              <a:t>Fairness and model-risk review</a:t>
            </a:r>
            <a:endParaRPr lang="en-US" sz="1100" dirty="0"/>
          </a:p>
        </p:txBody>
      </p:sp>
      <p:sp>
        <p:nvSpPr>
          <p:cNvPr id="8" name="phase card 2"/>
          <p:cNvSpPr/>
          <p:nvPr/>
        </p:nvSpPr>
        <p:spPr>
          <a:xfrm>
            <a:off x="3246120" y="1188720"/>
            <a:ext cx="2651760" cy="2331720"/>
          </a:xfrm>
          <a:prstGeom prst="roundRect">
            <a:avLst>
              <a:gd name="adj" fmla="val 3137"/>
            </a:avLst>
          </a:prstGeom>
          <a:solidFill>
            <a:schemeClr val="bg2"/>
          </a:solidFill>
          <a:ln w="9525">
            <a:solidFill>
              <a:schemeClr val="bg2"/>
            </a:solidFill>
            <a:prstDash val="solid"/>
          </a:ln>
        </p:spPr>
      </p:sp>
      <p:sp>
        <p:nvSpPr>
          <p:cNvPr id="9" name="step 2"/>
          <p:cNvSpPr/>
          <p:nvPr/>
        </p:nvSpPr>
        <p:spPr>
          <a:xfrm>
            <a:off x="3383280" y="1298448"/>
            <a:ext cx="384048" cy="384048"/>
          </a:xfrm>
          <a:prstGeom prst="ellipse">
            <a:avLst/>
          </a:prstGeom>
          <a:solidFill>
            <a:schemeClr val="accent1"/>
          </a:solidFill>
          <a:ln w="12700">
            <a:solidFill>
              <a:schemeClr val="accent1"/>
            </a:solidFill>
            <a:prstDash val="solid"/>
          </a:ln>
        </p:spPr>
      </p:sp>
      <p:sp>
        <p:nvSpPr>
          <p:cNvPr id="10" name="step number 2"/>
          <p:cNvSpPr txBox="1"/>
          <p:nvPr/>
        </p:nvSpPr>
        <p:spPr>
          <a:xfrm>
            <a:off x="3383280" y="1298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phase title 2"/>
          <p:cNvSpPr txBox="1"/>
          <p:nvPr/>
        </p:nvSpPr>
        <p:spPr>
          <a:xfrm>
            <a:off x="3840480" y="1298448"/>
            <a:ext cx="1965960" cy="384048"/>
          </a:xfrm>
          <a:prstGeom prst="rect">
            <a:avLst/>
          </a:prstGeom>
          <a:noFill/>
          <a:ln/>
        </p:spPr>
        <p:txBody>
          <a:bodyPr wrap="square" lIns="0" tIns="0" rIns="0" bIns="0" rtlCol="0" anchor="ctr"/>
          <a:lstStyle/>
          <a:p>
            <a:pPr indent="0" marL="0">
              <a:buNone/>
            </a:pPr>
            <a:r>
              <a:rPr lang="en-US" sz="1300" b="1" dirty="0">
                <a:solidFill>
                  <a:schemeClr val="accent1"/>
                </a:solidFill>
              </a:rPr>
              <a:t>Months 2-4: shadow and pilot</a:t>
            </a:r>
            <a:endParaRPr lang="en-US" sz="1300" dirty="0"/>
          </a:p>
        </p:txBody>
      </p:sp>
      <p:sp>
        <p:nvSpPr>
          <p:cNvPr id="12" name="phase bullets 2"/>
          <p:cNvSpPr txBox="1"/>
          <p:nvPr/>
        </p:nvSpPr>
        <p:spPr>
          <a:xfrm>
            <a:off x="3383280" y="1783080"/>
            <a:ext cx="2377440" cy="169164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chemeClr val="tx1"/>
                </a:solidFill>
              </a:rPr>
              <a:t>Score every application alongside the manual decision</a:t>
            </a:r>
            <a:endParaRPr lang="en-US" sz="1100" dirty="0"/>
          </a:p>
          <a:p>
            <a:pPr marL="177800" indent="-177800">
              <a:spcAft>
                <a:spcPts val="800"/>
              </a:spcAft>
              <a:buSzPct val="100000"/>
              <a:buChar char="•"/>
            </a:pPr>
            <a:r>
              <a:rPr lang="en-US" sz="1100" dirty="0">
                <a:solidFill>
                  <a:schemeClr val="tx1"/>
                </a:solidFill>
              </a:rPr>
              <a:t>Compare outcomes, tune the approve / refer / decline bands</a:t>
            </a:r>
            <a:endParaRPr lang="en-US" sz="1100" dirty="0"/>
          </a:p>
          <a:p>
            <a:pPr marL="177800" indent="-177800">
              <a:spcAft>
                <a:spcPts val="800"/>
              </a:spcAft>
              <a:buSzPct val="100000"/>
              <a:buChar char="•"/>
            </a:pPr>
            <a:r>
              <a:rPr lang="en-US" sz="1100" dirty="0">
                <a:solidFill>
                  <a:schemeClr val="tx1"/>
                </a:solidFill>
              </a:rPr>
              <a:t>Train underwriters on reason codes and referrals</a:t>
            </a:r>
            <a:endParaRPr lang="en-US" sz="1100" dirty="0"/>
          </a:p>
        </p:txBody>
      </p:sp>
      <p:sp>
        <p:nvSpPr>
          <p:cNvPr id="13" name="phase card 3"/>
          <p:cNvSpPr/>
          <p:nvPr/>
        </p:nvSpPr>
        <p:spPr>
          <a:xfrm>
            <a:off x="6035040" y="1188720"/>
            <a:ext cx="2651760" cy="2331720"/>
          </a:xfrm>
          <a:prstGeom prst="roundRect">
            <a:avLst>
              <a:gd name="adj" fmla="val 3137"/>
            </a:avLst>
          </a:prstGeom>
          <a:solidFill>
            <a:schemeClr val="bg2"/>
          </a:solidFill>
          <a:ln w="9525">
            <a:solidFill>
              <a:schemeClr val="bg2"/>
            </a:solidFill>
            <a:prstDash val="solid"/>
          </a:ln>
        </p:spPr>
      </p:sp>
      <p:sp>
        <p:nvSpPr>
          <p:cNvPr id="14" name="step 3"/>
          <p:cNvSpPr/>
          <p:nvPr/>
        </p:nvSpPr>
        <p:spPr>
          <a:xfrm>
            <a:off x="6172200" y="1298448"/>
            <a:ext cx="384048" cy="384048"/>
          </a:xfrm>
          <a:prstGeom prst="ellipse">
            <a:avLst/>
          </a:prstGeom>
          <a:solidFill>
            <a:schemeClr val="accent1"/>
          </a:solidFill>
          <a:ln w="12700">
            <a:solidFill>
              <a:schemeClr val="accent1"/>
            </a:solidFill>
            <a:prstDash val="solid"/>
          </a:ln>
        </p:spPr>
      </p:sp>
      <p:sp>
        <p:nvSpPr>
          <p:cNvPr id="15" name="step number 3"/>
          <p:cNvSpPr txBox="1"/>
          <p:nvPr/>
        </p:nvSpPr>
        <p:spPr>
          <a:xfrm>
            <a:off x="6172200" y="12984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phase title 3"/>
          <p:cNvSpPr txBox="1"/>
          <p:nvPr/>
        </p:nvSpPr>
        <p:spPr>
          <a:xfrm>
            <a:off x="6629400" y="1298448"/>
            <a:ext cx="1965960" cy="384048"/>
          </a:xfrm>
          <a:prstGeom prst="rect">
            <a:avLst/>
          </a:prstGeom>
          <a:noFill/>
          <a:ln/>
        </p:spPr>
        <p:txBody>
          <a:bodyPr wrap="square" lIns="0" tIns="0" rIns="0" bIns="0" rtlCol="0" anchor="ctr"/>
          <a:lstStyle/>
          <a:p>
            <a:pPr indent="0" marL="0">
              <a:buNone/>
            </a:pPr>
            <a:r>
              <a:rPr lang="en-US" sz="1300" b="1" dirty="0">
                <a:solidFill>
                  <a:schemeClr val="accent1"/>
                </a:solidFill>
              </a:rPr>
              <a:t>Month 4 onwards: scale</a:t>
            </a:r>
            <a:endParaRPr lang="en-US" sz="1300" dirty="0"/>
          </a:p>
        </p:txBody>
      </p:sp>
      <p:sp>
        <p:nvSpPr>
          <p:cNvPr id="17" name="phase bullets 3"/>
          <p:cNvSpPr txBox="1"/>
          <p:nvPr/>
        </p:nvSpPr>
        <p:spPr>
          <a:xfrm>
            <a:off x="6172200" y="1783080"/>
            <a:ext cx="2377440" cy="169164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chemeClr val="tx1"/>
                </a:solidFill>
              </a:rPr>
              <a:t>Switch on automated approve / decline for clear cases</a:t>
            </a:r>
            <a:endParaRPr lang="en-US" sz="1100" dirty="0"/>
          </a:p>
          <a:p>
            <a:pPr marL="177800" indent="-177800">
              <a:spcAft>
                <a:spcPts val="800"/>
              </a:spcAft>
              <a:buSzPct val="100000"/>
              <a:buChar char="•"/>
            </a:pPr>
            <a:r>
              <a:rPr lang="en-US" sz="1100" dirty="0">
                <a:solidFill>
                  <a:schemeClr val="tx1"/>
                </a:solidFill>
              </a:rPr>
              <a:t>Monthly monitoring of recall, precision, approval rate, missing fields</a:t>
            </a:r>
            <a:endParaRPr lang="en-US" sz="1100" dirty="0"/>
          </a:p>
          <a:p>
            <a:pPr marL="177800" indent="-177800">
              <a:spcAft>
                <a:spcPts val="800"/>
              </a:spcAft>
              <a:buSzPct val="100000"/>
              <a:buChar char="•"/>
            </a:pPr>
            <a:r>
              <a:rPr lang="en-US" sz="1100" dirty="0">
                <a:solidFill>
                  <a:schemeClr val="tx1"/>
                </a:solidFill>
              </a:rPr>
              <a:t>Yearly re-training; threshold review with finance</a:t>
            </a:r>
            <a:endParaRPr lang="en-US" sz="1100" dirty="0"/>
          </a:p>
        </p:txBody>
      </p:sp>
      <p:sp>
        <p:nvSpPr>
          <p:cNvPr id="18" name="rules title"/>
          <p:cNvSpPr txBox="1"/>
          <p:nvPr/>
        </p:nvSpPr>
        <p:spPr>
          <a:xfrm>
            <a:off x="457200" y="3657600"/>
            <a:ext cx="8229600" cy="320040"/>
          </a:xfrm>
          <a:prstGeom prst="rect">
            <a:avLst/>
          </a:prstGeom>
          <a:noFill/>
          <a:ln/>
        </p:spPr>
        <p:txBody>
          <a:bodyPr wrap="square" lIns="0" tIns="0" rIns="0" bIns="0" rtlCol="0" anchor="ctr"/>
          <a:lstStyle/>
          <a:p>
            <a:pPr indent="0" marL="0">
              <a:buNone/>
            </a:pPr>
            <a:r>
              <a:rPr lang="en-US" sz="1300" b="1" dirty="0">
                <a:solidFill>
                  <a:schemeClr val="accent2"/>
                </a:solidFill>
              </a:rPr>
              <a:t>Policy rules to adopt now, independent of the model</a:t>
            </a:r>
            <a:endParaRPr lang="en-US" sz="1300" dirty="0"/>
          </a:p>
        </p:txBody>
      </p:sp>
      <p:sp>
        <p:nvSpPr>
          <p:cNvPr id="19" name="rules bullets"/>
          <p:cNvSpPr txBox="1"/>
          <p:nvPr/>
        </p:nvSpPr>
        <p:spPr>
          <a:xfrm>
            <a:off x="457200" y="4005072"/>
            <a:ext cx="8229600" cy="73152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chemeClr val="tx1"/>
                </a:solidFill>
              </a:rPr>
              <a:t>Decline or escalate when the debt-to-income ratio is above 45%, when there are two or more delinquent credit lines, or two or more major derogatory reports.</a:t>
            </a:r>
            <a:endParaRPr lang="en-US" sz="1150" dirty="0"/>
          </a:p>
          <a:p>
            <a:pPr marL="177800" indent="-177800">
              <a:spcAft>
                <a:spcPts val="800"/>
              </a:spcAft>
              <a:buSzPct val="100000"/>
              <a:buChar char="•"/>
            </a:pPr>
            <a:r>
              <a:rPr lang="en-US" sz="1150" dirty="0">
                <a:solidFill>
                  <a:schemeClr val="tx1"/>
                </a:solidFill>
              </a:rPr>
              <a:t>Treat an application with no verifiable income or property valuation as high risk, never as neutral.</a:t>
            </a:r>
            <a:endParaRPr lang="en-US" sz="11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Risks, challenges and further analysis</a:t>
            </a:r>
            <a:endParaRPr lang="en-US" sz="2400" dirty="0"/>
          </a:p>
        </p:txBody>
      </p:sp>
      <p:sp>
        <p:nvSpPr>
          <p:cNvPr id="3" name="risks card"/>
          <p:cNvSpPr/>
          <p:nvPr/>
        </p:nvSpPr>
        <p:spPr>
          <a:xfrm>
            <a:off x="457200" y="1188720"/>
            <a:ext cx="4069080" cy="3520440"/>
          </a:xfrm>
          <a:prstGeom prst="roundRect">
            <a:avLst>
              <a:gd name="adj" fmla="val 2078"/>
            </a:avLst>
          </a:prstGeom>
          <a:solidFill>
            <a:schemeClr val="bg2"/>
          </a:solidFill>
          <a:ln w="9525">
            <a:solidFill>
              <a:schemeClr val="bg2"/>
            </a:solidFill>
            <a:prstDash val="solid"/>
          </a:ln>
        </p:spPr>
      </p:sp>
      <p:sp>
        <p:nvSpPr>
          <p:cNvPr id="4" name="risks title"/>
          <p:cNvSpPr txBox="1"/>
          <p:nvPr/>
        </p:nvSpPr>
        <p:spPr>
          <a:xfrm>
            <a:off x="640080" y="1280160"/>
            <a:ext cx="3749040" cy="365760"/>
          </a:xfrm>
          <a:prstGeom prst="rect">
            <a:avLst/>
          </a:prstGeom>
          <a:noFill/>
          <a:ln/>
        </p:spPr>
        <p:txBody>
          <a:bodyPr wrap="square" lIns="0" tIns="0" rIns="0" bIns="0" rtlCol="0" anchor="ctr"/>
          <a:lstStyle/>
          <a:p>
            <a:pPr indent="0" marL="0">
              <a:buNone/>
            </a:pPr>
            <a:r>
              <a:rPr lang="en-US" sz="1400" b="1" dirty="0">
                <a:solidFill>
                  <a:schemeClr val="accent2"/>
                </a:solidFill>
              </a:rPr>
              <a:t>Risks and mitigations</a:t>
            </a:r>
            <a:endParaRPr lang="en-US" sz="1400" dirty="0"/>
          </a:p>
        </p:txBody>
      </p:sp>
      <p:sp>
        <p:nvSpPr>
          <p:cNvPr id="5" name="risks bullets"/>
          <p:cNvSpPr txBox="1"/>
          <p:nvPr/>
        </p:nvSpPr>
        <p:spPr>
          <a:xfrm>
            <a:off x="640080" y="1691640"/>
            <a:ext cx="3749040" cy="292608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chemeClr val="tx1"/>
                </a:solidFill>
              </a:rPr>
              <a:t>Selection bias: the data covers only loans the old process approved. Mitigate with a shadow period on all applications and reject inference.</a:t>
            </a:r>
            <a:endParaRPr lang="en-US" sz="1100" dirty="0"/>
          </a:p>
          <a:p>
            <a:pPr marL="177800" indent="-177800">
              <a:spcAft>
                <a:spcPts val="800"/>
              </a:spcAft>
              <a:buSzPct val="100000"/>
              <a:buChar char="•"/>
            </a:pPr>
            <a:r>
              <a:rPr lang="en-US" sz="1100" dirty="0">
                <a:solidFill>
                  <a:schemeClr val="tx1"/>
                </a:solidFill>
              </a:rPr>
              <a:t>The 'ratio missing' signal will change once verification is mandatory. Re-train after the rule is in place.</a:t>
            </a:r>
            <a:endParaRPr lang="en-US" sz="1100" dirty="0"/>
          </a:p>
          <a:p>
            <a:pPr marL="177800" indent="-177800">
              <a:spcAft>
                <a:spcPts val="800"/>
              </a:spcAft>
              <a:buSzPct val="100000"/>
              <a:buChar char="•"/>
            </a:pPr>
            <a:r>
              <a:rPr lang="en-US" sz="1100" dirty="0">
                <a:solidFill>
                  <a:schemeClr val="tx1"/>
                </a:solidFill>
              </a:rPr>
              <a:t>Economic drift: monitor monthly, re-train yearly, review the threshold.</a:t>
            </a:r>
            <a:endParaRPr lang="en-US" sz="1100" dirty="0"/>
          </a:p>
          <a:p>
            <a:pPr marL="177800" indent="-177800">
              <a:spcAft>
                <a:spcPts val="800"/>
              </a:spcAft>
              <a:buSzPct val="100000"/>
              <a:buChar char="•"/>
            </a:pPr>
            <a:r>
              <a:rPr lang="en-US" sz="1100" dirty="0">
                <a:solidFill>
                  <a:schemeClr val="tx1"/>
                </a:solidFill>
              </a:rPr>
              <a:t>Fair lending: disparate-impact testing before launch and annually; a 12-input fallback without occupation and loan purpose is ready if required.</a:t>
            </a:r>
            <a:endParaRPr lang="en-US" sz="1100" dirty="0"/>
          </a:p>
          <a:p>
            <a:pPr marL="177800" indent="-177800">
              <a:spcAft>
                <a:spcPts val="800"/>
              </a:spcAft>
              <a:buSzPct val="100000"/>
              <a:buChar char="•"/>
            </a:pPr>
            <a:r>
              <a:rPr lang="en-US" sz="1100" dirty="0">
                <a:solidFill>
                  <a:schemeClr val="tx1"/>
                </a:solidFill>
              </a:rPr>
              <a:t>Explainability and automation bias: tree-based reason codes, a referral band, documented overrides.</a:t>
            </a:r>
            <a:endParaRPr lang="en-US" sz="1100" dirty="0"/>
          </a:p>
        </p:txBody>
      </p:sp>
      <p:sp>
        <p:nvSpPr>
          <p:cNvPr id="6" name="next steps card"/>
          <p:cNvSpPr/>
          <p:nvPr/>
        </p:nvSpPr>
        <p:spPr>
          <a:xfrm>
            <a:off x="4709160" y="1188720"/>
            <a:ext cx="4069080" cy="3520440"/>
          </a:xfrm>
          <a:prstGeom prst="roundRect">
            <a:avLst>
              <a:gd name="adj" fmla="val 2078"/>
            </a:avLst>
          </a:prstGeom>
          <a:solidFill>
            <a:schemeClr val="bg2"/>
          </a:solidFill>
          <a:ln w="9525">
            <a:solidFill>
              <a:schemeClr val="bg2"/>
            </a:solidFill>
            <a:prstDash val="solid"/>
          </a:ln>
        </p:spPr>
      </p:sp>
      <p:sp>
        <p:nvSpPr>
          <p:cNvPr id="7" name="next title"/>
          <p:cNvSpPr txBox="1"/>
          <p:nvPr/>
        </p:nvSpPr>
        <p:spPr>
          <a:xfrm>
            <a:off x="4892040" y="1280160"/>
            <a:ext cx="3749040" cy="365760"/>
          </a:xfrm>
          <a:prstGeom prst="rect">
            <a:avLst/>
          </a:prstGeom>
          <a:noFill/>
          <a:ln/>
        </p:spPr>
        <p:txBody>
          <a:bodyPr wrap="square" lIns="0" tIns="0" rIns="0" bIns="0" rtlCol="0" anchor="ctr"/>
          <a:lstStyle/>
          <a:p>
            <a:pPr indent="0" marL="0">
              <a:buNone/>
            </a:pPr>
            <a:r>
              <a:rPr lang="en-US" sz="1400" b="1" dirty="0">
                <a:solidFill>
                  <a:schemeClr val="accent1"/>
                </a:solidFill>
              </a:rPr>
              <a:t>Further analysis</a:t>
            </a:r>
            <a:endParaRPr lang="en-US" sz="1400" dirty="0"/>
          </a:p>
        </p:txBody>
      </p:sp>
      <p:sp>
        <p:nvSpPr>
          <p:cNvPr id="8" name="next bullets"/>
          <p:cNvSpPr txBox="1"/>
          <p:nvPr/>
        </p:nvSpPr>
        <p:spPr>
          <a:xfrm>
            <a:off x="4892040" y="1691640"/>
            <a:ext cx="3749040" cy="292608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chemeClr val="tx1"/>
                </a:solidFill>
              </a:rPr>
              <a:t>Reject inference to cover applicants the old process declined.</a:t>
            </a:r>
            <a:endParaRPr lang="en-US" sz="1100" dirty="0"/>
          </a:p>
          <a:p>
            <a:pPr marL="177800" indent="-177800">
              <a:spcAft>
                <a:spcPts val="800"/>
              </a:spcAft>
              <a:buSzPct val="100000"/>
              <a:buChar char="•"/>
            </a:pPr>
            <a:r>
              <a:rPr lang="en-US" sz="1100" dirty="0">
                <a:solidFill>
                  <a:schemeClr val="tx1"/>
                </a:solidFill>
              </a:rPr>
              <a:t>Engineered features: loan-to-value and payment-to-income ratios.</a:t>
            </a:r>
            <a:endParaRPr lang="en-US" sz="1100" dirty="0"/>
          </a:p>
          <a:p>
            <a:pPr marL="177800" indent="-177800">
              <a:spcAft>
                <a:spcPts val="800"/>
              </a:spcAft>
              <a:buSzPct val="100000"/>
              <a:buChar char="•"/>
            </a:pPr>
            <a:r>
              <a:rPr lang="en-US" sz="1100" dirty="0">
                <a:solidFill>
                  <a:schemeClr val="tx1"/>
                </a:solidFill>
              </a:rPr>
              <a:t>Gradient boosting and probability calibration, so a score of 0.25 means a 25% chance of default.</a:t>
            </a:r>
            <a:endParaRPr lang="en-US" sz="1100" dirty="0"/>
          </a:p>
          <a:p>
            <a:pPr marL="177800" indent="-177800">
              <a:spcAft>
                <a:spcPts val="800"/>
              </a:spcAft>
              <a:buSzPct val="100000"/>
              <a:buChar char="•"/>
            </a:pPr>
            <a:r>
              <a:rPr lang="en-US" sz="1100" dirty="0">
                <a:solidFill>
                  <a:schemeClr val="tx1"/>
                </a:solidFill>
              </a:rPr>
              <a:t>Time-based validation once application dates are available.</a:t>
            </a:r>
            <a:endParaRPr lang="en-US" sz="1100" dirty="0"/>
          </a:p>
          <a:p>
            <a:pPr marL="177800" indent="-177800">
              <a:spcAft>
                <a:spcPts val="800"/>
              </a:spcAft>
              <a:buSzPct val="100000"/>
              <a:buChar char="•"/>
            </a:pPr>
            <a:r>
              <a:rPr lang="en-US" sz="1100" dirty="0">
                <a:solidFill>
                  <a:schemeClr val="tx1"/>
                </a:solidFill>
              </a:rPr>
              <a:t>Risk-based pricing for the referral band; early-warning scoring on existing loans.</a:t>
            </a:r>
            <a:endParaRPr lang="en-US" sz="1100" dirty="0"/>
          </a:p>
          <a:p>
            <a:pPr marL="177800" indent="-177800">
              <a:spcAft>
                <a:spcPts val="800"/>
              </a:spcAft>
              <a:buSzPct val="100000"/>
              <a:buChar char="•"/>
            </a:pPr>
            <a:r>
              <a:rPr lang="en-US" sz="1100" dirty="0">
                <a:solidFill>
                  <a:schemeClr val="tx1"/>
                </a:solidFill>
              </a:rPr>
              <a:t>Per-applicant SHAP-style reason codes in applicant-friendly language.</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188720"/>
          </a:xfrm>
          <a:prstGeom prst="rect">
            <a:avLst/>
          </a:prstGeom>
          <a:noFill/>
          <a:ln/>
        </p:spPr>
        <p:txBody>
          <a:bodyPr wrap="square" lIns="0" tIns="0" rIns="0" bIns="0" rtlCol="0" anchor="b"/>
          <a:lstStyle/>
          <a:p>
            <a:pPr algn="l" indent="0" marL="0">
              <a:buNone/>
            </a:pPr>
            <a:r>
              <a:rPr lang="en-US" sz="4000" b="1" dirty="0">
                <a:solidFill>
                  <a:srgbClr val="FFFFFF"/>
                </a:solidFill>
              </a:rPr>
              <a:t>Thank you</a:t>
            </a:r>
            <a:endParaRPr lang="en-US" sz="4000" dirty="0"/>
          </a:p>
        </p:txBody>
      </p:sp>
      <p:sp>
        <p:nvSpPr>
          <p:cNvPr id="3" name="Text 0"/>
          <p:cNvSpPr/>
          <p:nvPr>
            <p:ph idx="101" type="body" hasCustomPrompt="1"/>
          </p:nvPr>
        </p:nvSpPr>
        <p:spPr>
          <a:xfrm>
            <a:off x="548640" y="2834640"/>
            <a:ext cx="8046720" cy="1097280"/>
          </a:xfrm>
          <a:prstGeom prst="rect">
            <a:avLst/>
          </a:prstGeom>
          <a:noFill/>
          <a:ln/>
        </p:spPr>
        <p:txBody>
          <a:bodyPr wrap="square" lIns="0" tIns="0" rIns="0" bIns="0" rtlCol="0" anchor="t"/>
          <a:lstStyle/>
          <a:p>
            <a:pPr algn="l" indent="0" marL="0">
              <a:buNone/>
            </a:pPr>
            <a:r>
              <a:rPr lang="en-US" sz="1800" dirty="0">
                <a:solidFill>
                  <a:schemeClr val="bg2"/>
                </a:solidFill>
              </a:rPr>
              <a:t>Questions and discussion</a:t>
            </a:r>
            <a:endParaRPr lang="en-US" sz="1800" dirty="0"/>
          </a:p>
          <a:p>
            <a:pPr algn="l" indent="0" marL="0">
              <a:buNone/>
            </a:pPr>
            <a:r>
              <a:rPr lang="en-US" sz="1300" dirty="0">
                <a:solidFill>
                  <a:schemeClr val="accent4"/>
                </a:solidFill>
              </a:rPr>
              <a:t>Catch 93% of defaulters, explain every decision, and save an indicative $9M a year.</a:t>
            </a:r>
            <a:endParaRPr lang="en-US" sz="1800" dirty="0"/>
          </a:p>
        </p:txBody>
      </p:sp>
      <p:sp>
        <p:nvSpPr>
          <p:cNvPr id="4" name="close marker"/>
          <p:cNvSpPr/>
          <p:nvPr/>
        </p:nvSpPr>
        <p:spPr>
          <a:xfrm>
            <a:off x="548640" y="1325880"/>
            <a:ext cx="822960" cy="73152"/>
          </a:xfrm>
          <a:prstGeom prst="rect">
            <a:avLst/>
          </a:prstGeom>
          <a:solidFill>
            <a:schemeClr val="accent2"/>
          </a:solidFill>
          <a:ln w="12700">
            <a:solidFill>
              <a:schemeClr val="accent2"/>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Appendix A: all models on the held-out test set</a:t>
            </a:r>
            <a:endParaRPr lang="en-US" sz="2400" dirty="0"/>
          </a:p>
        </p:txBody>
      </p:sp>
      <p:graphicFrame>
        <p:nvGraphicFramePr>
          <p:cNvPr id="17" name="full comparison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017520"/>
                <a:gridCol w="868680"/>
                <a:gridCol w="868680"/>
                <a:gridCol w="868680"/>
                <a:gridCol w="868680"/>
                <a:gridCol w="868680"/>
                <a:gridCol w="868680"/>
              </a:tblGrid>
              <a:tr h="24688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Precision</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F1</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Accuracy</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ROC-AUC</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Train recall</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Logistic Regression (plain)</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0.566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0.774</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0.654</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0.880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0.907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0.635</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Logistic Regression (balanced, C tuned)</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0.796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0.608</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0.689</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0.857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0.906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0.821</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Decision Tree (default)</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0.686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0.706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0.696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0.880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0.807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Decision Tree (class weights)</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0.616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0.719</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0.664</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0.875</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0.778</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Decision Tree (tuned: balanced, min 20 per leaf)</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0.821</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0.531</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0.645</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0.819</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0.877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0.921</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Bagging (200 fully grown trees)</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0.683</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0.827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0.748</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0.908</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0.945</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Bagging (class-weighted trees)</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0.597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0.810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0.687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0.891</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0.946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Random Forest (default, 200 trees)</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0.686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0.842</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0.756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0.912</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0.963</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Random Forest (class weights 0.2/0.8)</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0.773</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0.769</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0.771</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0.908</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0.959</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Random Forest (tuned for recall)</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0.790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0.656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0.717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0.875</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0.932</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0.918</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Random Forest (tuned, 12 features)</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0.784</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0.660</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0.717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0.876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0.929</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0.916</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l" indent="0" marL="0">
                        <a:buNone/>
                      </a:pPr>
                      <a:r>
                        <a:rPr lang="en-US" sz="950" b="1" dirty="0">
                          <a:solidFill>
                            <a:srgbClr val="1F1F1F"/>
                          </a:solidFill>
                          <a:latin typeface="Calibri" pitchFamily="34" charset="0"/>
                          <a:ea typeface="Calibri" pitchFamily="34" charset="-122"/>
                          <a:cs typeface="Calibri" pitchFamily="34" charset="-120"/>
                        </a:rPr>
                        <a:t>Proposed: RF class weights, 27 inputs, threshold 0.25</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b="1" dirty="0">
                          <a:solidFill>
                            <a:srgbClr val="1F1F1F"/>
                          </a:solidFill>
                          <a:latin typeface="Calibri" pitchFamily="34" charset="0"/>
                          <a:ea typeface="Calibri" pitchFamily="34" charset="-122"/>
                          <a:cs typeface="Calibri" pitchFamily="34" charset="-120"/>
                        </a:rPr>
                        <a:t>0.927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b="1" dirty="0">
                          <a:solidFill>
                            <a:srgbClr val="1F1F1F"/>
                          </a:solidFill>
                          <a:latin typeface="Calibri" pitchFamily="34" charset="0"/>
                          <a:ea typeface="Calibri" pitchFamily="34" charset="-122"/>
                          <a:cs typeface="Calibri" pitchFamily="34" charset="-120"/>
                        </a:rPr>
                        <a:t>0.669</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b="1" dirty="0">
                          <a:solidFill>
                            <a:srgbClr val="1F1F1F"/>
                          </a:solidFill>
                          <a:latin typeface="Calibri" pitchFamily="34" charset="0"/>
                          <a:ea typeface="Calibri" pitchFamily="34" charset="-122"/>
                          <a:cs typeface="Calibri" pitchFamily="34" charset="-120"/>
                        </a:rPr>
                        <a:t>0.777</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b="1" dirty="0">
                          <a:solidFill>
                            <a:srgbClr val="1F1F1F"/>
                          </a:solidFill>
                          <a:latin typeface="Calibri" pitchFamily="34" charset="0"/>
                          <a:ea typeface="Calibri" pitchFamily="34" charset="-122"/>
                          <a:cs typeface="Calibri" pitchFamily="34" charset="-120"/>
                        </a:rPr>
                        <a:t>0.894</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b="1" dirty="0">
                          <a:solidFill>
                            <a:srgbClr val="1F1F1F"/>
                          </a:solidFill>
                          <a:latin typeface="Calibri" pitchFamily="34" charset="0"/>
                          <a:ea typeface="Calibri" pitchFamily="34" charset="-122"/>
                          <a:cs typeface="Calibri" pitchFamily="34" charset="-120"/>
                        </a:rPr>
                        <a:t>0.959</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950" dirty="0">
                          <a:solidFill>
                            <a:srgbClr val="1F1F1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27432" marR="27432"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table footnote"/>
          <p:cNvSpPr txBox="1"/>
          <p:nvPr/>
        </p:nvSpPr>
        <p:spPr>
          <a:xfrm>
            <a:off x="457200" y="4526280"/>
            <a:ext cx="8229600" cy="228600"/>
          </a:xfrm>
          <a:prstGeom prst="rect">
            <a:avLst/>
          </a:prstGeom>
          <a:noFill/>
          <a:ln/>
        </p:spPr>
        <p:txBody>
          <a:bodyPr wrap="square" lIns="0" tIns="0" rIns="0" bIns="0" rtlCol="0" anchor="ctr"/>
          <a:lstStyle/>
          <a:p>
            <a:pPr indent="0" marL="0">
              <a:buNone/>
            </a:pPr>
            <a:r>
              <a:rPr lang="en-US" sz="900" dirty="0">
                <a:solidFill>
                  <a:schemeClr val="accent6"/>
                </a:solidFill>
              </a:rPr>
              <a:t>Test set of 1,788 applicants at the 0.5 threshold except the proposed model. Train recall of 1.000 marks un-pruned models that memorised the training data. The proposed model and its threshold were selected on out-of-fold expected cost (training rows only); its out-of-fold ROC-AUC was 0.959, the same as on test.</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Appendix B: what the Random Forest relies on</a:t>
            </a:r>
            <a:endParaRPr lang="en-US" sz="2400" dirty="0"/>
          </a:p>
        </p:txBody>
      </p:sp>
      <p:graphicFrame>
        <p:nvGraphicFramePr>
          <p:cNvPr id="3" name="feature importance chart" descr=""/>
          <p:cNvGraphicFramePr/>
          <p:nvPr/>
        </p:nvGraphicFramePr>
        <p:xfrm>
          <a:off x="365760" y="109728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4" name="importance bullets"/>
          <p:cNvSpPr txBox="1"/>
          <p:nvPr/>
        </p:nvSpPr>
        <p:spPr>
          <a:xfrm>
            <a:off x="5852160" y="1143000"/>
            <a:ext cx="2926080" cy="3566160"/>
          </a:xfrm>
          <a:prstGeom prst="rect">
            <a:avLst/>
          </a:prstGeom>
          <a:noFill/>
          <a:ln/>
        </p:spPr>
        <p:txBody>
          <a:bodyPr wrap="square" lIns="0" tIns="0" rIns="0" bIns="0" rtlCol="0" anchor="t"/>
          <a:lstStyle/>
          <a:p>
            <a:pPr marL="177800" indent="-177800">
              <a:spcAft>
                <a:spcPts val="800"/>
              </a:spcAft>
              <a:buSzPct val="100000"/>
              <a:buChar char="•"/>
            </a:pPr>
            <a:r>
              <a:rPr lang="en-US" sz="1100" dirty="0">
                <a:solidFill>
                  <a:schemeClr val="tx1"/>
                </a:solidFill>
              </a:rPr>
              <a:t>The debt-to-income ratio and its missing flag carry 36% of the final forest's decision power; with delinquent lines and credit-history length, about half.</a:t>
            </a:r>
            <a:endParaRPr lang="en-US" sz="1100" dirty="0"/>
          </a:p>
          <a:p>
            <a:pPr marL="177800" indent="-177800">
              <a:spcAft>
                <a:spcPts val="800"/>
              </a:spcAft>
              <a:buSzPct val="100000"/>
              <a:buChar char="•"/>
            </a:pPr>
            <a:r>
              <a:rPr lang="en-US" sz="1100" dirty="0">
                <a:solidFill>
                  <a:schemeClr val="tx1"/>
                </a:solidFill>
              </a:rPr>
              <a:t>Permutation importance (drop in ranking quality when a column is shuffled) ranks the same four at the top, delinquent credit lines first.</a:t>
            </a:r>
            <a:endParaRPr lang="en-US" sz="1100" dirty="0"/>
          </a:p>
          <a:p>
            <a:pPr marL="177800" indent="-177800">
              <a:spcAft>
                <a:spcPts val="800"/>
              </a:spcAft>
              <a:buSzPct val="100000"/>
              <a:buChar char="•"/>
            </a:pPr>
            <a:r>
              <a:rPr lang="en-US" sz="1100" dirty="0">
                <a:solidFill>
                  <a:schemeClr val="tx1"/>
                </a:solidFill>
              </a:rPr>
              <a:t>Loan, property and mortgage amounts matter in combination, little on their own.</a:t>
            </a:r>
            <a:endParaRPr lang="en-US" sz="1100" dirty="0"/>
          </a:p>
          <a:p>
            <a:pPr marL="177800" indent="-177800">
              <a:spcAft>
                <a:spcPts val="800"/>
              </a:spcAft>
              <a:buSzPct val="100000"/>
              <a:buChar char="•"/>
            </a:pPr>
            <a:r>
              <a:rPr lang="en-US" sz="1100" dirty="0">
                <a:solidFill>
                  <a:schemeClr val="tx1"/>
                </a:solidFill>
              </a:rPr>
              <a:t>Occupation, loan purpose and minor flags matter little individually, yet dropping them raised out-of-fold expected cost by about a sixth, so they stay subject to the fair-lending review.</a:t>
            </a:r>
            <a:endParaRPr lang="en-US" sz="1100" dirty="0"/>
          </a:p>
          <a:p>
            <a:pPr marL="177800" indent="-177800">
              <a:spcAft>
                <a:spcPts val="800"/>
              </a:spcAft>
              <a:buSzPct val="100000"/>
              <a:buChar char="•"/>
            </a:pPr>
            <a:r>
              <a:rPr lang="en-US" sz="1100" dirty="0">
                <a:solidFill>
                  <a:schemeClr val="tx1"/>
                </a:solidFill>
              </a:rPr>
              <a:t>Logistic-regression coefficients, tree rules and the surrogate tree all point to the same drivers.</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Appendix C: the explanation layer, rules of the surrogate tree that follows the forest</a:t>
            </a:r>
            <a:endParaRPr lang="en-US" sz="2400" dirty="0"/>
          </a:p>
        </p:txBody>
      </p:sp>
      <p:sp>
        <p:nvSpPr>
          <p:cNvPr id="3" name="step 1"/>
          <p:cNvSpPr/>
          <p:nvPr/>
        </p:nvSpPr>
        <p:spPr>
          <a:xfrm>
            <a:off x="457200" y="1280160"/>
            <a:ext cx="384048" cy="384048"/>
          </a:xfrm>
          <a:prstGeom prst="ellipse">
            <a:avLst/>
          </a:prstGeom>
          <a:solidFill>
            <a:schemeClr val="accent1"/>
          </a:solidFill>
          <a:ln w="12700">
            <a:solidFill>
              <a:schemeClr val="accent1"/>
            </a:solidFill>
            <a:prstDash val="solid"/>
          </a:ln>
        </p:spPr>
      </p:sp>
      <p:sp>
        <p:nvSpPr>
          <p:cNvPr id="4" name="step number 1"/>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rule question 1"/>
          <p:cNvSpPr txBox="1"/>
          <p:nvPr/>
        </p:nvSpPr>
        <p:spPr>
          <a:xfrm>
            <a:off x="1005840" y="1188720"/>
            <a:ext cx="3291840" cy="603504"/>
          </a:xfrm>
          <a:prstGeom prst="rect">
            <a:avLst/>
          </a:prstGeom>
          <a:noFill/>
          <a:ln/>
        </p:spPr>
        <p:txBody>
          <a:bodyPr wrap="square" lIns="0" tIns="0" rIns="0" bIns="0" rtlCol="0" anchor="ctr"/>
          <a:lstStyle/>
          <a:p>
            <a:pPr indent="0" marL="0">
              <a:buNone/>
            </a:pPr>
            <a:r>
              <a:rPr lang="en-US" sz="1250" b="1" dirty="0">
                <a:solidFill>
                  <a:schemeClr val="accent1"/>
                </a:solidFill>
              </a:rPr>
              <a:t>Is the debt-to-income ratio missing?</a:t>
            </a:r>
            <a:endParaRPr lang="en-US" sz="1250" dirty="0"/>
          </a:p>
        </p:txBody>
      </p:sp>
      <p:sp>
        <p:nvSpPr>
          <p:cNvPr id="6" name="rule answer 1"/>
          <p:cNvSpPr txBox="1"/>
          <p:nvPr/>
        </p:nvSpPr>
        <p:spPr>
          <a:xfrm>
            <a:off x="4389120" y="1188720"/>
            <a:ext cx="4389120" cy="603504"/>
          </a:xfrm>
          <a:prstGeom prst="rect">
            <a:avLst/>
          </a:prstGeom>
          <a:noFill/>
          <a:ln/>
        </p:spPr>
        <p:txBody>
          <a:bodyPr wrap="square" lIns="0" tIns="0" rIns="0" bIns="0" rtlCol="0" anchor="ctr"/>
          <a:lstStyle/>
          <a:p>
            <a:pPr indent="0" marL="0">
              <a:buNone/>
            </a:pPr>
            <a:r>
              <a:rPr lang="en-US" sz="1200" dirty="0">
                <a:solidFill>
                  <a:schemeClr val="tx1"/>
                </a:solidFill>
              </a:rPr>
              <a:t>Yes: high-risk branch (62% of these applicants defaulted). Verify income or decline; short credit history or any delinquency in this branch means flag.</a:t>
            </a:r>
            <a:endParaRPr lang="en-US" sz="1200" dirty="0"/>
          </a:p>
        </p:txBody>
      </p:sp>
      <p:sp>
        <p:nvSpPr>
          <p:cNvPr id="7" name="rule divider 1"/>
          <p:cNvSpPr/>
          <p:nvPr/>
        </p:nvSpPr>
        <p:spPr>
          <a:xfrm>
            <a:off x="1005840" y="1847088"/>
            <a:ext cx="7772400" cy="0"/>
          </a:xfrm>
          <a:prstGeom prst="line">
            <a:avLst/>
          </a:prstGeom>
          <a:noFill/>
          <a:ln w="9525">
            <a:solidFill>
              <a:srgbClr val="E3E3E3"/>
            </a:solidFill>
            <a:prstDash val="solid"/>
          </a:ln>
        </p:spPr>
      </p:sp>
      <p:sp>
        <p:nvSpPr>
          <p:cNvPr id="8" name="step 2"/>
          <p:cNvSpPr/>
          <p:nvPr/>
        </p:nvSpPr>
        <p:spPr>
          <a:xfrm>
            <a:off x="457200" y="1975104"/>
            <a:ext cx="384048" cy="384048"/>
          </a:xfrm>
          <a:prstGeom prst="ellipse">
            <a:avLst/>
          </a:prstGeom>
          <a:solidFill>
            <a:schemeClr val="accent1"/>
          </a:solidFill>
          <a:ln w="12700">
            <a:solidFill>
              <a:schemeClr val="accent1"/>
            </a:solidFill>
            <a:prstDash val="solid"/>
          </a:ln>
        </p:spPr>
      </p:sp>
      <p:sp>
        <p:nvSpPr>
          <p:cNvPr id="9" name="step number 2"/>
          <p:cNvSpPr txBox="1"/>
          <p:nvPr/>
        </p:nvSpPr>
        <p:spPr>
          <a:xfrm>
            <a:off x="457200" y="19751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rule question 2"/>
          <p:cNvSpPr txBox="1"/>
          <p:nvPr/>
        </p:nvSpPr>
        <p:spPr>
          <a:xfrm>
            <a:off x="1005840" y="1883664"/>
            <a:ext cx="3291840" cy="603504"/>
          </a:xfrm>
          <a:prstGeom prst="rect">
            <a:avLst/>
          </a:prstGeom>
          <a:noFill/>
          <a:ln/>
        </p:spPr>
        <p:txBody>
          <a:bodyPr wrap="square" lIns="0" tIns="0" rIns="0" bIns="0" rtlCol="0" anchor="ctr"/>
          <a:lstStyle/>
          <a:p>
            <a:pPr indent="0" marL="0">
              <a:buNone/>
            </a:pPr>
            <a:r>
              <a:rPr lang="en-US" sz="1250" b="1" dirty="0">
                <a:solidFill>
                  <a:schemeClr val="accent1"/>
                </a:solidFill>
              </a:rPr>
              <a:t>If recorded, is the ratio above about 44%?</a:t>
            </a:r>
            <a:endParaRPr lang="en-US" sz="1250" dirty="0"/>
          </a:p>
        </p:txBody>
      </p:sp>
      <p:sp>
        <p:nvSpPr>
          <p:cNvPr id="11" name="rule answer 2"/>
          <p:cNvSpPr txBox="1"/>
          <p:nvPr/>
        </p:nvSpPr>
        <p:spPr>
          <a:xfrm>
            <a:off x="4389120" y="1883664"/>
            <a:ext cx="4389120" cy="603504"/>
          </a:xfrm>
          <a:prstGeom prst="rect">
            <a:avLst/>
          </a:prstGeom>
          <a:noFill/>
          <a:ln/>
        </p:spPr>
        <p:txBody>
          <a:bodyPr wrap="square" lIns="0" tIns="0" rIns="0" bIns="0" rtlCol="0" anchor="ctr"/>
          <a:lstStyle/>
          <a:p>
            <a:pPr indent="0" marL="0">
              <a:buNone/>
            </a:pPr>
            <a:r>
              <a:rPr lang="en-US" sz="1200" dirty="0">
                <a:solidFill>
                  <a:schemeClr val="tx1"/>
                </a:solidFill>
              </a:rPr>
              <a:t>Yes: about three in four defaulted (87-100% above 45%). Flag unless the credit history is very long (over about 17 years).</a:t>
            </a:r>
            <a:endParaRPr lang="en-US" sz="1200" dirty="0"/>
          </a:p>
        </p:txBody>
      </p:sp>
      <p:sp>
        <p:nvSpPr>
          <p:cNvPr id="12" name="rule divider 2"/>
          <p:cNvSpPr/>
          <p:nvPr/>
        </p:nvSpPr>
        <p:spPr>
          <a:xfrm>
            <a:off x="1005840" y="2542032"/>
            <a:ext cx="7772400" cy="0"/>
          </a:xfrm>
          <a:prstGeom prst="line">
            <a:avLst/>
          </a:prstGeom>
          <a:noFill/>
          <a:ln w="9525">
            <a:solidFill>
              <a:srgbClr val="E3E3E3"/>
            </a:solidFill>
            <a:prstDash val="solid"/>
          </a:ln>
        </p:spPr>
      </p:sp>
      <p:sp>
        <p:nvSpPr>
          <p:cNvPr id="13" name="step 3"/>
          <p:cNvSpPr/>
          <p:nvPr/>
        </p:nvSpPr>
        <p:spPr>
          <a:xfrm>
            <a:off x="457200" y="2670048"/>
            <a:ext cx="384048" cy="384048"/>
          </a:xfrm>
          <a:prstGeom prst="ellipse">
            <a:avLst/>
          </a:prstGeom>
          <a:solidFill>
            <a:schemeClr val="accent1"/>
          </a:solidFill>
          <a:ln w="12700">
            <a:solidFill>
              <a:schemeClr val="accent1"/>
            </a:solidFill>
            <a:prstDash val="solid"/>
          </a:ln>
        </p:spPr>
      </p:sp>
      <p:sp>
        <p:nvSpPr>
          <p:cNvPr id="14" name="step number 3"/>
          <p:cNvSpPr txBox="1"/>
          <p:nvPr/>
        </p:nvSpPr>
        <p:spPr>
          <a:xfrm>
            <a:off x="457200" y="26700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rule question 3"/>
          <p:cNvSpPr txBox="1"/>
          <p:nvPr/>
        </p:nvSpPr>
        <p:spPr>
          <a:xfrm>
            <a:off x="1005840" y="2578608"/>
            <a:ext cx="3291840" cy="603504"/>
          </a:xfrm>
          <a:prstGeom prst="rect">
            <a:avLst/>
          </a:prstGeom>
          <a:noFill/>
          <a:ln/>
        </p:spPr>
        <p:txBody>
          <a:bodyPr wrap="square" lIns="0" tIns="0" rIns="0" bIns="0" rtlCol="0" anchor="ctr"/>
          <a:lstStyle/>
          <a:p>
            <a:pPr indent="0" marL="0">
              <a:buNone/>
            </a:pPr>
            <a:r>
              <a:rPr lang="en-US" sz="1250" b="1" dirty="0">
                <a:solidFill>
                  <a:schemeClr val="accent1"/>
                </a:solidFill>
              </a:rPr>
              <a:t>How many delinquent credit lines?</a:t>
            </a:r>
            <a:endParaRPr lang="en-US" sz="1250" dirty="0"/>
          </a:p>
        </p:txBody>
      </p:sp>
      <p:sp>
        <p:nvSpPr>
          <p:cNvPr id="16" name="rule answer 3"/>
          <p:cNvSpPr txBox="1"/>
          <p:nvPr/>
        </p:nvSpPr>
        <p:spPr>
          <a:xfrm>
            <a:off x="4389120" y="2578608"/>
            <a:ext cx="4389120" cy="603504"/>
          </a:xfrm>
          <a:prstGeom prst="rect">
            <a:avLst/>
          </a:prstGeom>
          <a:noFill/>
          <a:ln/>
        </p:spPr>
        <p:txBody>
          <a:bodyPr wrap="square" lIns="0" tIns="0" rIns="0" bIns="0" rtlCol="0" anchor="ctr"/>
          <a:lstStyle/>
          <a:p>
            <a:pPr indent="0" marL="0">
              <a:buNone/>
            </a:pPr>
            <a:r>
              <a:rPr lang="en-US" sz="1200" dirty="0">
                <a:solidFill>
                  <a:schemeClr val="tx1"/>
                </a:solidFill>
              </a:rPr>
              <a:t>Two or more with a modest mortgage balance: flag. None: only about 4-5% default, the safest group.</a:t>
            </a:r>
            <a:endParaRPr lang="en-US" sz="1200" dirty="0"/>
          </a:p>
        </p:txBody>
      </p:sp>
      <p:sp>
        <p:nvSpPr>
          <p:cNvPr id="17" name="rule divider 3"/>
          <p:cNvSpPr/>
          <p:nvPr/>
        </p:nvSpPr>
        <p:spPr>
          <a:xfrm>
            <a:off x="1005840" y="3236976"/>
            <a:ext cx="7772400" cy="0"/>
          </a:xfrm>
          <a:prstGeom prst="line">
            <a:avLst/>
          </a:prstGeom>
          <a:noFill/>
          <a:ln w="9525">
            <a:solidFill>
              <a:srgbClr val="E3E3E3"/>
            </a:solidFill>
            <a:prstDash val="solid"/>
          </a:ln>
        </p:spPr>
      </p:sp>
      <p:sp>
        <p:nvSpPr>
          <p:cNvPr id="18" name="step 4"/>
          <p:cNvSpPr/>
          <p:nvPr/>
        </p:nvSpPr>
        <p:spPr>
          <a:xfrm>
            <a:off x="457200" y="3364992"/>
            <a:ext cx="384048" cy="384048"/>
          </a:xfrm>
          <a:prstGeom prst="ellipse">
            <a:avLst/>
          </a:prstGeom>
          <a:solidFill>
            <a:schemeClr val="accent1"/>
          </a:solidFill>
          <a:ln w="12700">
            <a:solidFill>
              <a:schemeClr val="accent1"/>
            </a:solidFill>
            <a:prstDash val="solid"/>
          </a:ln>
        </p:spPr>
      </p:sp>
      <p:sp>
        <p:nvSpPr>
          <p:cNvPr id="19" name="step number 4"/>
          <p:cNvSpPr txBox="1"/>
          <p:nvPr/>
        </p:nvSpPr>
        <p:spPr>
          <a:xfrm>
            <a:off x="457200" y="33649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rule question 4"/>
          <p:cNvSpPr txBox="1"/>
          <p:nvPr/>
        </p:nvSpPr>
        <p:spPr>
          <a:xfrm>
            <a:off x="1005840" y="3273552"/>
            <a:ext cx="3291840" cy="603504"/>
          </a:xfrm>
          <a:prstGeom prst="rect">
            <a:avLst/>
          </a:prstGeom>
          <a:noFill/>
          <a:ln/>
        </p:spPr>
        <p:txBody>
          <a:bodyPr wrap="square" lIns="0" tIns="0" rIns="0" bIns="0" rtlCol="0" anchor="ctr"/>
          <a:lstStyle/>
          <a:p>
            <a:pPr indent="0" marL="0">
              <a:buNone/>
            </a:pPr>
            <a:r>
              <a:rPr lang="en-US" sz="1250" b="1" dirty="0">
                <a:solidFill>
                  <a:schemeClr val="accent1"/>
                </a:solidFill>
              </a:rPr>
              <a:t>How long is the credit history, how many years at the job?</a:t>
            </a:r>
            <a:endParaRPr lang="en-US" sz="1250" dirty="0"/>
          </a:p>
        </p:txBody>
      </p:sp>
      <p:sp>
        <p:nvSpPr>
          <p:cNvPr id="21" name="rule answer 4"/>
          <p:cNvSpPr txBox="1"/>
          <p:nvPr/>
        </p:nvSpPr>
        <p:spPr>
          <a:xfrm>
            <a:off x="4389120" y="3273552"/>
            <a:ext cx="4389120" cy="603504"/>
          </a:xfrm>
          <a:prstGeom prst="rect">
            <a:avLst/>
          </a:prstGeom>
          <a:noFill/>
          <a:ln/>
        </p:spPr>
        <p:txBody>
          <a:bodyPr wrap="square" lIns="0" tIns="0" rIns="0" bIns="0" rtlCol="0" anchor="ctr"/>
          <a:lstStyle/>
          <a:p>
            <a:pPr indent="0" marL="0">
              <a:buNone/>
            </a:pPr>
            <a:r>
              <a:rPr lang="en-US" sz="1200" dirty="0">
                <a:solidFill>
                  <a:schemeClr val="tx1"/>
                </a:solidFill>
              </a:rPr>
              <a:t>Under about 15 years of history or under about 3 years in the job tilts a borderline case towards flag.</a:t>
            </a:r>
            <a:endParaRPr lang="en-US" sz="1200" dirty="0"/>
          </a:p>
        </p:txBody>
      </p:sp>
      <p:sp>
        <p:nvSpPr>
          <p:cNvPr id="22" name="rule divider 4"/>
          <p:cNvSpPr/>
          <p:nvPr/>
        </p:nvSpPr>
        <p:spPr>
          <a:xfrm>
            <a:off x="1005840" y="3931920"/>
            <a:ext cx="7772400" cy="0"/>
          </a:xfrm>
          <a:prstGeom prst="line">
            <a:avLst/>
          </a:prstGeom>
          <a:noFill/>
          <a:ln w="9525">
            <a:solidFill>
              <a:srgbClr val="E3E3E3"/>
            </a:solidFill>
            <a:prstDash val="solid"/>
          </a:ln>
        </p:spPr>
      </p:sp>
      <p:sp>
        <p:nvSpPr>
          <p:cNvPr id="23" name="step 5"/>
          <p:cNvSpPr/>
          <p:nvPr/>
        </p:nvSpPr>
        <p:spPr>
          <a:xfrm>
            <a:off x="457200" y="4059936"/>
            <a:ext cx="384048" cy="384048"/>
          </a:xfrm>
          <a:prstGeom prst="ellipse">
            <a:avLst/>
          </a:prstGeom>
          <a:solidFill>
            <a:schemeClr val="accent1"/>
          </a:solidFill>
          <a:ln w="12700">
            <a:solidFill>
              <a:schemeClr val="accent1"/>
            </a:solidFill>
            <a:prstDash val="solid"/>
          </a:ln>
        </p:spPr>
      </p:sp>
      <p:sp>
        <p:nvSpPr>
          <p:cNvPr id="24" name="step number 5"/>
          <p:cNvSpPr txBox="1"/>
          <p:nvPr/>
        </p:nvSpPr>
        <p:spPr>
          <a:xfrm>
            <a:off x="457200" y="40599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5" name="rule question 5"/>
          <p:cNvSpPr txBox="1"/>
          <p:nvPr/>
        </p:nvSpPr>
        <p:spPr>
          <a:xfrm>
            <a:off x="1005840" y="3968496"/>
            <a:ext cx="3291840" cy="603504"/>
          </a:xfrm>
          <a:prstGeom prst="rect">
            <a:avLst/>
          </a:prstGeom>
          <a:noFill/>
          <a:ln/>
        </p:spPr>
        <p:txBody>
          <a:bodyPr wrap="square" lIns="0" tIns="0" rIns="0" bIns="0" rtlCol="0" anchor="ctr"/>
          <a:lstStyle/>
          <a:p>
            <a:pPr indent="0" marL="0">
              <a:buNone/>
            </a:pPr>
            <a:r>
              <a:rPr lang="en-US" sz="1250" b="1" dirty="0">
                <a:solidFill>
                  <a:schemeClr val="accent1"/>
                </a:solidFill>
              </a:rPr>
              <a:t>Loan size</a:t>
            </a:r>
            <a:endParaRPr lang="en-US" sz="1250" dirty="0"/>
          </a:p>
        </p:txBody>
      </p:sp>
      <p:sp>
        <p:nvSpPr>
          <p:cNvPr id="26" name="rule answer 5"/>
          <p:cNvSpPr txBox="1"/>
          <p:nvPr/>
        </p:nvSpPr>
        <p:spPr>
          <a:xfrm>
            <a:off x="4389120" y="3968496"/>
            <a:ext cx="4389120" cy="603504"/>
          </a:xfrm>
          <a:prstGeom prst="rect">
            <a:avLst/>
          </a:prstGeom>
          <a:noFill/>
          <a:ln/>
        </p:spPr>
        <p:txBody>
          <a:bodyPr wrap="square" lIns="0" tIns="0" rIns="0" bIns="0" rtlCol="0" anchor="ctr"/>
          <a:lstStyle/>
          <a:p>
            <a:pPr indent="0" marL="0">
              <a:buNone/>
            </a:pPr>
            <a:r>
              <a:rPr lang="en-US" sz="1200" dirty="0">
                <a:solidFill>
                  <a:schemeClr val="tx1"/>
                </a:solidFill>
              </a:rPr>
              <a:t>Appears as a split under an unverified ratio and short history, but every applicant on that path is flagged whatever the amount; the amount does not change the decision at this depth.</a:t>
            </a:r>
            <a:endParaRPr lang="en-US" sz="1200" dirty="0"/>
          </a:p>
        </p:txBody>
      </p:sp>
      <p:sp>
        <p:nvSpPr>
          <p:cNvPr id="27" name="tree footnote"/>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900" dirty="0">
                <a:solidFill>
                  <a:schemeClr val="accent6"/>
                </a:solidFill>
              </a:rPr>
              <a:t>Surrogate: depth-4 tree, minimum 20 applicants per leaf, fitted to the forest's flag/clear decisions at threshold 0.25 on the training rows; it agrees with the forest on 90% of test decisions. The stand-alone tuned tree (test recall 82%, precision 53%) found the same drivers.</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E2761"/>
                </a:solidFill>
              </a:rPr>
              <a:t>Appendix D: data treatment and pre-processing</a:t>
            </a:r>
            <a:endParaRPr lang="en-US" sz="2400" dirty="0"/>
          </a:p>
        </p:txBody>
      </p:sp>
      <p:graphicFrame>
        <p:nvGraphicFramePr>
          <p:cNvPr id="20" name="preprocessing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371600"/>
                <a:gridCol w="3474720"/>
                <a:gridCol w="338328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Step</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was done</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E2761"/>
                    </a:solidFill>
                  </a:tcPr>
                </a:tc>
              </a:tr>
              <a:tr h="0">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Duplicates</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None found; no rows dropped</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5,960 loans retained, including 2 with only the loan amount recorded</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Missing values</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A 0/1 'was missing' flag per column, then median (numeric) or mode (categorical) imputation learned on the training rows</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Missingness of debt-to-income and property value is the strongest default signal; dropping rows would lose 44% of the data</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Outliers</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IQR capping for the linear model only; DEROG and DELINQ capped at the 99th percentile; tree models use raw values</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Linear models are pulled by extremes (debt-to-income 203%, credit history 97 years); trees split on rank order and keep the 'above 50% always defaults' signal</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Encoding and scaling</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One-hot encoding of REASON and JOB (drop first); standard scaling of the continuous inputs for the linear model only, flags left as 0/1</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Comparable coefficients, odds ratios for flags read as the effect of the flag</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Split</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70% train / 30% test, stratified on the target, fixed seed, held out before any statistic was fitted; identical applicants in both data versions</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No leakage from test rows into fences, medians or scaling; results comparable across models</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Imbalance</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Class weights (balanced or 0.2/0.8) inside the models rather than resampling</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050" dirty="0">
                          <a:solidFill>
                            <a:srgbClr val="1F1F1F"/>
                          </a:solidFill>
                          <a:latin typeface="Calibri" pitchFamily="34" charset="0"/>
                          <a:ea typeface="Calibri" pitchFamily="34" charset="-122"/>
                          <a:cs typeface="Calibri" pitchFamily="34" charset="-120"/>
                        </a:rPr>
                        <a:t>Keeps every real applicant; lifted recall by 23 points for logistic regression and 9 for the forest</a:t>
                      </a:r>
                      <a:endParaRPr lang="en-US" sz="1050" dirty="0">
                        <a:latin typeface="Calibri" charset="0"/>
                        <a:ea typeface="Calibri" charset="0"/>
                        <a:cs typeface="Calibri" charset="0"/>
                      </a:endParaRPr>
                    </a:p>
                  </a:txBody>
                  <a:tcPr marL="45720" marR="4572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Loan Default Navy">
  <a:themeElements>
    <a:clrScheme name="Loan Default Navy">
      <a:dk1>
        <a:srgbClr val="1F1F1F"/>
      </a:dk1>
      <a:lt1>
        <a:srgbClr val="FFFFFF"/>
      </a:lt1>
      <a:dk2>
        <a:srgbClr val="1E2761"/>
      </a:dk2>
      <a:lt2>
        <a:srgbClr val="EEF2FA"/>
      </a:lt2>
      <a:accent1>
        <a:srgbClr val="1E2761"/>
      </a:accent1>
      <a:accent2>
        <a:srgbClr val="C44E52"/>
      </a:accent2>
      <a:accent3>
        <a:srgbClr val="4C72B0"/>
      </a:accent3>
      <a:accent4>
        <a:srgbClr val="9DB4DE"/>
      </a:accent4>
      <a:accent5>
        <a:srgbClr val="3C8D5A"/>
      </a:accent5>
      <a:accent6>
        <a:srgbClr val="8C8C8C"/>
      </a:accent6>
      <a:hlink>
        <a:srgbClr val="1E2761"/>
      </a:hlink>
      <a:folHlink>
        <a:srgbClr val="4C72B0"/>
      </a:folHlink>
    </a:clrScheme>
    <a:fontScheme name="Loan Default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 Default Prediction - Capstone Presentation</dc:title>
  <dc:subject>PptxGenJS Presentation</dc:subject>
  <dc:creator>Shubham Garg</dc:creator>
  <cp:lastModifiedBy>Shubham Garg</cp:lastModifiedBy>
  <cp:revision>1</cp:revision>
  <dcterms:created xsi:type="dcterms:W3CDTF">2026-10-25T20:07:23Z</dcterms:created>
  <dcterms:modified xsi:type="dcterms:W3CDTF">2026-10-25T20:07:23Z</dcterms:modified>
</cp:coreProperties>
</file>