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860cd5-43ef-ee06-8049-37938167717a}">
          <p14:sldIdLst>
            <p14:sldId id="256"/>
            <p14:sldId id="257"/>
          </p14:sldIdLst>
        </p14:section>
        <p14:section name="Problem and approach" id="{b8e3ba4e-2566-0604-1b7c-1bf7fa7a922a}">
          <p14:sldIdLst>
            <p14:sldId id="258"/>
            <p14:sldId id="259"/>
          </p14:sldIdLst>
        </p14:section>
        <p14:section name="Key insights" id="{062fa8cf-80e6-52a2-5522-4a9b3c374866}">
          <p14:sldIdLst>
            <p14:sldId id="260"/>
            <p14:sldId id="261"/>
            <p14:sldId id="262"/>
          </p14:sldIdLst>
        </p14:section>
        <p14:section name="Modelling" id="{ad2a4126-587f-a781-e790-e4f86936d131}">
          <p14:sldIdLst>
            <p14:sldId id="263"/>
            <p14:sldId id="264"/>
            <p14:sldId id="265"/>
            <p14:sldId id="266"/>
          </p14:sldIdLst>
        </p14:section>
        <p14:section name="Recommendations" id="{44a977be-9c89-7117-8ac5-43238303b891}">
          <p14:sldIdLst>
            <p14:sldId id="267"/>
            <p14:sldId id="268"/>
            <p14:sldId id="269"/>
            <p14:sldId id="270"/>
          </p14:sldIdLst>
        </p14:section>
        <p14:section name="Appendix" id="{3a967d96-123c-ed07-9e28-a66ad70eae32}">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43.4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Sheet1!$B$2:$B$7</c:f>
              <c:numCache>
                <c:formatCode>General</c:formatCode>
                <c:ptCount val="6"/>
                <c:pt idx="0">
                  <c:v>79.8</c:v>
                </c:pt>
                <c:pt idx="1">
                  <c:v>81.8</c:v>
                </c:pt>
                <c:pt idx="2">
                  <c:v>67.8</c:v>
                </c:pt>
                <c:pt idx="3">
                  <c:v>68.9</c:v>
                </c:pt>
                <c:pt idx="4">
                  <c:v>78.4</c:v>
                </c:pt>
                <c:pt idx="5">
                  <c:v>93.3</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Sheet1!$C$2:$C$7</c:f>
              <c:numCache>
                <c:formatCode>General</c:formatCode>
                <c:ptCount val="6"/>
                <c:pt idx="0">
                  <c:v>61.2</c:v>
                </c:pt>
                <c:pt idx="1">
                  <c:v>53.3</c:v>
                </c:pt>
                <c:pt idx="2">
                  <c:v>82.6</c:v>
                </c:pt>
                <c:pt idx="3">
                  <c:v>84.5</c:v>
                </c:pt>
                <c:pt idx="4">
                  <c:v>77.3</c:v>
                </c:pt>
                <c:pt idx="5">
                  <c:v>67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Class-weighted Random Forest on the test set</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Sheet1!$B$2:$B$12</c:f>
              <c:numCache>
                <c:formatCode>General</c:formatCode>
                <c:ptCount val="11"/>
                <c:pt idx="0">
                  <c:v>94.1</c:v>
                </c:pt>
                <c:pt idx="1">
                  <c:v>93.3</c:v>
                </c:pt>
                <c:pt idx="2">
                  <c:v>90.2</c:v>
                </c:pt>
                <c:pt idx="3">
                  <c:v>88.2</c:v>
                </c:pt>
                <c:pt idx="4">
                  <c:v>85.2</c:v>
                </c:pt>
                <c:pt idx="5">
                  <c:v>82.6</c:v>
                </c:pt>
                <c:pt idx="6">
                  <c:v>78.4</c:v>
                </c:pt>
                <c:pt idx="7">
                  <c:v>73.7</c:v>
                </c:pt>
                <c:pt idx="8">
                  <c:v>68.9</c:v>
                </c:pt>
                <c:pt idx="9">
                  <c:v>63.6</c:v>
                </c:pt>
                <c:pt idx="10">
                  <c:v>57.4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Sheet1!$C$2:$C$12</c:f>
              <c:numCache>
                <c:formatCode>General</c:formatCode>
                <c:ptCount val="11"/>
                <c:pt idx="0">
                  <c:v>63.8</c:v>
                </c:pt>
                <c:pt idx="1">
                  <c:v>67</c:v>
                </c:pt>
                <c:pt idx="2">
                  <c:v>68.8</c:v>
                </c:pt>
                <c:pt idx="3">
                  <c:v>70.8</c:v>
                </c:pt>
                <c:pt idx="4">
                  <c:v>72.7</c:v>
                </c:pt>
                <c:pt idx="5">
                  <c:v>75.1</c:v>
                </c:pt>
                <c:pt idx="6">
                  <c:v>77.3</c:v>
                </c:pt>
                <c:pt idx="7">
                  <c:v>80.7</c:v>
                </c:pt>
                <c:pt idx="8">
                  <c:v>82.6</c:v>
                </c:pt>
                <c:pt idx="9">
                  <c:v>82.5</c:v>
                </c:pt>
                <c:pt idx="10">
                  <c:v>84</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Feature importance (%), tuned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Delinquent credit lines</c:v>
                  </c:pt>
                  <c:pt idx="3">
                    <c:v>Age of oldest credit line</c:v>
                  </c:pt>
                  <c:pt idx="4">
                    <c:v>Derogatory reports</c:v>
                  </c:pt>
                  <c:pt idx="5">
                    <c:v>Loan amount</c:v>
                  </c:pt>
                  <c:pt idx="6">
                    <c:v>Property value</c:v>
                  </c:pt>
                  <c:pt idx="7">
                    <c:v>Mortgage due</c:v>
                  </c:pt>
                  <c:pt idx="8">
                    <c:v>Number of credit lines</c:v>
                  </c:pt>
                  <c:pt idx="9">
                    <c:v>Years at job</c:v>
                  </c:pt>
                  <c:pt idx="10">
                    <c:v>Recent inquiries</c:v>
                  </c:pt>
                  <c:pt idx="11">
                    <c:v>Property value missing</c:v>
                  </c:pt>
                </c:lvl>
              </c:multiLvlStrCache>
            </c:multiLvlStrRef>
          </c:cat>
          <c:val>
            <c:numRef>
              <c:f>Sheet1!$B$2:$B$13</c:f>
              <c:numCache>
                <c:formatCode>General</c:formatCode>
                <c:ptCount val="12"/>
                <c:pt idx="0">
                  <c:v>28.4</c:v>
                </c:pt>
                <c:pt idx="1">
                  <c:v>24.2</c:v>
                </c:pt>
                <c:pt idx="2">
                  <c:v>9.7</c:v>
                </c:pt>
                <c:pt idx="3">
                  <c:v>7.2</c:v>
                </c:pt>
                <c:pt idx="4">
                  <c:v>4.9</c:v>
                </c:pt>
                <c:pt idx="5">
                  <c:v>4.2</c:v>
                </c:pt>
                <c:pt idx="6">
                  <c:v>3.8</c:v>
                </c:pt>
                <c:pt idx="7">
                  <c:v>3.6</c:v>
                </c:pt>
                <c:pt idx="8">
                  <c:v>3.2</c:v>
                </c:pt>
                <c:pt idx="9">
                  <c:v>2.9</c:v>
                </c:pt>
                <c:pt idx="10">
                  <c:v>1.9</c:v>
                </c:pt>
                <c:pt idx="11">
                  <c:v>1.8</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its home-equity loan losses by more than three quarters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under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but removing it from the final model changed performance by at most a point, which is good news for fair lending.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model variants were built; these are the five that matter. The forest with class weights has the best balance and the best ranking ability. Because it ranks applicants so well, we can lower its decision threshold and catch 93 percent of defaulters while two thirds of the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pruned decision tree built on the same data provides the plain-language reasons for every decline. On unseen applicants it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Moving the cut-off to 0.25 cuts missed defaulters from 43 to 13 per thousand applicants, at the price of declining 92 instead of 46 good customers. Under the cost assumptions that is the cheapest operating point, and it is robust: anything between 0.2 and 0.3 is within 12 percent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1.8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hard look at anyone with two or more delinquencies or derogatory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$1.8M.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Flag every missing field, impute median/mode, cap outliers for the linear model only, one-hot encode, 70/30 stratified split</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cost-based threshold</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Below a 40% ratio only 4-7% default; above 45% almost everyone does. Each delinquent line or derogatory report roughly doubles the risk (0 reports: 17%, 1: 39%, 2: 51%, 3+: 70%+).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but adds almost nothing once financial behaviour is known, so the final model does not need it.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$18,600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All models are tuned by cross-validated grid search on recall and judged on a held-out 30% of applicants the models never saw.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catches 78% at 77% precision, with the best ROC-AUC (0.96): it ranks applicants by risk most accurately.</a:t>
            </a:r>
            <a:endParaRPr lang="en-US" sz="1200" dirty="0"/>
          </a:p>
          <a:p>
            <a:pPr marL="177800" indent="-177800">
              <a:spcAft>
                <a:spcPts val="800"/>
              </a:spcAft>
              <a:buSzPct val="100000"/>
              <a:buChar char="•"/>
            </a:pPr>
            <a:r>
              <a:rPr lang="en-US" sz="1200" dirty="0">
                <a:solidFill>
                  <a:schemeClr val="tx1"/>
                </a:solidFill>
              </a:rPr>
              <a:t>Because it ranks so well, lowering its threshold to 0.25 lifts recall to 93% at 67% precision, the lowest expected cost of any option.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with a Decision Tree explanation layer</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trees, class weights 0.2 (repaid) / 0.8 (default).</a:t>
            </a:r>
            <a:endParaRPr lang="en-US" sz="1150" dirty="0"/>
          </a:p>
          <a:p>
            <a:pPr marL="177800" indent="-177800">
              <a:spcAft>
                <a:spcPts val="800"/>
              </a:spcAft>
              <a:buSzPct val="100000"/>
              <a:buChar char="•"/>
            </a:pPr>
            <a:r>
              <a:rPr lang="en-US" sz="1150" dirty="0">
                <a:solidFill>
                  <a:schemeClr val="tx1"/>
                </a:solidFill>
              </a:rPr>
              <a:t>Inputs: the 10 financial attributes plus 'debt-to-income missing' and 'property value missing' flags. Occupation and loan purpose are not needed.</a:t>
            </a:r>
            <a:endParaRPr lang="en-US" sz="1150" dirty="0"/>
          </a:p>
          <a:p>
            <a:pPr marL="177800" indent="-177800">
              <a:spcAft>
                <a:spcPts val="800"/>
              </a:spcAft>
              <a:buSzPct val="100000"/>
              <a:buChar char="•"/>
            </a:pPr>
            <a:r>
              <a:rPr lang="en-US" sz="1150" dirty="0">
                <a:solidFill>
                  <a:schemeClr val="tx1"/>
                </a:solidFill>
              </a:rPr>
              <a:t>Decision threshold 0.25 (cost-minimising) instead of the default 0.5; approve / refer / decline bands keep an underwriter in the loop near the threshold.</a:t>
            </a:r>
            <a:endParaRPr lang="en-US" sz="1150" dirty="0"/>
          </a:p>
          <a:p>
            <a:pPr marL="177800" indent="-177800">
              <a:spcAft>
                <a:spcPts val="800"/>
              </a:spcAft>
              <a:buSzPct val="100000"/>
              <a:buChar char="•"/>
            </a:pPr>
            <a:r>
              <a:rPr lang="en-US" sz="1150" dirty="0">
                <a:solidFill>
                  <a:schemeClr val="tx1"/>
                </a:solidFill>
              </a:rPr>
              <a:t>Explanation layer: a pruned Decision Tree built on the same data. Its rules (ratio missing, ratio above 44%, delinquencies, derogatory reports, credit-history length) supply the adverse-action reasons the ECOA requires.</a:t>
            </a:r>
            <a:endParaRPr lang="en-US" sz="1150" dirty="0"/>
          </a:p>
          <a:p>
            <a:pPr marL="177800" indent="-177800">
              <a:spcAft>
                <a:spcPts val="800"/>
              </a:spcAft>
              <a:buSzPct val="100000"/>
              <a:buChar char="•"/>
            </a:pPr>
            <a:r>
              <a:rPr lang="en-US" sz="1150" dirty="0">
                <a:solidFill>
                  <a:schemeClr val="tx1"/>
                </a:solidFill>
              </a:rPr>
              <a:t>Validated on a 30% hold-out; hyper-parameters chosen by stratified cross-validation.</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about 187 of 200 defaulters flagged in advance, 13 missed, 92 good customers referred or declined.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0.25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43 missed defaulters</a:t>
            </a:r>
            <a:endParaRPr lang="en-US" sz="1200" dirty="0"/>
          </a:p>
          <a:p>
            <a:pPr marL="177800" indent="-177800">
              <a:spcAft>
                <a:spcPts val="800"/>
              </a:spcAft>
              <a:buSzPct val="100000"/>
              <a:buChar char="•"/>
            </a:pPr>
            <a:r>
              <a:rPr lang="en-US" sz="1200" dirty="0">
                <a:solidFill>
                  <a:schemeClr val="tx1"/>
                </a:solidFill>
              </a:rPr>
              <a:t>46 good customers declined</a:t>
            </a:r>
            <a:endParaRPr lang="en-US" sz="1200" dirty="0"/>
          </a:p>
          <a:p>
            <a:pPr marL="177800" indent="-177800">
              <a:spcAft>
                <a:spcPts val="800"/>
              </a:spcAft>
              <a:buSzPct val="100000"/>
              <a:buChar char="•"/>
            </a:pPr>
            <a:r>
              <a:rPr lang="en-US" sz="1200" dirty="0">
                <a:solidFill>
                  <a:schemeClr val="tx1"/>
                </a:solidFill>
              </a:rPr>
              <a:t>$479k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0.25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13 missed defaulters</a:t>
            </a:r>
            <a:endParaRPr lang="en-US" sz="1200" dirty="0"/>
          </a:p>
          <a:p>
            <a:pPr marL="177800" indent="-177800">
              <a:spcAft>
                <a:spcPts val="800"/>
              </a:spcAft>
              <a:buSzPct val="100000"/>
              <a:buChar char="•"/>
            </a:pPr>
            <a:r>
              <a:rPr lang="en-US" sz="1200" dirty="0">
                <a:solidFill>
                  <a:schemeClr val="tx1"/>
                </a:solidFill>
              </a:rPr>
              <a:t>92 good customers declined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Per 1,000 applicants; cost assumes $9,000 per missed defaulter and $2,000 per wrongly declined customer. Thresholds 0.20-0.30 are all within 12% of the minimum, so the choice is robust.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80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$0.7M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550,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$8.5M after running costs</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average loan $18,600, loss given default about 50%, forgone margin about $2,000 per declined good customer, production performance equal to test performance.</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Calibrate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Compare outcomes,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when the debt-to-income ratio is above 45%, when there are two or more delinquent credit lines, or two or more major derogatory reports.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data covers approved loans only.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after the rule is in place.</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keep occupation out of the model; disparate-impact testing before launch and annually.</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0.25 means a 25%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F1</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Accuracy</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ROC-AUC</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Train recall</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Logistic Regression (plain)</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0.569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0.772</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0.655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0.880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0.907</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0.643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Logistic Regression (balanced)</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0.798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0.612</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0.693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0.859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0.906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0.823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Decision Tree (default)</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0.686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0.706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0.696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0.880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0.807</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Decision Tree (class weights)</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0.616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0.668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0.878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0.779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Decision Tree (tuned: balanced, min 20 per leaf)</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0.533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0.645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0.820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0.879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0.924</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Bagging (200 fully grown trees)</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0.678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0.826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0.745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0.907</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0.946</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Random Forest (default, 200 trees)</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0.689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0.759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0.913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0.962</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Random Forest (class weights 0.2/0.8)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0.773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0.779</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0.911</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0.958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Random Forest (tuned for recall)</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0.653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0.712</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0.874</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0.933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0.921</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Random Forest (tuned, 12 features)</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0.664</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0.878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0.928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0.917</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74320">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Proposed: RF class weights, threshold 0.25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0.933</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0.670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0.780</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0.895</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b="1" dirty="0">
                          <a:solidFill>
                            <a:srgbClr val="1F1F1F"/>
                          </a:solidFill>
                          <a:latin typeface="Calibri" pitchFamily="34" charset="0"/>
                          <a:ea typeface="Calibri" pitchFamily="34" charset="-122"/>
                          <a:cs typeface="Calibri" pitchFamily="34" charset="-120"/>
                        </a:rPr>
                        <a:t>0.958</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00" dirty="0">
                          <a:solidFill>
                            <a:srgbClr val="1F1F1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Train recall of 1.000 marks the un-pruned models that memorised the training data. Grid search used stratified cross-validation on the training set only, scoring on recall.</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The debt-to-income ratio and its missing flag carry more than half (53%) of the forest's decision power.</a:t>
            </a:r>
            <a:endParaRPr lang="en-US" sz="1200" dirty="0"/>
          </a:p>
          <a:p>
            <a:pPr marL="177800" indent="-177800">
              <a:spcAft>
                <a:spcPts val="800"/>
              </a:spcAft>
              <a:buSzPct val="100000"/>
              <a:buChar char="•"/>
            </a:pPr>
            <a:r>
              <a:rPr lang="en-US" sz="1200" dirty="0">
                <a:solidFill>
                  <a:schemeClr val="tx1"/>
                </a:solidFill>
              </a:rPr>
              <a:t>Next come repayment history (delinquencies, derogatory reports) and depth of credit history.</a:t>
            </a:r>
            <a:endParaRPr lang="en-US" sz="1200" dirty="0"/>
          </a:p>
          <a:p>
            <a:pPr marL="177800" indent="-177800">
              <a:spcAft>
                <a:spcPts val="800"/>
              </a:spcAft>
              <a:buSzPct val="100000"/>
              <a:buChar char="•"/>
            </a:pPr>
            <a:r>
              <a:rPr lang="en-US" sz="1200" dirty="0">
                <a:solidFill>
                  <a:schemeClr val="tx1"/>
                </a:solidFill>
              </a:rPr>
              <a:t>Loan, property and mortgage amounts matter in combination but are weak on their own.</a:t>
            </a:r>
            <a:endParaRPr lang="en-US" sz="1200" dirty="0"/>
          </a:p>
          <a:p>
            <a:pPr marL="177800" indent="-177800">
              <a:spcAft>
                <a:spcPts val="800"/>
              </a:spcAft>
              <a:buSzPct val="100000"/>
              <a:buChar char="•"/>
            </a:pPr>
            <a:r>
              <a:rPr lang="en-US" sz="1200" dirty="0">
                <a:solidFill>
                  <a:schemeClr val="tx1"/>
                </a:solidFill>
              </a:rPr>
              <a:t>Occupation and loan-purpose dummies rank at the bottom; removing them and nine minor flags left performance unchanged (12-feature model).</a:t>
            </a:r>
            <a:endParaRPr lang="en-US" sz="1200" dirty="0"/>
          </a:p>
          <a:p>
            <a:pPr marL="177800" indent="-177800">
              <a:spcAft>
                <a:spcPts val="800"/>
              </a:spcAft>
              <a:buSzPct val="100000"/>
              <a:buChar char="•"/>
            </a:pPr>
            <a:r>
              <a:rPr lang="en-US" sz="1200" dirty="0">
                <a:solidFill>
                  <a:schemeClr val="tx1"/>
                </a:solidFill>
              </a:rPr>
              <a:t>Logistic-regression coefficients and the decision-tree rules point to the same drivers, so the signal is stable across techniques.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read from the pruned Decision Tree</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highest-risk branch (62% historical default). Verify income or decline.</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almost certain default in the data (87-100%). Decline.</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Any delinquent credit lines?</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One or more pushes the applicant back into the risky branch, even with a healthy ratio.</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Any major derogatory reports, and how long is the credit history?</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Short history (under about 15 years) with a derogatory report is risky; long clean histories are safe.</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Loan size, mortgage balance and property value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Refine the decision deeper in the tree; small loans with weak history lean towards default.</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Tuned tree: Gini criterion, balanced class weights, minimum 20 applicants per leaf, depth 14, 105 leaves. Test recall 82%, precision 53%: used for explanations, not for scoring.</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Step</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What was done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Duplicates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None found; no rows dropped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A 0/1 'was missing' flag per column, then median (numeric) or mode (categorical) imputation</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Outliers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Encoding and scaling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One-hot encoding of REASON and JOB (drop first); standard scaling for the linear model only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Comparable coefficients and stable convergence for logistic regression</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Split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70% train / 30% test, stratified on the target, fixed seed; identical applicants in both data versions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Both sets keep the 20% default rate; results comparable across models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Imbalance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Class weights (balanced or 0.2/0.8) inside the models rather than resampling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Keeps every real applicant; lifted recall by 23 points for logistic regression and 10 for the forest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2026-10-25T18:53:24Z</dcterms:created>
  <dcterms:modified xsi:type="dcterms:W3CDTF">2026-10-25T18:53:24Z</dcterms:modified>
</cp:coreProperties>
</file>