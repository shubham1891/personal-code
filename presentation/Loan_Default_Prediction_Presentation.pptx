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52c0ab4-0bc8-6677-17e8-38b932571b62}">
          <p14:sldIdLst>
            <p14:sldId id="256"/>
            <p14:sldId id="257"/>
          </p14:sldIdLst>
        </p14:section>
        <p14:section name="Problem and approach" id="{e81247c5-6dd3-30b9-22e4-21c35800f832}">
          <p14:sldIdLst>
            <p14:sldId id="258"/>
            <p14:sldId id="259"/>
          </p14:sldIdLst>
        </p14:section>
        <p14:section name="Key insights" id="{cc135e1d-a26e-e379-35c0-a57e916115ab}">
          <p14:sldIdLst>
            <p14:sldId id="260"/>
            <p14:sldId id="261"/>
            <p14:sldId id="262"/>
          </p14:sldIdLst>
        </p14:section>
        <p14:section name="Modelling" id="{7c36050b-0630-9c48-a285-dd5d63cb8f55}">
          <p14:sldIdLst>
            <p14:sldId id="263"/>
            <p14:sldId id="264"/>
            <p14:sldId id="265"/>
            <p14:sldId id="266"/>
          </p14:sldIdLst>
        </p14:section>
        <p14:section name="Recommendations" id="{59cc9aa2-bac2-31c6-6279-d0c8237782ce}">
          <p14:sldIdLst>
            <p14:sldId id="267"/>
            <p14:sldId id="268"/>
            <p14:sldId id="269"/>
            <p14:sldId id="270"/>
          </p14:sldIdLst>
        </p14:section>
        <p14:section name="Appendix" id="{37d195e6-c4e2-19f7-9fa1-7afed4aece6d}">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when a field is missing vs present</a:t>
            </a:r>
          </a:p>
        </c:rich>
      </c:tx>
      <c:layout/>
      <c:overlay val="0"/>
    </c:title>
    <c:autoTitleDeleted val="0"/>
    <c:plotArea>
      <c:layout/>
      <c:barChart>
        <c:barDir val="col"/>
        <c:grouping val="clustered"/>
        <c:varyColors val="0"/>
        <c:ser>
          <c:idx val="0"/>
          <c:order val="0"/>
          <c:tx>
            <c:strRef>
              <c:f>Sheet1!$B$1</c:f>
              <c:strCache>
                <c:ptCount val="1"/>
                <c:pt idx="0">
                  <c:v>Field missing</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Sheet1!$B$2:$B$7</c:f>
              <c:numCache>
                <c:formatCode>General</c:formatCode>
                <c:ptCount val="6"/>
                <c:pt idx="0">
                  <c:v>93.8</c:v>
                </c:pt>
                <c:pt idx="1">
                  <c:v>62</c:v>
                </c:pt>
                <c:pt idx="2">
                  <c:v>25.3</c:v>
                </c:pt>
                <c:pt idx="3">
                  <c:v>23.9</c:v>
                </c:pt>
                <c:pt idx="4">
                  <c:v>12.3</c:v>
                </c:pt>
                <c:pt idx="5">
                  <c:v>8.2</c:v>
                </c:pt>
              </c:numCache>
            </c:numRef>
          </c:val>
        </c:ser>
        <c:ser>
          <c:idx val="1"/>
          <c:order val="1"/>
          <c:tx>
            <c:strRef>
              <c:f>Sheet1!$C$1</c:f>
              <c:strCache>
                <c:ptCount val="1"/>
                <c:pt idx="0">
                  <c:v>Field present</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Sheet1!$C$2:$C$7</c:f>
              <c:numCache>
                <c:formatCode>General</c:formatCode>
                <c:ptCount val="6"/>
                <c:pt idx="0">
                  <c:v>18.5</c:v>
                </c:pt>
                <c:pt idx="1">
                  <c:v>8.6</c:v>
                </c:pt>
                <c:pt idx="2">
                  <c:v>19.7</c:v>
                </c:pt>
                <c:pt idx="3">
                  <c:v>19.8</c:v>
                </c:pt>
                <c:pt idx="4">
                  <c:v>21</c:v>
                </c:pt>
                <c:pt idx="5">
                  <c:v>20.5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debt-to-income ratio band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0-20</c:v>
                  </c:pt>
                  <c:pt idx="1">
                    <c:v>20-30</c:v>
                  </c:pt>
                  <c:pt idx="2">
                    <c:v>30-35</c:v>
                  </c:pt>
                  <c:pt idx="3">
                    <c:v>35-40</c:v>
                  </c:pt>
                  <c:pt idx="4">
                    <c:v>40-45</c:v>
                  </c:pt>
                  <c:pt idx="5">
                    <c:v>45-50</c:v>
                  </c:pt>
                  <c:pt idx="6">
                    <c:v>50+</c:v>
                  </c:pt>
                </c:lvl>
              </c:multiLvlStrCache>
            </c:multiLvlStrRef>
          </c:cat>
          <c:val>
            <c:numRef>
              <c:f>Sheet1!$B$2:$B$8</c:f>
              <c:numCache>
                <c:formatCode>General</c:formatCode>
                <c:ptCount val="7"/>
                <c:pt idx="0">
                  <c:v>10.6</c:v>
                </c:pt>
                <c:pt idx="1">
                  <c:v>4.4</c:v>
                </c:pt>
                <c:pt idx="2">
                  <c:v>6</c:v>
                </c:pt>
                <c:pt idx="3">
                  <c:v>7</c:v>
                </c:pt>
                <c:pt idx="4">
                  <c:v>11.2</c:v>
                </c:pt>
                <c:pt idx="5">
                  <c:v>87.2</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number of delinquent credit lines</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c:v>
                  </c:pt>
                  <c:pt idx="1">
                    <c:v>1</c:v>
                  </c:pt>
                  <c:pt idx="2">
                    <c:v>2</c:v>
                  </c:pt>
                  <c:pt idx="3">
                    <c:v>3</c:v>
                  </c:pt>
                  <c:pt idx="4">
                    <c:v>4</c:v>
                  </c:pt>
                  <c:pt idx="5">
                    <c:v>5</c:v>
                  </c:pt>
                  <c:pt idx="6">
                    <c:v>6+</c:v>
                  </c:pt>
                </c:lvl>
              </c:multiLvlStrCache>
            </c:multiLvlStrRef>
          </c:cat>
          <c:val>
            <c:numRef>
              <c:f>Sheet1!$B$2:$B$8</c:f>
              <c:numCache>
                <c:formatCode>General</c:formatCode>
                <c:ptCount val="7"/>
                <c:pt idx="0">
                  <c:v>14</c:v>
                </c:pt>
                <c:pt idx="1">
                  <c:v>33.9</c:v>
                </c:pt>
                <c:pt idx="2">
                  <c:v>44.8</c:v>
                </c:pt>
                <c:pt idx="3">
                  <c:v>55</c:v>
                </c:pt>
                <c:pt idx="4">
                  <c:v>59</c:v>
                </c:pt>
                <c:pt idx="5">
                  <c:v>81.6</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age of oldest credit line</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 yrs</c:v>
                  </c:pt>
                  <c:pt idx="1">
                    <c:v>5-10</c:v>
                  </c:pt>
                  <c:pt idx="2">
                    <c:v>10-15</c:v>
                  </c:pt>
                  <c:pt idx="3">
                    <c:v>15-20</c:v>
                  </c:pt>
                  <c:pt idx="4">
                    <c:v>20-25</c:v>
                  </c:pt>
                  <c:pt idx="5">
                    <c:v>25+</c:v>
                  </c:pt>
                </c:lvl>
              </c:multiLvlStrCache>
            </c:multiLvlStrRef>
          </c:cat>
          <c:val>
            <c:numRef>
              <c:f>Sheet1!$B$2:$B$7</c:f>
              <c:numCache>
                <c:formatCode>General</c:formatCode>
                <c:ptCount val="6"/>
                <c:pt idx="0">
                  <c:v>43.4</c:v>
                </c:pt>
                <c:pt idx="1">
                  <c:v>26.2</c:v>
                </c:pt>
                <c:pt idx="2">
                  <c:v>22.8</c:v>
                </c:pt>
                <c:pt idx="3">
                  <c:v>15.3</c:v>
                </c:pt>
                <c:pt idx="4">
                  <c:v>9.3</c:v>
                </c:pt>
                <c:pt idx="5">
                  <c:v>10.7</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loan amount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&lt;5k</c:v>
                  </c:pt>
                  <c:pt idx="1">
                    <c:v>5-10k</c:v>
                  </c:pt>
                  <c:pt idx="2">
                    <c:v>10-15k</c:v>
                  </c:pt>
                  <c:pt idx="3">
                    <c:v>15-20k</c:v>
                  </c:pt>
                  <c:pt idx="4">
                    <c:v>20-30k</c:v>
                  </c:pt>
                  <c:pt idx="5">
                    <c:v>30k+</c:v>
                  </c:pt>
                </c:lvl>
              </c:multiLvlStrCache>
            </c:multiLvlStrRef>
          </c:cat>
          <c:val>
            <c:numRef>
              <c:f>Sheet1!$B$2:$B$7</c:f>
              <c:numCache>
                <c:formatCode>General</c:formatCode>
                <c:ptCount val="6"/>
                <c:pt idx="0">
                  <c:v>57.2</c:v>
                </c:pt>
                <c:pt idx="1">
                  <c:v>25.1</c:v>
                </c:pt>
                <c:pt idx="2">
                  <c:v>20.5</c:v>
                </c:pt>
                <c:pt idx="3">
                  <c:v>16.2</c:v>
                </c:pt>
                <c:pt idx="4">
                  <c:v>14.4</c:v>
                </c:pt>
                <c:pt idx="5">
                  <c:v>19.5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occupation</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8C8C8C"/>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Sales</c:v>
                  </c:pt>
                  <c:pt idx="1">
                    <c:v>Self</c:v>
                  </c:pt>
                  <c:pt idx="2">
                    <c:v>Mgr</c:v>
                  </c:pt>
                  <c:pt idx="3">
                    <c:v>Other</c:v>
                  </c:pt>
                  <c:pt idx="4">
                    <c:v>ProfExe</c:v>
                  </c:pt>
                  <c:pt idx="5">
                    <c:v>Office</c:v>
                  </c:pt>
                </c:lvl>
              </c:multiLvlStrCache>
            </c:multiLvlStrRef>
          </c:cat>
          <c:val>
            <c:numRef>
              <c:f>Sheet1!$B$2:$B$7</c:f>
              <c:numCache>
                <c:formatCode>General</c:formatCode>
                <c:ptCount val="6"/>
                <c:pt idx="0">
                  <c:v>34.9</c:v>
                </c:pt>
                <c:pt idx="1">
                  <c:v>30.1</c:v>
                </c:pt>
                <c:pt idx="2">
                  <c:v>23.3</c:v>
                </c:pt>
                <c:pt idx="3">
                  <c:v>23.2</c:v>
                </c:pt>
                <c:pt idx="4">
                  <c:v>16.6</c:v>
                </c:pt>
                <c:pt idx="5">
                  <c:v>13.2</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Test set (1,788 unseen applicants), % </a:t>
            </a:r>
          </a:p>
        </c:rich>
      </c:tx>
      <c:layout/>
      <c:overlay val="0"/>
    </c:title>
    <c:autoTitleDeleted val="0"/>
    <c:plotArea>
      <c:layout/>
      <c:barChart>
        <c:barDir val="bar"/>
        <c:grouping val="clustered"/>
        <c:varyColors val="0"/>
        <c:ser>
          <c:idx val="0"/>
          <c:order val="0"/>
          <c:tx>
            <c:strRef>
              <c:f>Sheet1!$B$1</c:f>
              <c:strCache>
                <c:ptCount val="1"/>
                <c:pt idx="0">
                  <c:v>Defaulters caught (recall)</c:v>
                </c:pt>
              </c:strCache>
            </c:strRef>
          </c:tx>
          <c:spPr>
            <a:solidFill>
              <a:srgbClr val="1E2761"/>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Sheet1!$A$2:$A$6</c:f>
              <c:multiLvlStrCache>
                <c:ptCount val="5"/>
                <c:lvl>
                  <c:pt idx="0">
                    <c:v>Logistic Regression (balanced)</c:v>
                  </c:pt>
                  <c:pt idx="1">
                    <c:v>Decision Tree (tuned)</c:v>
                  </c:pt>
                  <c:pt idx="2">
                    <c:v>Random Forest (default)</c:v>
                  </c:pt>
                  <c:pt idx="3">
                    <c:v>Random Forest (class weights)</c:v>
                  </c:pt>
                  <c:pt idx="4">
                    <c:v>Random Forest, threshold 0.25</c:v>
                  </c:pt>
                </c:lvl>
              </c:multiLvlStrCache>
            </c:multiLvlStrRef>
          </c:cat>
          <c:val>
            <c:numRef>
              <c:f>Sheet1!$B$2:$B$6</c:f>
              <c:numCache>
                <c:formatCode>General</c:formatCode>
                <c:ptCount val="5"/>
                <c:pt idx="0">
                  <c:v>79.8</c:v>
                </c:pt>
                <c:pt idx="1">
                  <c:v>81.8</c:v>
                </c:pt>
                <c:pt idx="2">
                  <c:v>68.9</c:v>
                </c:pt>
                <c:pt idx="3">
                  <c:v>78.4</c:v>
                </c:pt>
                <c:pt idx="4">
                  <c:v>93.3</c:v>
                </c:pt>
              </c:numCache>
            </c:numRef>
          </c:val>
        </c:ser>
        <c:ser>
          <c:idx val="1"/>
          <c:order val="1"/>
          <c:tx>
            <c:strRef>
              <c:f>Sheet1!$C$1</c:f>
              <c:strCache>
                <c:ptCount val="1"/>
                <c:pt idx="0">
                  <c:v>Precision</c:v>
                </c:pt>
              </c:strCache>
            </c:strRef>
          </c:tx>
          <c:spPr>
            <a:solidFill>
              <a:srgbClr val="9DB4DE"/>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Sheet1!$A$2:$A$6</c:f>
              <c:multiLvlStrCache>
                <c:ptCount val="5"/>
                <c:lvl>
                  <c:pt idx="0">
                    <c:v>Logistic Regression (balanced)</c:v>
                  </c:pt>
                  <c:pt idx="1">
                    <c:v>Decision Tree (tuned)</c:v>
                  </c:pt>
                  <c:pt idx="2">
                    <c:v>Random Forest (default)</c:v>
                  </c:pt>
                  <c:pt idx="3">
                    <c:v>Random Forest (class weights)</c:v>
                  </c:pt>
                  <c:pt idx="4">
                    <c:v>Random Forest, threshold 0.25</c:v>
                  </c:pt>
                </c:lvl>
              </c:multiLvlStrCache>
            </c:multiLvlStrRef>
          </c:cat>
          <c:val>
            <c:numRef>
              <c:f>Sheet1!$C$2:$C$6</c:f>
              <c:numCache>
                <c:formatCode>General</c:formatCode>
                <c:ptCount val="5"/>
                <c:pt idx="0">
                  <c:v>61.2</c:v>
                </c:pt>
                <c:pt idx="1">
                  <c:v>53.3</c:v>
                </c:pt>
                <c:pt idx="2">
                  <c:v>84.5</c:v>
                </c:pt>
                <c:pt idx="3">
                  <c:v>77.3</c:v>
                </c:pt>
                <c:pt idx="4">
                  <c:v>67</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Class-weighted Random Forest on the test set</a:t>
            </a:r>
          </a:p>
        </c:rich>
      </c:tx>
      <c:layout/>
      <c:overlay val="0"/>
    </c:title>
    <c:autoTitleDeleted val="0"/>
    <c:plotArea>
      <c:layout/>
      <c:lineChart>
        <c:varyColors val="0"/>
        <c:ser>
          <c:idx val="0"/>
          <c:order val="0"/>
          <c:tx>
            <c:strRef>
              <c:f>Sheet1!$B$1</c:f>
              <c:strCache>
                <c:ptCount val="1"/>
                <c:pt idx="0">
                  <c:v>Defaulters caught (recall) %</c:v>
                </c:pt>
              </c:strCache>
            </c:strRef>
          </c:tx>
          <c:spPr>
            <a:solidFill>
              <a:srgbClr val="3C8D5A"/>
            </a:solidFill>
            <a:ln w="31750" cap="flat">
              <a:solidFill>
                <a:srgbClr val="3C8D5A"/>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3C8D5A"/>
              </a:solidFill>
              <a:ln w="9525" cap="flat">
                <a:solidFill>
                  <a:srgbClr val="3C8D5A"/>
                </a:solidFill>
                <a:prstDash val="solid"/>
                <a:round/>
              </a:ln>
              <a:effectLst/>
            </c:spPr>
          </c:marker>
          <c:cat>
            <c:multiLvlStrRef>
              <c:f>Sheet1!$A$2:$A$12</c:f>
              <c:multiLvlStrCache>
                <c:ptCount val="11"/>
                <c:lvl>
                  <c:pt idx="0">
                    <c:v>0.20</c:v>
                  </c:pt>
                  <c:pt idx="1">
                    <c:v>0.25</c:v>
                  </c:pt>
                  <c:pt idx="2">
                    <c:v>0.30</c:v>
                  </c:pt>
                  <c:pt idx="3">
                    <c:v>0.35</c:v>
                  </c:pt>
                  <c:pt idx="4">
                    <c:v>0.40</c:v>
                  </c:pt>
                  <c:pt idx="5">
                    <c:v>0.45</c:v>
                  </c:pt>
                  <c:pt idx="6">
                    <c:v>0.50</c:v>
                  </c:pt>
                  <c:pt idx="7">
                    <c:v>0.55</c:v>
                  </c:pt>
                  <c:pt idx="8">
                    <c:v>0.60</c:v>
                  </c:pt>
                  <c:pt idx="9">
                    <c:v>0.65</c:v>
                  </c:pt>
                  <c:pt idx="10">
                    <c:v>0.70</c:v>
                  </c:pt>
                </c:lvl>
              </c:multiLvlStrCache>
            </c:multiLvlStrRef>
          </c:cat>
          <c:val>
            <c:numRef>
              <c:f>Sheet1!$B$2:$B$12</c:f>
              <c:numCache>
                <c:formatCode>General</c:formatCode>
                <c:ptCount val="11"/>
                <c:pt idx="0">
                  <c:v>94.1</c:v>
                </c:pt>
                <c:pt idx="1">
                  <c:v>93.3</c:v>
                </c:pt>
                <c:pt idx="2">
                  <c:v>90.2</c:v>
                </c:pt>
                <c:pt idx="3">
                  <c:v>88.2</c:v>
                </c:pt>
                <c:pt idx="4">
                  <c:v>85.2</c:v>
                </c:pt>
                <c:pt idx="5">
                  <c:v>82.6</c:v>
                </c:pt>
                <c:pt idx="6">
                  <c:v>78.4</c:v>
                </c:pt>
                <c:pt idx="7">
                  <c:v>73.7</c:v>
                </c:pt>
                <c:pt idx="8">
                  <c:v>68.9</c:v>
                </c:pt>
                <c:pt idx="9">
                  <c:v>63.6</c:v>
                </c:pt>
                <c:pt idx="10">
                  <c:v>57.4</c:v>
                </c:pt>
              </c:numCache>
            </c:numRef>
          </c:val>
          <c:smooth val="0"/>
        </c:ser>
        <c:ser>
          <c:idx val="1"/>
          <c:order val="1"/>
          <c:tx>
            <c:strRef>
              <c:f>Sheet1!$C$1</c:f>
              <c:strCache>
                <c:ptCount val="1"/>
                <c:pt idx="0">
                  <c:v>Precision %</c:v>
                </c:pt>
              </c:strCache>
            </c:strRef>
          </c:tx>
          <c:spPr>
            <a:solidFill>
              <a:srgbClr val="1E2761"/>
            </a:solidFill>
            <a:ln w="31750" cap="flat">
              <a:solidFill>
                <a:srgbClr val="1E2761"/>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1E2761"/>
              </a:solidFill>
              <a:ln w="9525" cap="flat">
                <a:solidFill>
                  <a:srgbClr val="1E2761"/>
                </a:solidFill>
                <a:prstDash val="solid"/>
                <a:round/>
              </a:ln>
              <a:effectLst/>
            </c:spPr>
          </c:marker>
          <c:cat>
            <c:multiLvlStrRef>
              <c:f>Sheet1!$A$2:$A$12</c:f>
              <c:multiLvlStrCache>
                <c:ptCount val="11"/>
                <c:lvl>
                  <c:pt idx="0">
                    <c:v>0.20</c:v>
                  </c:pt>
                  <c:pt idx="1">
                    <c:v>0.25</c:v>
                  </c:pt>
                  <c:pt idx="2">
                    <c:v>0.30</c:v>
                  </c:pt>
                  <c:pt idx="3">
                    <c:v>0.35</c:v>
                  </c:pt>
                  <c:pt idx="4">
                    <c:v>0.40</c:v>
                  </c:pt>
                  <c:pt idx="5">
                    <c:v>0.45</c:v>
                  </c:pt>
                  <c:pt idx="6">
                    <c:v>0.50</c:v>
                  </c:pt>
                  <c:pt idx="7">
                    <c:v>0.55</c:v>
                  </c:pt>
                  <c:pt idx="8">
                    <c:v>0.60</c:v>
                  </c:pt>
                  <c:pt idx="9">
                    <c:v>0.65</c:v>
                  </c:pt>
                  <c:pt idx="10">
                    <c:v>0.70</c:v>
                  </c:pt>
                </c:lvl>
              </c:multiLvlStrCache>
            </c:multiLvlStrRef>
          </c:cat>
          <c:val>
            <c:numRef>
              <c:f>Sheet1!$C$2:$C$12</c:f>
              <c:numCache>
                <c:formatCode>General</c:formatCode>
                <c:ptCount val="11"/>
                <c:pt idx="0">
                  <c:v>63.8</c:v>
                </c:pt>
                <c:pt idx="1">
                  <c:v>67</c:v>
                </c:pt>
                <c:pt idx="2">
                  <c:v>68.8</c:v>
                </c:pt>
                <c:pt idx="3">
                  <c:v>70.8</c:v>
                </c:pt>
                <c:pt idx="4">
                  <c:v>72.7</c:v>
                </c:pt>
                <c:pt idx="5">
                  <c:v>75.1</c:v>
                </c:pt>
                <c:pt idx="6">
                  <c:v>77.3</c:v>
                </c:pt>
                <c:pt idx="7">
                  <c:v>80.7</c:v>
                </c:pt>
                <c:pt idx="8">
                  <c:v>82.6</c:v>
                </c:pt>
                <c:pt idx="9">
                  <c:v>82.5</c:v>
                </c:pt>
                <c:pt idx="10">
                  <c:v>84</c:v>
                </c:pt>
              </c:numCache>
            </c:numRef>
          </c:val>
          <c:smooth val="0"/>
        </c:ser>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C8C8C"/>
                    </a:solidFill>
                    <a:latin typeface="Arial"/>
                  </a:defRPr>
                </a:pPr>
                <a:r>
                  <a:rPr sz="1000" b="0" i="0" u="none" strike="noStrike">
                    <a:solidFill>
                      <a:srgbClr val="8C8C8C"/>
                    </a:solidFill>
                    <a:latin typeface="Arial"/>
                  </a:rPr>
                  <a:t>probability threshold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5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Feature importance (%), tuned Random Forest</a:t>
            </a:r>
          </a:p>
        </c:rich>
      </c:tx>
      <c:layout/>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1E2761"/>
            </a:solidFill>
            <a:effectLst/>
          </c:spPr>
          <c:invertIfNegative val="0"/>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Sheet1!$A$2:$A$13</c:f>
              <c:multiLvlStrCache>
                <c:ptCount val="12"/>
                <c:lvl>
                  <c:pt idx="0">
                    <c:v>Debt-to-income missing</c:v>
                  </c:pt>
                  <c:pt idx="1">
                    <c:v>Debt-to-income ratio</c:v>
                  </c:pt>
                  <c:pt idx="2">
                    <c:v>Delinquent credit lines</c:v>
                  </c:pt>
                  <c:pt idx="3">
                    <c:v>Age of oldest credit line</c:v>
                  </c:pt>
                  <c:pt idx="4">
                    <c:v>Derogatory reports</c:v>
                  </c:pt>
                  <c:pt idx="5">
                    <c:v>Loan amount</c:v>
                  </c:pt>
                  <c:pt idx="6">
                    <c:v>Property value</c:v>
                  </c:pt>
                  <c:pt idx="7">
                    <c:v>Mortgage due</c:v>
                  </c:pt>
                  <c:pt idx="8">
                    <c:v>Number of credit lines</c:v>
                  </c:pt>
                  <c:pt idx="9">
                    <c:v>Years at job</c:v>
                  </c:pt>
                  <c:pt idx="10">
                    <c:v>Recent inquiries</c:v>
                  </c:pt>
                  <c:pt idx="11">
                    <c:v>Property value missing</c:v>
                  </c:pt>
                </c:lvl>
              </c:multiLvlStrCache>
            </c:multiLvlStrRef>
          </c:cat>
          <c:val>
            <c:numRef>
              <c:f>Sheet1!$B$2:$B$13</c:f>
              <c:numCache>
                <c:formatCode>General</c:formatCode>
                <c:ptCount val="12"/>
                <c:pt idx="0">
                  <c:v>28.4</c:v>
                </c:pt>
                <c:pt idx="1">
                  <c:v>24.2</c:v>
                </c:pt>
                <c:pt idx="2">
                  <c:v>9.7</c:v>
                </c:pt>
                <c:pt idx="3">
                  <c:v>7.2</c:v>
                </c:pt>
                <c:pt idx="4">
                  <c:v>4.9</c:v>
                </c:pt>
                <c:pt idx="5">
                  <c:v>4.2</c:v>
                </c:pt>
                <c:pt idx="6">
                  <c:v>3.8</c:v>
                </c:pt>
                <c:pt idx="7">
                  <c:v>3.6</c:v>
                </c:pt>
                <c:pt idx="8">
                  <c:v>3.2</c:v>
                </c:pt>
                <c:pt idx="9">
                  <c:v>2.9</c:v>
                </c:pt>
                <c:pt idx="10">
                  <c:v>1.9</c:v>
                </c:pt>
                <c:pt idx="11">
                  <c:v>1.8</c:v>
                </c:pt>
              </c:numCache>
            </c:numRef>
          </c:val>
        </c:ser>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35"/>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In the next eight minutes I will show how a bank can cut its home-equity loan losses by more than three quarters with a model it can also explain to regulators and applicants.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remember. One in five loans goes bad. The biggest red flag is income the bank could not verify. The proposed model catches 93 percent of defaulters before the money leaves the bank. And under reasonable assumptions that is worth about nine million dollars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context: profit comes from interest, losses come from defaulters, and the current manual process is slow and inconsistent. The data is 5,960 recent home equity loans with 12 attributes and a 20 percent default rate. Almost half the applications have at least one blank field, which turns out to matter a great deal.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Explore the data, prepare it, build linear and non-linear models, measure them on the metric that follows the money, and turn the result into recommendations. The key preparation decision was to keep a flag for every missing field instead of just filling the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finding. When the debt-to-income ratio is missing, 62 percent of those applicants defaulted. When the property valuation is missing, 94 percent. The absence of information is itself a signal, so the models carry a flag for every missing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drivers that are easy to explain. The debt-to-income ratio is not a slope but a cliff: under 40 percent, 4 to 7 percent default; above 45 percent, 87 to 100 percent. And repayment history repeats: each delinquent credit line roughly doubles the default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supporting drivers. A long credit history protects. Small loans are the riskiest, not the safest. Occupation matters a little, but removing it from the final model changed performance by at most a point, which is good news for fair lending.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comparing models, the yardstick. Approving a future defaulter costs the bank most of the principal; declining a good customer costs only the margin. So the primary metric is recall, the share of defaulters we catch, with precision as the guard-rail against declining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model variants were built; these are the five that matter. The forest with class weights has the best balance and the best ranking ability. Because it ranks applicants so well, we can lower its decision threshold and catch 93 percent of defaulters while two thirds of the flagged applicants really would have defaulted.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A Random Forest does the scoring; a pruned decision tree built on the same data provides the plain-language reasons for every decline. On unseen applicants it catches 93 percent of defaulters and two out of three flagged applicants really would have defaulted.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outputs a probability, and 0.5 is only a convention. Moving the cut-off to 0.25 cuts missed defaulters from 43 to 13 per thousand applicants, at the price of declining 92 instead of 46 good customers. Under the cost assumptions that is the cheapest operating point, and it is robust: anything between 0.2 and 0.3 is within 12 percent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together with round-number assumptions, the bank's default-related cost falls from about 10.8 million to about 1.8 million a year on 6,000 applications. Even if the real benefit were a quarter of that, the project pays back inside a year. Finance should replace these assumptions with actual loss and margin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in three phases: prepare, shadow and pilot, then scale. And two policy rules the bank can adopt immediately, with or without the model: a debt-to-income limit of 45 percent and a hard look at anyone with two or more delinquencies or derogatory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risks are selection bias, because the data only covers approved loans, drift in the missing-value signal once verification becomes mandatory, and fair-lending exposure. Each has a concrete mitigation. Next steps include reject inference, engineered ratios, calibration and time-based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rtlCol="0"/>
          <a:lstStyle>
            <a:lvl1pPr algn="l" indent="0" marL="0">
              <a:buNone/>
              <a:defRPr lang="en-US" sz="1800" dirty="0">
                <a:solidFill>
                  <a:srgbClr val="EEF2FA"/>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rtlCol="0"/>
          <a:lstStyle>
            <a:lvl1pPr algn="l" indent="0" marL="0">
              <a:buNone/>
              <a:defRPr lang="en-US" sz="2400" b="1" dirty="0">
                <a:solidFill>
                  <a:srgbClr val="1E2761"/>
                </a:solidFill>
              </a:defRPr>
            </a:lvl1pPr>
          </a:lstStyle>
          <a:p>
            <a:pPr algn="l" indent="0" marL="0">
              <a:buNone/>
            </a:pPr>
            <a:endParaRPr lang="en-US" sz="2400" dirty="0"/>
          </a:p>
        </p:txBody>
      </p:sp>
      <p:sp>
        <p:nvSpPr>
          <p:cNvPr id="3"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900" dirty="0">
                <a:solidFill>
                  <a:srgbClr val="8C8C8C"/>
                </a:solidFill>
              </a:rPr>
              <a:t>Loan Default Prediction  |  Capstone</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chart" Target="/ppt/charts/chart6.xml"/><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Loan Default Prediction</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An interpretable credit-scoring model for home equity loan approvals</a:t>
            </a:r>
            <a:endParaRPr lang="en-US" sz="1800" dirty="0"/>
          </a:p>
          <a:p>
            <a:pPr algn="l" indent="0" marL="0">
              <a:buNone/>
            </a:pPr>
            <a:r>
              <a:rPr lang="en-US" sz="1200" dirty="0">
                <a:solidFill>
                  <a:schemeClr val="accent4"/>
                </a:solidFill>
              </a:rPr>
              <a:t>Capstone Project  |  Practical Data Science  |  MIT Professional Education - Applied AI and Data Science Program</a:t>
            </a:r>
            <a:endParaRPr lang="en-US" sz="1800" dirty="0"/>
          </a:p>
          <a:p>
            <a:pPr algn="l" indent="0" marL="0">
              <a:buNone/>
            </a:pPr>
            <a:r>
              <a:rPr lang="en-US" sz="1200" dirty="0">
                <a:solidFill>
                  <a:schemeClr val="accent4"/>
                </a:solidFill>
              </a:rPr>
              <a:t>Shubham Garg  |  November 2026</a:t>
            </a:r>
            <a:endParaRPr lang="en-US" sz="1800" dirty="0"/>
          </a:p>
        </p:txBody>
      </p:sp>
      <p:sp>
        <p:nvSpPr>
          <p:cNvPr id="4" name="titl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Key takeaways</a:t>
            </a:r>
            <a:endParaRPr lang="en-US" sz="2400" dirty="0"/>
          </a:p>
        </p:txBody>
      </p:sp>
      <p:sp>
        <p:nvSpPr>
          <p:cNvPr id="3" name="takeaway card 1"/>
          <p:cNvSpPr/>
          <p:nvPr/>
        </p:nvSpPr>
        <p:spPr>
          <a:xfrm>
            <a:off x="45720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4" name="takeaway number 1"/>
          <p:cNvSpPr txBox="1"/>
          <p:nvPr/>
        </p:nvSpPr>
        <p:spPr>
          <a:xfrm>
            <a:off x="59436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1 in 5</a:t>
            </a:r>
            <a:endParaRPr lang="en-US" sz="3400" dirty="0"/>
          </a:p>
        </p:txBody>
      </p:sp>
      <p:sp>
        <p:nvSpPr>
          <p:cNvPr id="5" name="takeaway text 1"/>
          <p:cNvSpPr txBox="1"/>
          <p:nvPr/>
        </p:nvSpPr>
        <p:spPr>
          <a:xfrm>
            <a:off x="59436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home equity loans in the data ended in default. Accuracy alone is a misleading yardstick.</a:t>
            </a:r>
            <a:endParaRPr lang="en-US" sz="1250" dirty="0"/>
          </a:p>
        </p:txBody>
      </p:sp>
      <p:sp>
        <p:nvSpPr>
          <p:cNvPr id="6" name="takeaway card 2"/>
          <p:cNvSpPr/>
          <p:nvPr/>
        </p:nvSpPr>
        <p:spPr>
          <a:xfrm>
            <a:off x="256032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7" name="takeaway number 2"/>
          <p:cNvSpPr txBox="1"/>
          <p:nvPr/>
        </p:nvSpPr>
        <p:spPr>
          <a:xfrm>
            <a:off x="269748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62%</a:t>
            </a:r>
            <a:endParaRPr lang="en-US" sz="3400" dirty="0"/>
          </a:p>
        </p:txBody>
      </p:sp>
      <p:sp>
        <p:nvSpPr>
          <p:cNvPr id="8" name="takeaway text 2"/>
          <p:cNvSpPr txBox="1"/>
          <p:nvPr/>
        </p:nvSpPr>
        <p:spPr>
          <a:xfrm>
            <a:off x="269748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default rate when the applicant's debt-to-income ratio is missing, versus 8.6% when it is recorded. Unverified income is the strongest warning sign.</a:t>
            </a:r>
            <a:endParaRPr lang="en-US" sz="1250" dirty="0"/>
          </a:p>
        </p:txBody>
      </p:sp>
      <p:sp>
        <p:nvSpPr>
          <p:cNvPr id="9" name="takeaway card 3"/>
          <p:cNvSpPr/>
          <p:nvPr/>
        </p:nvSpPr>
        <p:spPr>
          <a:xfrm>
            <a:off x="466344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0" name="takeaway number 3"/>
          <p:cNvSpPr txBox="1"/>
          <p:nvPr/>
        </p:nvSpPr>
        <p:spPr>
          <a:xfrm>
            <a:off x="480060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5"/>
                </a:solidFill>
              </a:rPr>
              <a:t>93%</a:t>
            </a:r>
            <a:endParaRPr lang="en-US" sz="3400" dirty="0"/>
          </a:p>
        </p:txBody>
      </p:sp>
      <p:sp>
        <p:nvSpPr>
          <p:cNvPr id="11" name="takeaway text 3"/>
          <p:cNvSpPr txBox="1"/>
          <p:nvPr/>
        </p:nvSpPr>
        <p:spPr>
          <a:xfrm>
            <a:off x="480060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of future defaulters are caught by the proposed Random Forest model, while 2 of every 3 applicants it flags really would have defaulted.</a:t>
            </a:r>
            <a:endParaRPr lang="en-US" sz="1250" dirty="0"/>
          </a:p>
        </p:txBody>
      </p:sp>
      <p:sp>
        <p:nvSpPr>
          <p:cNvPr id="12" name="takeaway card 4"/>
          <p:cNvSpPr/>
          <p:nvPr/>
        </p:nvSpPr>
        <p:spPr>
          <a:xfrm>
            <a:off x="676656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3" name="takeaway number 4"/>
          <p:cNvSpPr txBox="1"/>
          <p:nvPr/>
        </p:nvSpPr>
        <p:spPr>
          <a:xfrm>
            <a:off x="690372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~$9M</a:t>
            </a:r>
            <a:endParaRPr lang="en-US" sz="3400" dirty="0"/>
          </a:p>
        </p:txBody>
      </p:sp>
      <p:sp>
        <p:nvSpPr>
          <p:cNvPr id="14" name="takeaway text 4"/>
          <p:cNvSpPr txBox="1"/>
          <p:nvPr/>
        </p:nvSpPr>
        <p:spPr>
          <a:xfrm>
            <a:off x="690372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indicative annual benefit on 6,000 applications, from roughly $10.8M of default-related cost down to about $1.8M.</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The problem: approving home equity loans without losing the profit to defaults</a:t>
            </a:r>
            <a:endParaRPr lang="en-US" sz="2400" dirty="0"/>
          </a:p>
        </p:txBody>
      </p:sp>
      <p:sp>
        <p:nvSpPr>
          <p:cNvPr id="3" name="problem bullets"/>
          <p:cNvSpPr txBox="1"/>
          <p:nvPr/>
        </p:nvSpPr>
        <p:spPr>
          <a:xfrm>
            <a:off x="457200" y="1143000"/>
            <a:ext cx="4846320" cy="274320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chemeClr val="tx1"/>
                </a:solidFill>
              </a:rPr>
              <a:t>Interest on home loans is a major share of retail bank profit; bad loans eat it up.</a:t>
            </a:r>
            <a:endParaRPr lang="en-US" sz="1350" dirty="0"/>
          </a:p>
          <a:p>
            <a:pPr marL="177800" indent="-177800">
              <a:spcAft>
                <a:spcPts val="800"/>
              </a:spcAft>
              <a:buSzPct val="100000"/>
              <a:buChar char="•"/>
            </a:pPr>
            <a:r>
              <a:rPr lang="en-US" sz="1350" dirty="0">
                <a:solidFill>
                  <a:schemeClr val="tx1"/>
                </a:solidFill>
              </a:rPr>
              <a:t>Today each application is judged manually: slow, inconsistent across underwriters, open to error and bias.</a:t>
            </a:r>
            <a:endParaRPr lang="en-US" sz="1350" dirty="0"/>
          </a:p>
          <a:p>
            <a:pPr marL="177800" indent="-177800">
              <a:spcAft>
                <a:spcPts val="800"/>
              </a:spcAft>
              <a:buSzPct val="100000"/>
              <a:buChar char="•"/>
            </a:pPr>
            <a:r>
              <a:rPr lang="en-US" sz="1350" dirty="0">
                <a:solidFill>
                  <a:schemeClr val="tx1"/>
                </a:solidFill>
              </a:rPr>
              <a:t>The consumer credit department wants an empirically derived credit-scoring model built on its own recent loans.</a:t>
            </a:r>
            <a:endParaRPr lang="en-US" sz="1350" dirty="0"/>
          </a:p>
          <a:p>
            <a:pPr marL="177800" indent="-177800">
              <a:spcAft>
                <a:spcPts val="800"/>
              </a:spcAft>
              <a:buSzPct val="100000"/>
              <a:buChar char="•"/>
            </a:pPr>
            <a:r>
              <a:rPr lang="en-US" sz="1350" dirty="0">
                <a:solidFill>
                  <a:schemeClr val="tx1"/>
                </a:solidFill>
              </a:rPr>
              <a:t>Constraint: under the Equal Credit Opportunity Act every rejection needs a specific, defensible reason, so the model must be interpretable.</a:t>
            </a:r>
            <a:endParaRPr lang="en-US" sz="1350" dirty="0"/>
          </a:p>
        </p:txBody>
      </p:sp>
      <p:sp>
        <p:nvSpPr>
          <p:cNvPr id="4" name="data card"/>
          <p:cNvSpPr/>
          <p:nvPr/>
        </p:nvSpPr>
        <p:spPr>
          <a:xfrm>
            <a:off x="5577840" y="1143000"/>
            <a:ext cx="3108960" cy="3429000"/>
          </a:xfrm>
          <a:prstGeom prst="roundRect">
            <a:avLst>
              <a:gd name="adj" fmla="val 2353"/>
            </a:avLst>
          </a:prstGeom>
          <a:solidFill>
            <a:schemeClr val="bg2"/>
          </a:solidFill>
          <a:ln w="9525">
            <a:solidFill>
              <a:schemeClr val="bg2"/>
            </a:solidFill>
            <a:prstDash val="solid"/>
          </a:ln>
        </p:spPr>
      </p:sp>
      <p:sp>
        <p:nvSpPr>
          <p:cNvPr id="5" name="data card title"/>
          <p:cNvSpPr txBox="1"/>
          <p:nvPr/>
        </p:nvSpPr>
        <p:spPr>
          <a:xfrm>
            <a:off x="5760720" y="1234440"/>
            <a:ext cx="2743200" cy="365760"/>
          </a:xfrm>
          <a:prstGeom prst="rect">
            <a:avLst/>
          </a:prstGeom>
          <a:noFill/>
          <a:ln/>
        </p:spPr>
        <p:txBody>
          <a:bodyPr wrap="square" lIns="0" tIns="0" rIns="0" bIns="0" rtlCol="0" anchor="ctr"/>
          <a:lstStyle/>
          <a:p>
            <a:pPr indent="0" marL="0">
              <a:buNone/>
            </a:pPr>
            <a:r>
              <a:rPr lang="en-US" sz="1200" b="1" dirty="0">
                <a:solidFill>
                  <a:schemeClr val="accent1"/>
                </a:solidFill>
              </a:rPr>
              <a:t>The data: Home Equity dataset (HMEQ)</a:t>
            </a:r>
            <a:endParaRPr lang="en-US" sz="1200" dirty="0"/>
          </a:p>
        </p:txBody>
      </p:sp>
      <p:sp>
        <p:nvSpPr>
          <p:cNvPr id="6" name="stat 5,960"/>
          <p:cNvSpPr txBox="1"/>
          <p:nvPr/>
        </p:nvSpPr>
        <p:spPr>
          <a:xfrm>
            <a:off x="576072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5,960</a:t>
            </a:r>
            <a:endParaRPr lang="en-US" sz="2800" dirty="0"/>
          </a:p>
        </p:txBody>
      </p:sp>
      <p:sp>
        <p:nvSpPr>
          <p:cNvPr id="7" name="stat label recent loans"/>
          <p:cNvSpPr txBox="1"/>
          <p:nvPr/>
        </p:nvSpPr>
        <p:spPr>
          <a:xfrm>
            <a:off x="576072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recent loans</a:t>
            </a:r>
            <a:endParaRPr lang="en-US" sz="1100" dirty="0"/>
          </a:p>
        </p:txBody>
      </p:sp>
      <p:sp>
        <p:nvSpPr>
          <p:cNvPr id="8" name="stat 12"/>
          <p:cNvSpPr txBox="1"/>
          <p:nvPr/>
        </p:nvSpPr>
        <p:spPr>
          <a:xfrm>
            <a:off x="717804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12</a:t>
            </a:r>
            <a:endParaRPr lang="en-US" sz="2800" dirty="0"/>
          </a:p>
        </p:txBody>
      </p:sp>
      <p:sp>
        <p:nvSpPr>
          <p:cNvPr id="9" name="stat label attributes known at application"/>
          <p:cNvSpPr txBox="1"/>
          <p:nvPr/>
        </p:nvSpPr>
        <p:spPr>
          <a:xfrm>
            <a:off x="717804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attributes known at application</a:t>
            </a:r>
            <a:endParaRPr lang="en-US" sz="1100" dirty="0"/>
          </a:p>
        </p:txBody>
      </p:sp>
      <p:sp>
        <p:nvSpPr>
          <p:cNvPr id="10" name="stat 19.9%"/>
          <p:cNvSpPr txBox="1"/>
          <p:nvPr/>
        </p:nvSpPr>
        <p:spPr>
          <a:xfrm>
            <a:off x="576072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2"/>
                </a:solidFill>
              </a:rPr>
              <a:t>19.9%</a:t>
            </a:r>
            <a:endParaRPr lang="en-US" sz="2800" dirty="0"/>
          </a:p>
        </p:txBody>
      </p:sp>
      <p:sp>
        <p:nvSpPr>
          <p:cNvPr id="11" name="stat label defaulted or seriously delinquent"/>
          <p:cNvSpPr txBox="1"/>
          <p:nvPr/>
        </p:nvSpPr>
        <p:spPr>
          <a:xfrm>
            <a:off x="576072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defaulted or seriously delinquent</a:t>
            </a:r>
            <a:endParaRPr lang="en-US" sz="1100" dirty="0"/>
          </a:p>
        </p:txBody>
      </p:sp>
      <p:sp>
        <p:nvSpPr>
          <p:cNvPr id="12" name="stat 44%"/>
          <p:cNvSpPr txBox="1"/>
          <p:nvPr/>
        </p:nvSpPr>
        <p:spPr>
          <a:xfrm>
            <a:off x="717804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3"/>
                </a:solidFill>
              </a:rPr>
              <a:t>44%</a:t>
            </a:r>
            <a:endParaRPr lang="en-US" sz="2800" dirty="0"/>
          </a:p>
        </p:txBody>
      </p:sp>
      <p:sp>
        <p:nvSpPr>
          <p:cNvPr id="13" name="stat label of applications have a blank field"/>
          <p:cNvSpPr txBox="1"/>
          <p:nvPr/>
        </p:nvSpPr>
        <p:spPr>
          <a:xfrm>
            <a:off x="717804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of applications have a blank field</a:t>
            </a:r>
            <a:endParaRPr lang="en-US" sz="1100" dirty="0"/>
          </a:p>
        </p:txBody>
      </p:sp>
      <p:sp>
        <p:nvSpPr>
          <p:cNvPr id="14" name="objective"/>
          <p:cNvSpPr txBox="1"/>
          <p:nvPr/>
        </p:nvSpPr>
        <p:spPr>
          <a:xfrm>
            <a:off x="457200" y="3977640"/>
            <a:ext cx="4846320" cy="640080"/>
          </a:xfrm>
          <a:prstGeom prst="rect">
            <a:avLst/>
          </a:prstGeom>
          <a:noFill/>
          <a:ln/>
        </p:spPr>
        <p:txBody>
          <a:bodyPr wrap="square" lIns="0" tIns="0" rIns="0" bIns="0" rtlCol="0" anchor="t"/>
          <a:lstStyle/>
          <a:p>
            <a:pPr indent="0" marL="0">
              <a:buNone/>
            </a:pPr>
            <a:r>
              <a:rPr lang="en-US" sz="1250" i="1" dirty="0">
                <a:solidFill>
                  <a:schemeClr val="accent1"/>
                </a:solidFill>
              </a:rPr>
              <a:t>Objective: predict which applicants are likely to default and tell the bank which attributes to weigh when approving a loan.</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Approach: from raw applications to a decision the bank can defend</a:t>
            </a:r>
            <a:endParaRPr lang="en-US" sz="2400" dirty="0"/>
          </a:p>
        </p:txBody>
      </p:sp>
      <p:sp>
        <p:nvSpPr>
          <p:cNvPr id="3" name="step card 1"/>
          <p:cNvSpPr/>
          <p:nvPr/>
        </p:nvSpPr>
        <p:spPr>
          <a:xfrm>
            <a:off x="457200" y="1234440"/>
            <a:ext cx="1554480" cy="3200400"/>
          </a:xfrm>
          <a:prstGeom prst="roundRect">
            <a:avLst>
              <a:gd name="adj" fmla="val 4706"/>
            </a:avLst>
          </a:prstGeom>
          <a:solidFill>
            <a:schemeClr val="bg2"/>
          </a:solidFill>
          <a:ln w="9525">
            <a:solidFill>
              <a:schemeClr val="bg2"/>
            </a:solidFill>
            <a:prstDash val="solid"/>
          </a:ln>
        </p:spPr>
      </p:sp>
      <p:sp>
        <p:nvSpPr>
          <p:cNvPr id="4" name="step 1"/>
          <p:cNvSpPr/>
          <p:nvPr/>
        </p:nvSpPr>
        <p:spPr>
          <a:xfrm>
            <a:off x="594360" y="1371600"/>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step title 1"/>
          <p:cNvSpPr txBox="1"/>
          <p:nvPr/>
        </p:nvSpPr>
        <p:spPr>
          <a:xfrm>
            <a:off x="594360"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Explore</a:t>
            </a:r>
            <a:endParaRPr lang="en-US" sz="1500" dirty="0"/>
          </a:p>
        </p:txBody>
      </p:sp>
      <p:sp>
        <p:nvSpPr>
          <p:cNvPr id="7" name="step text 1"/>
          <p:cNvSpPr txBox="1"/>
          <p:nvPr/>
        </p:nvSpPr>
        <p:spPr>
          <a:xfrm>
            <a:off x="594360"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Univariate, bivariate and correlation analysis; default rate by band; pattern of missing values</a:t>
            </a:r>
            <a:endParaRPr lang="en-US" sz="1100" dirty="0"/>
          </a:p>
        </p:txBody>
      </p:sp>
      <p:sp>
        <p:nvSpPr>
          <p:cNvPr id="8" name="step card 2"/>
          <p:cNvSpPr/>
          <p:nvPr/>
        </p:nvSpPr>
        <p:spPr>
          <a:xfrm>
            <a:off x="2139696" y="1234440"/>
            <a:ext cx="1554480" cy="3200400"/>
          </a:xfrm>
          <a:prstGeom prst="roundRect">
            <a:avLst>
              <a:gd name="adj" fmla="val 4706"/>
            </a:avLst>
          </a:prstGeom>
          <a:solidFill>
            <a:schemeClr val="bg2"/>
          </a:solidFill>
          <a:ln w="9525">
            <a:solidFill>
              <a:schemeClr val="bg2"/>
            </a:solidFill>
            <a:prstDash val="solid"/>
          </a:ln>
        </p:spPr>
      </p:sp>
      <p:sp>
        <p:nvSpPr>
          <p:cNvPr id="9" name="step 2"/>
          <p:cNvSpPr/>
          <p:nvPr/>
        </p:nvSpPr>
        <p:spPr>
          <a:xfrm>
            <a:off x="2276856" y="1371600"/>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2276856"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step title 2"/>
          <p:cNvSpPr txBox="1"/>
          <p:nvPr/>
        </p:nvSpPr>
        <p:spPr>
          <a:xfrm>
            <a:off x="2276856"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Prepare</a:t>
            </a:r>
            <a:endParaRPr lang="en-US" sz="1500" dirty="0"/>
          </a:p>
        </p:txBody>
      </p:sp>
      <p:sp>
        <p:nvSpPr>
          <p:cNvPr id="12" name="step text 2"/>
          <p:cNvSpPr txBox="1"/>
          <p:nvPr/>
        </p:nvSpPr>
        <p:spPr>
          <a:xfrm>
            <a:off x="2276856"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Flag every missing field, impute median/mode, cap outliers for the linear model only, one-hot encode, 70/30 stratified split</a:t>
            </a:r>
            <a:endParaRPr lang="en-US" sz="1100" dirty="0"/>
          </a:p>
        </p:txBody>
      </p:sp>
      <p:sp>
        <p:nvSpPr>
          <p:cNvPr id="13" name="step card 3"/>
          <p:cNvSpPr/>
          <p:nvPr/>
        </p:nvSpPr>
        <p:spPr>
          <a:xfrm>
            <a:off x="3822192" y="1234440"/>
            <a:ext cx="1554480" cy="3200400"/>
          </a:xfrm>
          <a:prstGeom prst="roundRect">
            <a:avLst>
              <a:gd name="adj" fmla="val 4706"/>
            </a:avLst>
          </a:prstGeom>
          <a:solidFill>
            <a:schemeClr val="bg2"/>
          </a:solidFill>
          <a:ln w="9525">
            <a:solidFill>
              <a:schemeClr val="bg2"/>
            </a:solidFill>
            <a:prstDash val="solid"/>
          </a:ln>
        </p:spPr>
      </p:sp>
      <p:sp>
        <p:nvSpPr>
          <p:cNvPr id="14" name="step 3"/>
          <p:cNvSpPr/>
          <p:nvPr/>
        </p:nvSpPr>
        <p:spPr>
          <a:xfrm>
            <a:off x="3959352" y="1371600"/>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3959352"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step title 3"/>
          <p:cNvSpPr txBox="1"/>
          <p:nvPr/>
        </p:nvSpPr>
        <p:spPr>
          <a:xfrm>
            <a:off x="3959352"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Model</a:t>
            </a:r>
            <a:endParaRPr lang="en-US" sz="1500" dirty="0"/>
          </a:p>
        </p:txBody>
      </p:sp>
      <p:sp>
        <p:nvSpPr>
          <p:cNvPr id="17" name="step text 3"/>
          <p:cNvSpPr txBox="1"/>
          <p:nvPr/>
        </p:nvSpPr>
        <p:spPr>
          <a:xfrm>
            <a:off x="3959352"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Logistic Regression (linear benchmark), Decision Tree, Random Forest; class weights; cross-validated grid search</a:t>
            </a:r>
            <a:endParaRPr lang="en-US" sz="1100" dirty="0"/>
          </a:p>
        </p:txBody>
      </p:sp>
      <p:sp>
        <p:nvSpPr>
          <p:cNvPr id="18" name="step card 4"/>
          <p:cNvSpPr/>
          <p:nvPr/>
        </p:nvSpPr>
        <p:spPr>
          <a:xfrm>
            <a:off x="5504688" y="1234440"/>
            <a:ext cx="1554480" cy="3200400"/>
          </a:xfrm>
          <a:prstGeom prst="roundRect">
            <a:avLst>
              <a:gd name="adj" fmla="val 4706"/>
            </a:avLst>
          </a:prstGeom>
          <a:solidFill>
            <a:schemeClr val="accent4"/>
          </a:solidFill>
          <a:ln w="9525">
            <a:solidFill>
              <a:schemeClr val="accent4"/>
            </a:solidFill>
            <a:prstDash val="solid"/>
          </a:ln>
        </p:spPr>
      </p:sp>
      <p:sp>
        <p:nvSpPr>
          <p:cNvPr id="19" name="step 4"/>
          <p:cNvSpPr/>
          <p:nvPr/>
        </p:nvSpPr>
        <p:spPr>
          <a:xfrm>
            <a:off x="5641848" y="1371600"/>
            <a:ext cx="384048" cy="384048"/>
          </a:xfrm>
          <a:prstGeom prst="ellipse">
            <a:avLst/>
          </a:prstGeom>
          <a:solidFill>
            <a:schemeClr val="accent1"/>
          </a:solidFill>
          <a:ln w="12700">
            <a:solidFill>
              <a:schemeClr val="accent1"/>
            </a:solidFill>
            <a:prstDash val="solid"/>
          </a:ln>
        </p:spPr>
      </p:sp>
      <p:sp>
        <p:nvSpPr>
          <p:cNvPr id="20" name="step number 4"/>
          <p:cNvSpPr txBox="1"/>
          <p:nvPr/>
        </p:nvSpPr>
        <p:spPr>
          <a:xfrm>
            <a:off x="5641848"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step title 4"/>
          <p:cNvSpPr txBox="1"/>
          <p:nvPr/>
        </p:nvSpPr>
        <p:spPr>
          <a:xfrm>
            <a:off x="5641848"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Measure</a:t>
            </a:r>
            <a:endParaRPr lang="en-US" sz="1500" dirty="0"/>
          </a:p>
        </p:txBody>
      </p:sp>
      <p:sp>
        <p:nvSpPr>
          <p:cNvPr id="22" name="step text 4"/>
          <p:cNvSpPr txBox="1"/>
          <p:nvPr/>
        </p:nvSpPr>
        <p:spPr>
          <a:xfrm>
            <a:off x="5641848"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Recall on defaulters as the primary metric; precision, F1, ROC-AUC as guard-rails; cost-based threshold</a:t>
            </a:r>
            <a:endParaRPr lang="en-US" sz="1100" dirty="0"/>
          </a:p>
        </p:txBody>
      </p:sp>
      <p:sp>
        <p:nvSpPr>
          <p:cNvPr id="23" name="step card 5"/>
          <p:cNvSpPr/>
          <p:nvPr/>
        </p:nvSpPr>
        <p:spPr>
          <a:xfrm>
            <a:off x="7187184" y="1234440"/>
            <a:ext cx="1554480" cy="3200400"/>
          </a:xfrm>
          <a:prstGeom prst="roundRect">
            <a:avLst>
              <a:gd name="adj" fmla="val 4706"/>
            </a:avLst>
          </a:prstGeom>
          <a:solidFill>
            <a:schemeClr val="bg2"/>
          </a:solidFill>
          <a:ln w="9525">
            <a:solidFill>
              <a:schemeClr val="bg2"/>
            </a:solidFill>
            <a:prstDash val="solid"/>
          </a:ln>
        </p:spPr>
      </p:sp>
      <p:sp>
        <p:nvSpPr>
          <p:cNvPr id="24" name="step 5"/>
          <p:cNvSpPr/>
          <p:nvPr/>
        </p:nvSpPr>
        <p:spPr>
          <a:xfrm>
            <a:off x="7324344" y="1371600"/>
            <a:ext cx="384048" cy="384048"/>
          </a:xfrm>
          <a:prstGeom prst="ellipse">
            <a:avLst/>
          </a:prstGeom>
          <a:solidFill>
            <a:schemeClr val="accent1"/>
          </a:solidFill>
          <a:ln w="12700">
            <a:solidFill>
              <a:schemeClr val="accent1"/>
            </a:solidFill>
            <a:prstDash val="solid"/>
          </a:ln>
        </p:spPr>
      </p:sp>
      <p:sp>
        <p:nvSpPr>
          <p:cNvPr id="25" name="step number 5"/>
          <p:cNvSpPr txBox="1"/>
          <p:nvPr/>
        </p:nvSpPr>
        <p:spPr>
          <a:xfrm>
            <a:off x="7324344"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step title 5"/>
          <p:cNvSpPr txBox="1"/>
          <p:nvPr/>
        </p:nvSpPr>
        <p:spPr>
          <a:xfrm>
            <a:off x="7324344"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Recommend</a:t>
            </a:r>
            <a:endParaRPr lang="en-US" sz="1500" dirty="0"/>
          </a:p>
        </p:txBody>
      </p:sp>
      <p:sp>
        <p:nvSpPr>
          <p:cNvPr id="27" name="step text 5"/>
          <p:cNvSpPr txBox="1"/>
          <p:nvPr/>
        </p:nvSpPr>
        <p:spPr>
          <a:xfrm>
            <a:off x="7324344"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Model specification, business rules, implementation plan, benefits, risks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1: information the applicant did not provide is the strongest warning sign</a:t>
            </a:r>
            <a:endParaRPr lang="en-US" sz="2400" dirty="0"/>
          </a:p>
        </p:txBody>
      </p:sp>
      <p:graphicFrame>
        <p:nvGraphicFramePr>
          <p:cNvPr id="3" name="missing fields chart" descr=""/>
          <p:cNvGraphicFramePr/>
          <p:nvPr/>
        </p:nvGraphicFramePr>
        <p:xfrm>
          <a:off x="365760" y="109728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insight 1 bullets"/>
          <p:cNvSpPr txBox="1"/>
          <p:nvPr/>
        </p:nvSpPr>
        <p:spPr>
          <a:xfrm>
            <a:off x="5669280" y="1143000"/>
            <a:ext cx="3108960" cy="356616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No recorded debt-to-income ratio: 62% default (1,267 applicants, 21% of the data).</a:t>
            </a:r>
            <a:endParaRPr lang="en-US" sz="1250" dirty="0"/>
          </a:p>
          <a:p>
            <a:pPr marL="177800" indent="-177800">
              <a:spcAft>
                <a:spcPts val="800"/>
              </a:spcAft>
              <a:buSzPct val="100000"/>
              <a:buChar char="•"/>
            </a:pPr>
            <a:r>
              <a:rPr lang="en-US" sz="1250" dirty="0">
                <a:solidFill>
                  <a:schemeClr val="tx1"/>
                </a:solidFill>
              </a:rPr>
              <a:t>No property valuation: 94% default (112 applicants).</a:t>
            </a:r>
            <a:endParaRPr lang="en-US" sz="1250" dirty="0"/>
          </a:p>
          <a:p>
            <a:pPr marL="177800" indent="-177800">
              <a:spcAft>
                <a:spcPts val="800"/>
              </a:spcAft>
              <a:buSzPct val="100000"/>
              <a:buChar char="•"/>
            </a:pPr>
            <a:r>
              <a:rPr lang="en-US" sz="1250" dirty="0">
                <a:solidFill>
                  <a:schemeClr val="tx1"/>
                </a:solidFill>
              </a:rPr>
              <a:t>Overall default rate is 20%, so these gaps multiply risk three to five times.</a:t>
            </a:r>
            <a:endParaRPr lang="en-US" sz="1250" dirty="0"/>
          </a:p>
          <a:p>
            <a:pPr marL="177800" indent="-177800">
              <a:spcAft>
                <a:spcPts val="800"/>
              </a:spcAft>
              <a:buSzPct val="100000"/>
              <a:buChar char="•"/>
            </a:pPr>
            <a:r>
              <a:rPr lang="en-US" sz="1250" dirty="0">
                <a:solidFill>
                  <a:schemeClr val="tx1"/>
                </a:solidFill>
              </a:rPr>
              <a:t>Interpretation: income or collateral that could not be verified, or that the applicant chose not to supply.</a:t>
            </a:r>
            <a:endParaRPr lang="en-US" sz="1250" dirty="0"/>
          </a:p>
          <a:p>
            <a:pPr marL="177800" indent="-177800">
              <a:spcAft>
                <a:spcPts val="800"/>
              </a:spcAft>
              <a:buSzPct val="100000"/>
              <a:buChar char="•"/>
            </a:pPr>
            <a:r>
              <a:rPr lang="en-US" sz="1250" dirty="0">
                <a:solidFill>
                  <a:schemeClr val="tx1"/>
                </a:solidFill>
              </a:rPr>
              <a:t>Action: every imputed field gets a 'was missing' flag in the model, and verification should become mandatory in the process.</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2: debt burden has a cliff at 45%, and past delinquency repeats</a:t>
            </a:r>
            <a:endParaRPr lang="en-US" sz="2400" dirty="0"/>
          </a:p>
        </p:txBody>
      </p:sp>
      <p:graphicFrame>
        <p:nvGraphicFramePr>
          <p:cNvPr id="3" name="debt to income chart" descr=""/>
          <p:cNvGraphicFramePr/>
          <p:nvPr/>
        </p:nvGraphicFramePr>
        <p:xfrm>
          <a:off x="365760" y="1097280"/>
          <a:ext cx="416052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linquency chart" descr=""/>
          <p:cNvGraphicFramePr/>
          <p:nvPr/>
        </p:nvGraphicFramePr>
        <p:xfrm>
          <a:off x="4617720" y="1097280"/>
          <a:ext cx="4160520" cy="3017520"/>
        </p:xfrm>
        <a:graphic xmlns:a="http://schemas.openxmlformats.org/drawingml/2006/main">
          <a:graphicData uri="http://schemas.openxmlformats.org/drawingml/2006/chart">
            <c:chart xmlns:c="http://schemas.openxmlformats.org/drawingml/2006/chart" r:id="rId2"/>
          </a:graphicData>
        </a:graphic>
      </p:graphicFrame>
      <p:sp>
        <p:nvSpPr>
          <p:cNvPr id="5" name="insight 2 summary"/>
          <p:cNvSpPr txBox="1"/>
          <p:nvPr/>
        </p:nvSpPr>
        <p:spPr>
          <a:xfrm>
            <a:off x="457200" y="4160520"/>
            <a:ext cx="8229600" cy="548640"/>
          </a:xfrm>
          <a:prstGeom prst="rect">
            <a:avLst/>
          </a:prstGeom>
          <a:noFill/>
          <a:ln/>
        </p:spPr>
        <p:txBody>
          <a:bodyPr wrap="square" lIns="0" tIns="0" rIns="0" bIns="0" rtlCol="0" anchor="t"/>
          <a:lstStyle/>
          <a:p>
            <a:pPr indent="0" marL="0">
              <a:buNone/>
            </a:pPr>
            <a:r>
              <a:rPr lang="en-US" sz="1200" dirty="0">
                <a:solidFill>
                  <a:schemeClr val="tx1"/>
                </a:solidFill>
              </a:rPr>
              <a:t>Below a 40% ratio only 4-7% default; above 45% almost everyone does. Each delinquent line or derogatory report roughly doubles the risk (0 reports: 17%, 1: 39%, 2: 51%, 3+: 70%+). Both are plain-language rules an applicant can be given.</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3: long credit histories protect, small loans do not, occupation matters less</a:t>
            </a:r>
            <a:endParaRPr lang="en-US" sz="2400" dirty="0"/>
          </a:p>
        </p:txBody>
      </p:sp>
      <p:graphicFrame>
        <p:nvGraphicFramePr>
          <p:cNvPr id="3" name="credit age chart" descr=""/>
          <p:cNvGraphicFramePr/>
          <p:nvPr/>
        </p:nvGraphicFramePr>
        <p:xfrm>
          <a:off x="365760" y="1097280"/>
          <a:ext cx="283464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loan amount chart" descr=""/>
          <p:cNvGraphicFramePr/>
          <p:nvPr/>
        </p:nvGraphicFramePr>
        <p:xfrm>
          <a:off x="3200400" y="1097280"/>
          <a:ext cx="2834640" cy="28346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occupation chart" descr=""/>
          <p:cNvGraphicFramePr/>
          <p:nvPr/>
        </p:nvGraphicFramePr>
        <p:xfrm>
          <a:off x="6035040" y="1097280"/>
          <a:ext cx="2743200" cy="2834640"/>
        </p:xfrm>
        <a:graphic xmlns:a="http://schemas.openxmlformats.org/drawingml/2006/main">
          <a:graphicData uri="http://schemas.openxmlformats.org/drawingml/2006/chart">
            <c:chart xmlns:c="http://schemas.openxmlformats.org/drawingml/2006/chart" r:id="rId3"/>
          </a:graphicData>
        </a:graphic>
      </p:graphicFrame>
      <p:sp>
        <p:nvSpPr>
          <p:cNvPr id="6" name="insight 3 summary"/>
          <p:cNvSpPr txBox="1"/>
          <p:nvPr/>
        </p:nvSpPr>
        <p:spPr>
          <a:xfrm>
            <a:off x="457200" y="3977640"/>
            <a:ext cx="8229600" cy="731520"/>
          </a:xfrm>
          <a:prstGeom prst="rect">
            <a:avLst/>
          </a:prstGeom>
          <a:noFill/>
          <a:ln/>
        </p:spPr>
        <p:txBody>
          <a:bodyPr wrap="square" lIns="0" tIns="0" rIns="0" bIns="0" rtlCol="0" anchor="t"/>
          <a:lstStyle/>
          <a:p>
            <a:pPr indent="0" marL="0">
              <a:buNone/>
            </a:pPr>
            <a:r>
              <a:rPr lang="en-US" sz="1200" dirty="0">
                <a:solidFill>
                  <a:schemeClr val="tx1"/>
                </a:solidFill>
              </a:rPr>
              <a:t>Default rate (%) by group. Applicants with under five years of credit history default four times as often as those with twenty-plus years. Loans under $5,000 default 57% of the time. Occupation shifts risk moderately but adds almost nothing once financial behaviour is known, so the final model does not need it.</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Measure of success: the two mistakes do not cost the same</a:t>
            </a:r>
            <a:endParaRPr lang="en-US" sz="2400" dirty="0"/>
          </a:p>
        </p:txBody>
      </p:sp>
      <p:sp>
        <p:nvSpPr>
          <p:cNvPr id="3" name="error card 1"/>
          <p:cNvSpPr/>
          <p:nvPr/>
        </p:nvSpPr>
        <p:spPr>
          <a:xfrm>
            <a:off x="457200" y="1188720"/>
            <a:ext cx="4023360" cy="2011680"/>
          </a:xfrm>
          <a:prstGeom prst="roundRect">
            <a:avLst>
              <a:gd name="adj" fmla="val 3636"/>
            </a:avLst>
          </a:prstGeom>
          <a:solidFill>
            <a:schemeClr val="bg2"/>
          </a:solidFill>
          <a:ln w="9525">
            <a:solidFill>
              <a:schemeClr val="bg2"/>
            </a:solidFill>
            <a:prstDash val="solid"/>
          </a:ln>
        </p:spPr>
      </p:sp>
      <p:sp>
        <p:nvSpPr>
          <p:cNvPr id="4" name="error marker 1"/>
          <p:cNvSpPr/>
          <p:nvPr/>
        </p:nvSpPr>
        <p:spPr>
          <a:xfrm>
            <a:off x="640080" y="1371600"/>
            <a:ext cx="457200" cy="457200"/>
          </a:xfrm>
          <a:prstGeom prst="ellipse">
            <a:avLst/>
          </a:prstGeom>
          <a:solidFill>
            <a:schemeClr val="accent2"/>
          </a:solidFill>
          <a:ln w="12700">
            <a:solidFill>
              <a:schemeClr val="accent2"/>
            </a:solidFill>
            <a:prstDash val="solid"/>
          </a:ln>
        </p:spPr>
      </p:sp>
      <p:sp>
        <p:nvSpPr>
          <p:cNvPr id="5" name="error title 1"/>
          <p:cNvSpPr txBox="1"/>
          <p:nvPr/>
        </p:nvSpPr>
        <p:spPr>
          <a:xfrm>
            <a:off x="1234440" y="1325880"/>
            <a:ext cx="3108960" cy="548640"/>
          </a:xfrm>
          <a:prstGeom prst="rect">
            <a:avLst/>
          </a:prstGeom>
          <a:noFill/>
          <a:ln/>
        </p:spPr>
        <p:txBody>
          <a:bodyPr wrap="square" lIns="0" tIns="0" rIns="0" bIns="0" rtlCol="0" anchor="ctr"/>
          <a:lstStyle/>
          <a:p>
            <a:pPr indent="0" marL="0">
              <a:buNone/>
            </a:pPr>
            <a:r>
              <a:rPr lang="en-US" sz="1700" b="1" dirty="0">
                <a:solidFill>
                  <a:schemeClr val="accent2"/>
                </a:solidFill>
              </a:rPr>
              <a:t>Missed defaulter</a:t>
            </a:r>
            <a:endParaRPr lang="en-US" sz="1700" dirty="0"/>
          </a:p>
        </p:txBody>
      </p:sp>
      <p:sp>
        <p:nvSpPr>
          <p:cNvPr id="6" name="error desc 1"/>
          <p:cNvSpPr txBox="1"/>
          <p:nvPr/>
        </p:nvSpPr>
        <p:spPr>
          <a:xfrm>
            <a:off x="64008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repay', the customer defaults.</a:t>
            </a:r>
            <a:endParaRPr lang="en-US" sz="1200" dirty="0"/>
          </a:p>
        </p:txBody>
      </p:sp>
      <p:sp>
        <p:nvSpPr>
          <p:cNvPr id="7" name="error cost 1"/>
          <p:cNvSpPr txBox="1"/>
          <p:nvPr/>
        </p:nvSpPr>
        <p:spPr>
          <a:xfrm>
            <a:off x="64008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Bank loses most of the principal plus collection cost: about $9,000 on a typical $18,600 loan.</a:t>
            </a:r>
            <a:endParaRPr lang="en-US" sz="1200" dirty="0"/>
          </a:p>
        </p:txBody>
      </p:sp>
      <p:sp>
        <p:nvSpPr>
          <p:cNvPr id="8" name="error card 2"/>
          <p:cNvSpPr/>
          <p:nvPr/>
        </p:nvSpPr>
        <p:spPr>
          <a:xfrm>
            <a:off x="4663440" y="1188720"/>
            <a:ext cx="4023360" cy="2011680"/>
          </a:xfrm>
          <a:prstGeom prst="roundRect">
            <a:avLst>
              <a:gd name="adj" fmla="val 3636"/>
            </a:avLst>
          </a:prstGeom>
          <a:solidFill>
            <a:schemeClr val="bg2"/>
          </a:solidFill>
          <a:ln w="9525">
            <a:solidFill>
              <a:schemeClr val="bg2"/>
            </a:solidFill>
            <a:prstDash val="solid"/>
          </a:ln>
        </p:spPr>
      </p:sp>
      <p:sp>
        <p:nvSpPr>
          <p:cNvPr id="9" name="error marker 2"/>
          <p:cNvSpPr/>
          <p:nvPr/>
        </p:nvSpPr>
        <p:spPr>
          <a:xfrm>
            <a:off x="4846320" y="1371600"/>
            <a:ext cx="457200" cy="457200"/>
          </a:xfrm>
          <a:prstGeom prst="ellipse">
            <a:avLst/>
          </a:prstGeom>
          <a:solidFill>
            <a:schemeClr val="accent3"/>
          </a:solidFill>
          <a:ln w="12700">
            <a:solidFill>
              <a:schemeClr val="accent3"/>
            </a:solidFill>
            <a:prstDash val="solid"/>
          </a:ln>
        </p:spPr>
      </p:sp>
      <p:sp>
        <p:nvSpPr>
          <p:cNvPr id="10" name="error title 2"/>
          <p:cNvSpPr txBox="1"/>
          <p:nvPr/>
        </p:nvSpPr>
        <p:spPr>
          <a:xfrm>
            <a:off x="5440680" y="1325880"/>
            <a:ext cx="3108960" cy="548640"/>
          </a:xfrm>
          <a:prstGeom prst="rect">
            <a:avLst/>
          </a:prstGeom>
          <a:noFill/>
          <a:ln/>
        </p:spPr>
        <p:txBody>
          <a:bodyPr wrap="square" lIns="0" tIns="0" rIns="0" bIns="0" rtlCol="0" anchor="ctr"/>
          <a:lstStyle/>
          <a:p>
            <a:pPr indent="0" marL="0">
              <a:buNone/>
            </a:pPr>
            <a:r>
              <a:rPr lang="en-US" sz="1700" b="1" dirty="0">
                <a:solidFill>
                  <a:schemeClr val="accent3"/>
                </a:solidFill>
              </a:rPr>
              <a:t>Wrongly declined</a:t>
            </a:r>
            <a:endParaRPr lang="en-US" sz="1700" dirty="0"/>
          </a:p>
        </p:txBody>
      </p:sp>
      <p:sp>
        <p:nvSpPr>
          <p:cNvPr id="11" name="error desc 2"/>
          <p:cNvSpPr txBox="1"/>
          <p:nvPr/>
        </p:nvSpPr>
        <p:spPr>
          <a:xfrm>
            <a:off x="484632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default', the customer would have repaid.</a:t>
            </a:r>
            <a:endParaRPr lang="en-US" sz="1200" dirty="0"/>
          </a:p>
        </p:txBody>
      </p:sp>
      <p:sp>
        <p:nvSpPr>
          <p:cNvPr id="12" name="error cost 2"/>
          <p:cNvSpPr txBox="1"/>
          <p:nvPr/>
        </p:nvSpPr>
        <p:spPr>
          <a:xfrm>
            <a:off x="484632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Bank forgoes the interest margin on one good customer: about $2,000.</a:t>
            </a:r>
            <a:endParaRPr lang="en-US" sz="1200" dirty="0"/>
          </a:p>
        </p:txBody>
      </p:sp>
      <p:sp>
        <p:nvSpPr>
          <p:cNvPr id="13" name="metric bullets"/>
          <p:cNvSpPr txBox="1"/>
          <p:nvPr/>
        </p:nvSpPr>
        <p:spPr>
          <a:xfrm>
            <a:off x="457200" y="3383280"/>
            <a:ext cx="8229600" cy="132588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A missed defaulter costs roughly 4.5 times a wrongly declined customer, so the primary metric is Recall: the share of future defaulters the model catches.</a:t>
            </a:r>
            <a:endParaRPr lang="en-US" sz="1250" dirty="0"/>
          </a:p>
          <a:p>
            <a:pPr marL="177800" indent="-177800">
              <a:spcAft>
                <a:spcPts val="800"/>
              </a:spcAft>
              <a:buSzPct val="100000"/>
              <a:buChar char="•"/>
            </a:pPr>
            <a:r>
              <a:rPr lang="en-US" sz="1250" dirty="0">
                <a:solidFill>
                  <a:schemeClr val="tx1"/>
                </a:solidFill>
              </a:rPr>
              <a:t>Guard-rails: Precision (how many of the flagged applicants really default) and F1, so the model does not simply decline everyone. ROC-AUC measures how well applicants are ranked by risk, which matters when the threshold moves.</a:t>
            </a:r>
            <a:endParaRPr lang="en-US" sz="1250" dirty="0"/>
          </a:p>
          <a:p>
            <a:pPr marL="177800" indent="-177800">
              <a:spcAft>
                <a:spcPts val="800"/>
              </a:spcAft>
              <a:buSzPct val="100000"/>
              <a:buChar char="•"/>
            </a:pPr>
            <a:r>
              <a:rPr lang="en-US" sz="1250" dirty="0">
                <a:solidFill>
                  <a:schemeClr val="tx1"/>
                </a:solidFill>
              </a:rPr>
              <a:t>All models are tuned by cross-validated grid search on recall and judged on a held-out 30% of applicants the models never saw.</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Model comparison: the Random Forest gives the best balance</a:t>
            </a:r>
            <a:endParaRPr lang="en-US" sz="2400" dirty="0"/>
          </a:p>
        </p:txBody>
      </p:sp>
      <p:graphicFrame>
        <p:nvGraphicFramePr>
          <p:cNvPr id="3" name="model comparison chart" descr=""/>
          <p:cNvGraphicFramePr/>
          <p:nvPr/>
        </p:nvGraphicFramePr>
        <p:xfrm>
          <a:off x="365760" y="1097280"/>
          <a:ext cx="5394960" cy="3566160"/>
        </p:xfrm>
        <a:graphic xmlns:a="http://schemas.openxmlformats.org/drawingml/2006/main">
          <a:graphicData uri="http://schemas.openxmlformats.org/drawingml/2006/chart">
            <c:chart xmlns:c="http://schemas.openxmlformats.org/drawingml/2006/chart" r:id="rId1"/>
          </a:graphicData>
        </a:graphic>
      </p:graphicFrame>
      <p:sp>
        <p:nvSpPr>
          <p:cNvPr id="4" name="comparison bullets"/>
          <p:cNvSpPr txBox="1"/>
          <p:nvPr/>
        </p:nvSpPr>
        <p:spPr>
          <a:xfrm>
            <a:off x="5897880" y="1143000"/>
            <a:ext cx="2880360" cy="356616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Linear vs non-linear: logistic regression reaches 80% recall but only 61% precision. The data is made of thresholds, which trees capture and a straight line cannot.</a:t>
            </a:r>
            <a:endParaRPr lang="en-US" sz="1200" dirty="0"/>
          </a:p>
          <a:p>
            <a:pPr marL="177800" indent="-177800">
              <a:spcAft>
                <a:spcPts val="800"/>
              </a:spcAft>
              <a:buSzPct val="100000"/>
              <a:buChar char="•"/>
            </a:pPr>
            <a:r>
              <a:rPr lang="en-US" sz="1200" dirty="0">
                <a:solidFill>
                  <a:schemeClr val="tx1"/>
                </a:solidFill>
              </a:rPr>
              <a:t>Single tree vs forest: the tuned tree catches 82% but declines almost one good customer per defaulter caught (53% precision).</a:t>
            </a:r>
            <a:endParaRPr lang="en-US" sz="1200" dirty="0"/>
          </a:p>
          <a:p>
            <a:pPr marL="177800" indent="-177800">
              <a:spcAft>
                <a:spcPts val="800"/>
              </a:spcAft>
              <a:buSzPct val="100000"/>
              <a:buChar char="•"/>
            </a:pPr>
            <a:r>
              <a:rPr lang="en-US" sz="1200" dirty="0">
                <a:solidFill>
                  <a:schemeClr val="tx1"/>
                </a:solidFill>
              </a:rPr>
              <a:t>The class-weighted forest catches 78% at 77% precision, with the best ROC-AUC (0.96): it ranks applicants by risk most accurately.</a:t>
            </a:r>
            <a:endParaRPr lang="en-US" sz="1200" dirty="0"/>
          </a:p>
          <a:p>
            <a:pPr marL="177800" indent="-177800">
              <a:spcAft>
                <a:spcPts val="800"/>
              </a:spcAft>
              <a:buSzPct val="100000"/>
              <a:buChar char="•"/>
            </a:pPr>
            <a:r>
              <a:rPr lang="en-US" sz="1200" dirty="0">
                <a:solidFill>
                  <a:schemeClr val="tx1"/>
                </a:solidFill>
              </a:rPr>
              <a:t>Because it ranks so well, lowering its threshold to 0.25 lifts recall to 93% at 67% precision, the lowest expected cost of any option.</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Proposed solution: a Random Forest scorer with a Decision Tree explanation layer</a:t>
            </a:r>
            <a:endParaRPr lang="en-US" sz="2400" dirty="0"/>
          </a:p>
        </p:txBody>
      </p:sp>
      <p:sp>
        <p:nvSpPr>
          <p:cNvPr id="3" name="spec card"/>
          <p:cNvSpPr/>
          <p:nvPr/>
        </p:nvSpPr>
        <p:spPr>
          <a:xfrm>
            <a:off x="457200" y="1143000"/>
            <a:ext cx="4846320" cy="3520440"/>
          </a:xfrm>
          <a:prstGeom prst="roundRect">
            <a:avLst>
              <a:gd name="adj" fmla="val 2078"/>
            </a:avLst>
          </a:prstGeom>
          <a:solidFill>
            <a:schemeClr val="bg2"/>
          </a:solidFill>
          <a:ln w="9525">
            <a:solidFill>
              <a:schemeClr val="bg2"/>
            </a:solidFill>
            <a:prstDash val="solid"/>
          </a:ln>
        </p:spPr>
      </p:sp>
      <p:sp>
        <p:nvSpPr>
          <p:cNvPr id="4" name="spec title"/>
          <p:cNvSpPr txBox="1"/>
          <p:nvPr/>
        </p:nvSpPr>
        <p:spPr>
          <a:xfrm>
            <a:off x="640080" y="1234440"/>
            <a:ext cx="4480560" cy="365760"/>
          </a:xfrm>
          <a:prstGeom prst="rect">
            <a:avLst/>
          </a:prstGeom>
          <a:noFill/>
          <a:ln/>
        </p:spPr>
        <p:txBody>
          <a:bodyPr wrap="square" lIns="0" tIns="0" rIns="0" bIns="0" rtlCol="0" anchor="ctr"/>
          <a:lstStyle/>
          <a:p>
            <a:pPr indent="0" marL="0">
              <a:buNone/>
            </a:pPr>
            <a:r>
              <a:rPr lang="en-US" sz="1400" b="1" dirty="0">
                <a:solidFill>
                  <a:schemeClr val="accent1"/>
                </a:solidFill>
              </a:rPr>
              <a:t>Model specification</a:t>
            </a:r>
            <a:endParaRPr lang="en-US" sz="1400" dirty="0"/>
          </a:p>
        </p:txBody>
      </p:sp>
      <p:sp>
        <p:nvSpPr>
          <p:cNvPr id="5" name="spec bullets"/>
          <p:cNvSpPr txBox="1"/>
          <p:nvPr/>
        </p:nvSpPr>
        <p:spPr>
          <a:xfrm>
            <a:off x="640080" y="1645920"/>
            <a:ext cx="4480560" cy="292608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chemeClr val="tx1"/>
                </a:solidFill>
              </a:rPr>
              <a:t>Scoring engine: Random Forest, 200 trees, class weights 0.2 (repaid) / 0.8 (default).</a:t>
            </a:r>
            <a:endParaRPr lang="en-US" sz="1150" dirty="0"/>
          </a:p>
          <a:p>
            <a:pPr marL="177800" indent="-177800">
              <a:spcAft>
                <a:spcPts val="800"/>
              </a:spcAft>
              <a:buSzPct val="100000"/>
              <a:buChar char="•"/>
            </a:pPr>
            <a:r>
              <a:rPr lang="en-US" sz="1150" dirty="0">
                <a:solidFill>
                  <a:schemeClr val="tx1"/>
                </a:solidFill>
              </a:rPr>
              <a:t>Inputs: the 10 financial attributes plus 'debt-to-income missing' and 'property value missing' flags. Occupation and loan purpose are not needed.</a:t>
            </a:r>
            <a:endParaRPr lang="en-US" sz="1150" dirty="0"/>
          </a:p>
          <a:p>
            <a:pPr marL="177800" indent="-177800">
              <a:spcAft>
                <a:spcPts val="800"/>
              </a:spcAft>
              <a:buSzPct val="100000"/>
              <a:buChar char="•"/>
            </a:pPr>
            <a:r>
              <a:rPr lang="en-US" sz="1150" dirty="0">
                <a:solidFill>
                  <a:schemeClr val="tx1"/>
                </a:solidFill>
              </a:rPr>
              <a:t>Decision threshold 0.25 (cost-minimising) instead of the default 0.5; approve / refer / decline bands keep an underwriter in the loop near the threshold.</a:t>
            </a:r>
            <a:endParaRPr lang="en-US" sz="1150" dirty="0"/>
          </a:p>
          <a:p>
            <a:pPr marL="177800" indent="-177800">
              <a:spcAft>
                <a:spcPts val="800"/>
              </a:spcAft>
              <a:buSzPct val="100000"/>
              <a:buChar char="•"/>
            </a:pPr>
            <a:r>
              <a:rPr lang="en-US" sz="1150" dirty="0">
                <a:solidFill>
                  <a:schemeClr val="tx1"/>
                </a:solidFill>
              </a:rPr>
              <a:t>Explanation layer: a pruned Decision Tree built on the same data. Its rules (ratio missing, ratio above 44%, delinquencies, derogatory reports, credit-history length) supply the adverse-action reasons the ECOA requires.</a:t>
            </a:r>
            <a:endParaRPr lang="en-US" sz="1150" dirty="0"/>
          </a:p>
          <a:p>
            <a:pPr marL="177800" indent="-177800">
              <a:spcAft>
                <a:spcPts val="800"/>
              </a:spcAft>
              <a:buSzPct val="100000"/>
              <a:buChar char="•"/>
            </a:pPr>
            <a:r>
              <a:rPr lang="en-US" sz="1150" dirty="0">
                <a:solidFill>
                  <a:schemeClr val="tx1"/>
                </a:solidFill>
              </a:rPr>
              <a:t>Validated on a 30% hold-out; hyper-parameters chosen by stratified cross-validation.</a:t>
            </a:r>
            <a:endParaRPr lang="en-US" sz="1150" dirty="0"/>
          </a:p>
        </p:txBody>
      </p:sp>
      <p:sp>
        <p:nvSpPr>
          <p:cNvPr id="6" name="stat 93%"/>
          <p:cNvSpPr txBox="1"/>
          <p:nvPr/>
        </p:nvSpPr>
        <p:spPr>
          <a:xfrm>
            <a:off x="55778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5"/>
                </a:solidFill>
              </a:rPr>
              <a:t>93%</a:t>
            </a:r>
            <a:endParaRPr lang="en-US" sz="3400" dirty="0"/>
          </a:p>
        </p:txBody>
      </p:sp>
      <p:sp>
        <p:nvSpPr>
          <p:cNvPr id="7" name="stat label of defaulters caught"/>
          <p:cNvSpPr txBox="1"/>
          <p:nvPr/>
        </p:nvSpPr>
        <p:spPr>
          <a:xfrm>
            <a:off x="55778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defaulters caught</a:t>
            </a:r>
            <a:endParaRPr lang="en-US" sz="1100" dirty="0"/>
          </a:p>
        </p:txBody>
      </p:sp>
      <p:sp>
        <p:nvSpPr>
          <p:cNvPr id="8" name="stat 67%"/>
          <p:cNvSpPr txBox="1"/>
          <p:nvPr/>
        </p:nvSpPr>
        <p:spPr>
          <a:xfrm>
            <a:off x="71780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67%</a:t>
            </a:r>
            <a:endParaRPr lang="en-US" sz="3400" dirty="0"/>
          </a:p>
        </p:txBody>
      </p:sp>
      <p:sp>
        <p:nvSpPr>
          <p:cNvPr id="9" name="stat label of flagged applicants truly default"/>
          <p:cNvSpPr txBox="1"/>
          <p:nvPr/>
        </p:nvSpPr>
        <p:spPr>
          <a:xfrm>
            <a:off x="71780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flagged applicants truly default</a:t>
            </a:r>
            <a:endParaRPr lang="en-US" sz="1100" dirty="0"/>
          </a:p>
        </p:txBody>
      </p:sp>
      <p:sp>
        <p:nvSpPr>
          <p:cNvPr id="10" name="stat 0.96"/>
          <p:cNvSpPr txBox="1"/>
          <p:nvPr/>
        </p:nvSpPr>
        <p:spPr>
          <a:xfrm>
            <a:off x="55778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0.96</a:t>
            </a:r>
            <a:endParaRPr lang="en-US" sz="3400" dirty="0"/>
          </a:p>
        </p:txBody>
      </p:sp>
      <p:sp>
        <p:nvSpPr>
          <p:cNvPr id="11" name="stat label ROC-AUC: risk ranking quality"/>
          <p:cNvSpPr txBox="1"/>
          <p:nvPr/>
        </p:nvSpPr>
        <p:spPr>
          <a:xfrm>
            <a:off x="55778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ROC-AUC: risk ranking quality</a:t>
            </a:r>
            <a:endParaRPr lang="en-US" sz="1100" dirty="0"/>
          </a:p>
        </p:txBody>
      </p:sp>
      <p:sp>
        <p:nvSpPr>
          <p:cNvPr id="12" name="stat 90%"/>
          <p:cNvSpPr txBox="1"/>
          <p:nvPr/>
        </p:nvSpPr>
        <p:spPr>
          <a:xfrm>
            <a:off x="71780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90%</a:t>
            </a:r>
            <a:endParaRPr lang="en-US" sz="3400" dirty="0"/>
          </a:p>
        </p:txBody>
      </p:sp>
      <p:sp>
        <p:nvSpPr>
          <p:cNvPr id="13" name="stat label overall accuracy"/>
          <p:cNvSpPr txBox="1"/>
          <p:nvPr/>
        </p:nvSpPr>
        <p:spPr>
          <a:xfrm>
            <a:off x="71780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overall accuracy</a:t>
            </a:r>
            <a:endParaRPr lang="en-US" sz="1100" dirty="0"/>
          </a:p>
        </p:txBody>
      </p:sp>
      <p:sp>
        <p:nvSpPr>
          <p:cNvPr id="14" name="per 1000 note"/>
          <p:cNvSpPr txBox="1"/>
          <p:nvPr/>
        </p:nvSpPr>
        <p:spPr>
          <a:xfrm>
            <a:off x="5577840" y="3886200"/>
            <a:ext cx="3108960" cy="777240"/>
          </a:xfrm>
          <a:prstGeom prst="rect">
            <a:avLst/>
          </a:prstGeom>
          <a:noFill/>
          <a:ln/>
        </p:spPr>
        <p:txBody>
          <a:bodyPr wrap="square" lIns="0" tIns="0" rIns="0" bIns="0" rtlCol="0" anchor="t"/>
          <a:lstStyle/>
          <a:p>
            <a:pPr indent="0" marL="0">
              <a:buNone/>
            </a:pPr>
            <a:r>
              <a:rPr lang="en-US" sz="1150" i="1" dirty="0">
                <a:solidFill>
                  <a:schemeClr val="tx1"/>
                </a:solidFill>
              </a:rPr>
              <a:t>Per 1,000 applicants: about 187 of 200 defaulters flagged in advance, 13 missed, 92 good customers referred or declined.</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Why a 0.25 threshold: the decision cut-off is a business dial, not a constant</a:t>
            </a:r>
            <a:endParaRPr lang="en-US" sz="2400" dirty="0"/>
          </a:p>
        </p:txBody>
      </p:sp>
      <p:graphicFrame>
        <p:nvGraphicFramePr>
          <p:cNvPr id="3" name="threshold chart" descr=""/>
          <p:cNvGraphicFramePr/>
          <p:nvPr/>
        </p:nvGraphicFramePr>
        <p:xfrm>
          <a:off x="365760" y="1097280"/>
          <a:ext cx="4846320" cy="3337560"/>
        </p:xfrm>
        <a:graphic xmlns:a="http://schemas.openxmlformats.org/drawingml/2006/main">
          <a:graphicData uri="http://schemas.openxmlformats.org/drawingml/2006/chart">
            <c:chart xmlns:c="http://schemas.openxmlformats.org/drawingml/2006/chart" r:id="rId1"/>
          </a:graphicData>
        </a:graphic>
      </p:graphicFrame>
      <p:sp>
        <p:nvSpPr>
          <p:cNvPr id="4" name="threshold card 1"/>
          <p:cNvSpPr/>
          <p:nvPr/>
        </p:nvSpPr>
        <p:spPr>
          <a:xfrm>
            <a:off x="5394960" y="1188720"/>
            <a:ext cx="3383280" cy="1645920"/>
          </a:xfrm>
          <a:prstGeom prst="roundRect">
            <a:avLst>
              <a:gd name="adj" fmla="val 4444"/>
            </a:avLst>
          </a:prstGeom>
          <a:solidFill>
            <a:schemeClr val="bg2"/>
          </a:solidFill>
          <a:ln w="9525">
            <a:solidFill>
              <a:schemeClr val="bg2"/>
            </a:solidFill>
            <a:prstDash val="solid"/>
          </a:ln>
        </p:spPr>
      </p:sp>
      <p:sp>
        <p:nvSpPr>
          <p:cNvPr id="5" name="threshold card title 1"/>
          <p:cNvSpPr txBox="1"/>
          <p:nvPr/>
        </p:nvSpPr>
        <p:spPr>
          <a:xfrm>
            <a:off x="5577840" y="1280160"/>
            <a:ext cx="3017520" cy="365760"/>
          </a:xfrm>
          <a:prstGeom prst="rect">
            <a:avLst/>
          </a:prstGeom>
          <a:noFill/>
          <a:ln/>
        </p:spPr>
        <p:txBody>
          <a:bodyPr wrap="square" lIns="0" tIns="0" rIns="0" bIns="0" rtlCol="0" anchor="ctr"/>
          <a:lstStyle/>
          <a:p>
            <a:pPr indent="0" marL="0">
              <a:buNone/>
            </a:pPr>
            <a:r>
              <a:rPr lang="en-US" sz="1400" b="1" dirty="0">
                <a:solidFill>
                  <a:schemeClr val="accent6"/>
                </a:solidFill>
              </a:rPr>
              <a:t>At 0.50 (default)</a:t>
            </a:r>
            <a:endParaRPr lang="en-US" sz="1400" dirty="0"/>
          </a:p>
        </p:txBody>
      </p:sp>
      <p:sp>
        <p:nvSpPr>
          <p:cNvPr id="6" name="threshold card body 1"/>
          <p:cNvSpPr txBox="1"/>
          <p:nvPr/>
        </p:nvSpPr>
        <p:spPr>
          <a:xfrm>
            <a:off x="5577840" y="1691640"/>
            <a:ext cx="3017520" cy="109728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43 missed defaulters</a:t>
            </a:r>
            <a:endParaRPr lang="en-US" sz="1200" dirty="0"/>
          </a:p>
          <a:p>
            <a:pPr marL="177800" indent="-177800">
              <a:spcAft>
                <a:spcPts val="800"/>
              </a:spcAft>
              <a:buSzPct val="100000"/>
              <a:buChar char="•"/>
            </a:pPr>
            <a:r>
              <a:rPr lang="en-US" sz="1200" dirty="0">
                <a:solidFill>
                  <a:schemeClr val="tx1"/>
                </a:solidFill>
              </a:rPr>
              <a:t>46 good customers declined</a:t>
            </a:r>
            <a:endParaRPr lang="en-US" sz="1200" dirty="0"/>
          </a:p>
          <a:p>
            <a:pPr marL="177800" indent="-177800">
              <a:spcAft>
                <a:spcPts val="800"/>
              </a:spcAft>
              <a:buSzPct val="100000"/>
              <a:buChar char="•"/>
            </a:pPr>
            <a:r>
              <a:rPr lang="en-US" sz="1200" dirty="0">
                <a:solidFill>
                  <a:schemeClr val="tx1"/>
                </a:solidFill>
              </a:rPr>
              <a:t>$479k indicative cost</a:t>
            </a:r>
            <a:endParaRPr lang="en-US" sz="1200" dirty="0"/>
          </a:p>
        </p:txBody>
      </p:sp>
      <p:sp>
        <p:nvSpPr>
          <p:cNvPr id="7" name="threshold card 2"/>
          <p:cNvSpPr/>
          <p:nvPr/>
        </p:nvSpPr>
        <p:spPr>
          <a:xfrm>
            <a:off x="5394960" y="2971800"/>
            <a:ext cx="3383280" cy="1645920"/>
          </a:xfrm>
          <a:prstGeom prst="roundRect">
            <a:avLst>
              <a:gd name="adj" fmla="val 4444"/>
            </a:avLst>
          </a:prstGeom>
          <a:solidFill>
            <a:schemeClr val="bg2"/>
          </a:solidFill>
          <a:ln w="9525">
            <a:solidFill>
              <a:schemeClr val="bg2"/>
            </a:solidFill>
            <a:prstDash val="solid"/>
          </a:ln>
        </p:spPr>
      </p:sp>
      <p:sp>
        <p:nvSpPr>
          <p:cNvPr id="8" name="threshold card title 2"/>
          <p:cNvSpPr txBox="1"/>
          <p:nvPr/>
        </p:nvSpPr>
        <p:spPr>
          <a:xfrm>
            <a:off x="5577840" y="3063240"/>
            <a:ext cx="3017520" cy="365760"/>
          </a:xfrm>
          <a:prstGeom prst="rect">
            <a:avLst/>
          </a:prstGeom>
          <a:noFill/>
          <a:ln/>
        </p:spPr>
        <p:txBody>
          <a:bodyPr wrap="square" lIns="0" tIns="0" rIns="0" bIns="0" rtlCol="0" anchor="ctr"/>
          <a:lstStyle/>
          <a:p>
            <a:pPr indent="0" marL="0">
              <a:buNone/>
            </a:pPr>
            <a:r>
              <a:rPr lang="en-US" sz="1400" b="1" dirty="0">
                <a:solidFill>
                  <a:schemeClr val="accent5"/>
                </a:solidFill>
              </a:rPr>
              <a:t>At 0.25 (proposed)</a:t>
            </a:r>
            <a:endParaRPr lang="en-US" sz="1400" dirty="0"/>
          </a:p>
        </p:txBody>
      </p:sp>
      <p:sp>
        <p:nvSpPr>
          <p:cNvPr id="9" name="threshold card body 2"/>
          <p:cNvSpPr txBox="1"/>
          <p:nvPr/>
        </p:nvSpPr>
        <p:spPr>
          <a:xfrm>
            <a:off x="5577840" y="3474720"/>
            <a:ext cx="3017520" cy="109728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13 missed defaulters</a:t>
            </a:r>
            <a:endParaRPr lang="en-US" sz="1200" dirty="0"/>
          </a:p>
          <a:p>
            <a:pPr marL="177800" indent="-177800">
              <a:spcAft>
                <a:spcPts val="800"/>
              </a:spcAft>
              <a:buSzPct val="100000"/>
              <a:buChar char="•"/>
            </a:pPr>
            <a:r>
              <a:rPr lang="en-US" sz="1200" dirty="0">
                <a:solidFill>
                  <a:schemeClr val="tx1"/>
                </a:solidFill>
              </a:rPr>
              <a:t>92 good customers declined</a:t>
            </a:r>
            <a:endParaRPr lang="en-US" sz="1200" dirty="0"/>
          </a:p>
          <a:p>
            <a:pPr marL="177800" indent="-177800">
              <a:spcAft>
                <a:spcPts val="800"/>
              </a:spcAft>
              <a:buSzPct val="100000"/>
              <a:buChar char="•"/>
            </a:pPr>
            <a:r>
              <a:rPr lang="en-US" sz="1200" dirty="0">
                <a:solidFill>
                  <a:schemeClr val="tx1"/>
                </a:solidFill>
              </a:rPr>
              <a:t>$304k indicative cost</a:t>
            </a:r>
            <a:endParaRPr lang="en-US" sz="1200" dirty="0"/>
          </a:p>
        </p:txBody>
      </p:sp>
      <p:sp>
        <p:nvSpPr>
          <p:cNvPr id="10" name="threshold footnote"/>
          <p:cNvSpPr txBox="1"/>
          <p:nvPr/>
        </p:nvSpPr>
        <p:spPr>
          <a:xfrm>
            <a:off x="457200" y="4498848"/>
            <a:ext cx="7680960" cy="256032"/>
          </a:xfrm>
          <a:prstGeom prst="rect">
            <a:avLst/>
          </a:prstGeom>
          <a:noFill/>
          <a:ln/>
        </p:spPr>
        <p:txBody>
          <a:bodyPr wrap="square" lIns="0" tIns="0" rIns="0" bIns="0" rtlCol="0" anchor="ctr"/>
          <a:lstStyle/>
          <a:p>
            <a:pPr indent="0" marL="0">
              <a:buNone/>
            </a:pPr>
            <a:r>
              <a:rPr lang="en-US" sz="900" dirty="0">
                <a:solidFill>
                  <a:schemeClr val="accent6"/>
                </a:solidFill>
              </a:rPr>
              <a:t>Per 1,000 applicants; cost assumes $9,000 per missed defaulter and $2,000 per wrongly declined customer. Thresholds 0.20-0.30 are all within 12% of the minimum, so the choice is robust.</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Business impact: an indicative $9 million a year</a:t>
            </a:r>
            <a:endParaRPr lang="en-US" sz="2400" dirty="0"/>
          </a:p>
        </p:txBody>
      </p:sp>
      <p:graphicFrame>
        <p:nvGraphicFramePr>
          <p:cNvPr id="13" name="impact table"/>
          <p:cNvGraphicFramePr>
            <a:graphicFrameLocks noGrp="1"/>
          </p:cNvGraphicFramePr>
          <p:nvPr>
            <p:extLst>
              <p:ext uri="{D42A27DB-BD31-4B8C-83A1-F6EECF244321}">
                <p14:modId xmlns:p14="http://schemas.microsoft.com/office/powerpoint/2010/main" val="1579011935"/>
              </p:ext>
            </p:extLst>
          </p:nvPr>
        </p:nvGraphicFramePr>
        <p:xfrm>
          <a:off x="457200" y="1188720"/>
          <a:ext cx="5303520" cy="914400"/>
        </p:xfrm>
        <a:graphic>
          <a:graphicData uri="http://schemas.openxmlformats.org/drawingml/2006/table">
            <a:tbl>
              <a:tblPr/>
              <a:tblGrid>
                <a:gridCol w="2194560"/>
                <a:gridCol w="1371600"/>
                <a:gridCol w="173736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Per year, 6,000 applications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Current process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With the proposed model</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Loans that default</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1,200 (20%)</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80 slip through</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Default-related losses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$0.7M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Good customers declined or referred</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550, margin forgone about $1.1M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Total cost of credit errors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benefit card"/>
          <p:cNvSpPr/>
          <p:nvPr/>
        </p:nvSpPr>
        <p:spPr>
          <a:xfrm>
            <a:off x="6035040" y="1188720"/>
            <a:ext cx="2743200" cy="1920240"/>
          </a:xfrm>
          <a:prstGeom prst="roundRect">
            <a:avLst>
              <a:gd name="adj" fmla="val 3810"/>
            </a:avLst>
          </a:prstGeom>
          <a:solidFill>
            <a:schemeClr val="accent1"/>
          </a:solidFill>
          <a:ln w="9525">
            <a:solidFill>
              <a:schemeClr val="accent1"/>
            </a:solidFill>
            <a:prstDash val="solid"/>
          </a:ln>
        </p:spPr>
      </p:sp>
      <p:sp>
        <p:nvSpPr>
          <p:cNvPr id="5" name="benefit number"/>
          <p:cNvSpPr txBox="1"/>
          <p:nvPr/>
        </p:nvSpPr>
        <p:spPr>
          <a:xfrm>
            <a:off x="6126480" y="1280160"/>
            <a:ext cx="2560320" cy="868680"/>
          </a:xfrm>
          <a:prstGeom prst="rect">
            <a:avLst/>
          </a:prstGeom>
          <a:noFill/>
          <a:ln/>
        </p:spPr>
        <p:txBody>
          <a:bodyPr wrap="square" lIns="0" tIns="0" rIns="0" bIns="0" rtlCol="0" anchor="b"/>
          <a:lstStyle/>
          <a:p>
            <a:pPr algn="ctr" indent="0" marL="0">
              <a:buNone/>
            </a:pPr>
            <a:r>
              <a:rPr lang="en-US" sz="4000" b="1" dirty="0">
                <a:solidFill>
                  <a:schemeClr val="bg1"/>
                </a:solidFill>
              </a:rPr>
              <a:t>~$9M</a:t>
            </a:r>
            <a:endParaRPr lang="en-US" sz="4000" dirty="0"/>
          </a:p>
        </p:txBody>
      </p:sp>
      <p:sp>
        <p:nvSpPr>
          <p:cNvPr id="6" name="benefit label"/>
          <p:cNvSpPr txBox="1"/>
          <p:nvPr/>
        </p:nvSpPr>
        <p:spPr>
          <a:xfrm>
            <a:off x="6126480" y="2194560"/>
            <a:ext cx="2560320" cy="822960"/>
          </a:xfrm>
          <a:prstGeom prst="rect">
            <a:avLst/>
          </a:prstGeom>
          <a:noFill/>
          <a:ln/>
        </p:spPr>
        <p:txBody>
          <a:bodyPr wrap="square" lIns="0" tIns="0" rIns="0" bIns="0" rtlCol="0" anchor="t"/>
          <a:lstStyle/>
          <a:p>
            <a:pPr algn="ctr" indent="0" marL="0">
              <a:buNone/>
            </a:pPr>
            <a:r>
              <a:rPr lang="en-US" sz="1200" dirty="0">
                <a:solidFill>
                  <a:schemeClr val="bg2"/>
                </a:solidFill>
              </a:rPr>
              <a:t>indicative gross annual benefit; about $8.5M after running costs</a:t>
            </a:r>
            <a:endParaRPr lang="en-US" sz="1200" dirty="0"/>
          </a:p>
        </p:txBody>
      </p:sp>
      <p:sp>
        <p:nvSpPr>
          <p:cNvPr id="7" name="impact bullets"/>
          <p:cNvSpPr txBox="1"/>
          <p:nvPr/>
        </p:nvSpPr>
        <p:spPr>
          <a:xfrm>
            <a:off x="457200" y="3291840"/>
            <a:ext cx="8321040" cy="141732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Assumptions: 6,000 applications a year, average loan $18,600, loss given default about 50%, forgone margin about $2,000 per declined good customer, production performance equal to test performance.</a:t>
            </a:r>
            <a:endParaRPr lang="en-US" sz="1100" dirty="0"/>
          </a:p>
          <a:p>
            <a:pPr marL="177800" indent="-177800">
              <a:spcAft>
                <a:spcPts val="800"/>
              </a:spcAft>
              <a:buSzPct val="100000"/>
              <a:buChar char="•"/>
            </a:pPr>
            <a:r>
              <a:rPr lang="en-US" sz="1100" dirty="0">
                <a:solidFill>
                  <a:schemeClr val="tx1"/>
                </a:solidFill>
              </a:rPr>
              <a:t>Costs: roughly $300-400k one-off (pipeline, integration, validation, fairness review, training) and about $100k a year to run and monitor. Pays back within the first year even if only a quarter of the benefit is realised.</a:t>
            </a:r>
            <a:endParaRPr lang="en-US" sz="1100" dirty="0"/>
          </a:p>
          <a:p>
            <a:pPr marL="177800" indent="-177800">
              <a:spcAft>
                <a:spcPts val="800"/>
              </a:spcAft>
              <a:buSzPct val="100000"/>
              <a:buChar char="•"/>
            </a:pPr>
            <a:r>
              <a:rPr lang="en-US" sz="1100" dirty="0">
                <a:solidFill>
                  <a:schemeClr val="tx1"/>
                </a:solidFill>
              </a:rPr>
              <a:t>Non-financial: faster decisions, consistent treatment, auditable reasons for every decline, verified income and valuation on every application.</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Recommendations and implementation roadmap</a:t>
            </a:r>
            <a:endParaRPr lang="en-US" sz="2400" dirty="0"/>
          </a:p>
        </p:txBody>
      </p:sp>
      <p:sp>
        <p:nvSpPr>
          <p:cNvPr id="3" name="phase card 1"/>
          <p:cNvSpPr/>
          <p:nvPr/>
        </p:nvSpPr>
        <p:spPr>
          <a:xfrm>
            <a:off x="457200" y="1188720"/>
            <a:ext cx="2651760" cy="2331720"/>
          </a:xfrm>
          <a:prstGeom prst="roundRect">
            <a:avLst>
              <a:gd name="adj" fmla="val 3137"/>
            </a:avLst>
          </a:prstGeom>
          <a:solidFill>
            <a:schemeClr val="bg2"/>
          </a:solidFill>
          <a:ln w="9525">
            <a:solidFill>
              <a:schemeClr val="bg2"/>
            </a:solidFill>
            <a:prstDash val="solid"/>
          </a:ln>
        </p:spPr>
      </p:sp>
      <p:sp>
        <p:nvSpPr>
          <p:cNvPr id="4" name="step 1"/>
          <p:cNvSpPr/>
          <p:nvPr/>
        </p:nvSpPr>
        <p:spPr>
          <a:xfrm>
            <a:off x="594360" y="1298448"/>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phase title 1"/>
          <p:cNvSpPr txBox="1"/>
          <p:nvPr/>
        </p:nvSpPr>
        <p:spPr>
          <a:xfrm>
            <a:off x="105156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0-2: prepare</a:t>
            </a:r>
            <a:endParaRPr lang="en-US" sz="1300" dirty="0"/>
          </a:p>
        </p:txBody>
      </p:sp>
      <p:sp>
        <p:nvSpPr>
          <p:cNvPr id="7" name="phase bullets 1"/>
          <p:cNvSpPr txBox="1"/>
          <p:nvPr/>
        </p:nvSpPr>
        <p:spPr>
          <a:xfrm>
            <a:off x="59436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Make income and valuation verification mandatory fields</a:t>
            </a:r>
            <a:endParaRPr lang="en-US" sz="1100" dirty="0"/>
          </a:p>
          <a:p>
            <a:pPr marL="177800" indent="-177800">
              <a:spcAft>
                <a:spcPts val="800"/>
              </a:spcAft>
              <a:buSzPct val="100000"/>
              <a:buChar char="•"/>
            </a:pPr>
            <a:r>
              <a:rPr lang="en-US" sz="1100" dirty="0">
                <a:solidFill>
                  <a:schemeClr val="tx1"/>
                </a:solidFill>
              </a:rPr>
              <a:t>Build the scoring pipeline and reason codes</a:t>
            </a:r>
            <a:endParaRPr lang="en-US" sz="1100" dirty="0"/>
          </a:p>
          <a:p>
            <a:pPr marL="177800" indent="-177800">
              <a:spcAft>
                <a:spcPts val="800"/>
              </a:spcAft>
              <a:buSzPct val="100000"/>
              <a:buChar char="•"/>
            </a:pPr>
            <a:r>
              <a:rPr lang="en-US" sz="1100" dirty="0">
                <a:solidFill>
                  <a:schemeClr val="tx1"/>
                </a:solidFill>
              </a:rPr>
              <a:t>Calibrate the threshold with real loss and margin figures</a:t>
            </a:r>
            <a:endParaRPr lang="en-US" sz="1100" dirty="0"/>
          </a:p>
          <a:p>
            <a:pPr marL="177800" indent="-177800">
              <a:spcAft>
                <a:spcPts val="800"/>
              </a:spcAft>
              <a:buSzPct val="100000"/>
              <a:buChar char="•"/>
            </a:pPr>
            <a:r>
              <a:rPr lang="en-US" sz="1100" dirty="0">
                <a:solidFill>
                  <a:schemeClr val="tx1"/>
                </a:solidFill>
              </a:rPr>
              <a:t>Fairness and model-risk review</a:t>
            </a:r>
            <a:endParaRPr lang="en-US" sz="1100" dirty="0"/>
          </a:p>
        </p:txBody>
      </p:sp>
      <p:sp>
        <p:nvSpPr>
          <p:cNvPr id="8" name="phase card 2"/>
          <p:cNvSpPr/>
          <p:nvPr/>
        </p:nvSpPr>
        <p:spPr>
          <a:xfrm>
            <a:off x="3246120" y="1188720"/>
            <a:ext cx="2651760" cy="2331720"/>
          </a:xfrm>
          <a:prstGeom prst="roundRect">
            <a:avLst>
              <a:gd name="adj" fmla="val 3137"/>
            </a:avLst>
          </a:prstGeom>
          <a:solidFill>
            <a:schemeClr val="bg2"/>
          </a:solidFill>
          <a:ln w="9525">
            <a:solidFill>
              <a:schemeClr val="bg2"/>
            </a:solidFill>
            <a:prstDash val="solid"/>
          </a:ln>
        </p:spPr>
      </p:sp>
      <p:sp>
        <p:nvSpPr>
          <p:cNvPr id="9" name="step 2"/>
          <p:cNvSpPr/>
          <p:nvPr/>
        </p:nvSpPr>
        <p:spPr>
          <a:xfrm>
            <a:off x="3383280" y="1298448"/>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338328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phase title 2"/>
          <p:cNvSpPr txBox="1"/>
          <p:nvPr/>
        </p:nvSpPr>
        <p:spPr>
          <a:xfrm>
            <a:off x="384048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2-4: shadow and pilot</a:t>
            </a:r>
            <a:endParaRPr lang="en-US" sz="1300" dirty="0"/>
          </a:p>
        </p:txBody>
      </p:sp>
      <p:sp>
        <p:nvSpPr>
          <p:cNvPr id="12" name="phase bullets 2"/>
          <p:cNvSpPr txBox="1"/>
          <p:nvPr/>
        </p:nvSpPr>
        <p:spPr>
          <a:xfrm>
            <a:off x="338328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Score every application alongside the manual decision</a:t>
            </a:r>
            <a:endParaRPr lang="en-US" sz="1100" dirty="0"/>
          </a:p>
          <a:p>
            <a:pPr marL="177800" indent="-177800">
              <a:spcAft>
                <a:spcPts val="800"/>
              </a:spcAft>
              <a:buSzPct val="100000"/>
              <a:buChar char="•"/>
            </a:pPr>
            <a:r>
              <a:rPr lang="en-US" sz="1100" dirty="0">
                <a:solidFill>
                  <a:schemeClr val="tx1"/>
                </a:solidFill>
              </a:rPr>
              <a:t>Compare outcomes, tune the approve / refer / decline bands</a:t>
            </a:r>
            <a:endParaRPr lang="en-US" sz="1100" dirty="0"/>
          </a:p>
          <a:p>
            <a:pPr marL="177800" indent="-177800">
              <a:spcAft>
                <a:spcPts val="800"/>
              </a:spcAft>
              <a:buSzPct val="100000"/>
              <a:buChar char="•"/>
            </a:pPr>
            <a:r>
              <a:rPr lang="en-US" sz="1100" dirty="0">
                <a:solidFill>
                  <a:schemeClr val="tx1"/>
                </a:solidFill>
              </a:rPr>
              <a:t>Train underwriters on reason codes and referrals</a:t>
            </a:r>
            <a:endParaRPr lang="en-US" sz="1100" dirty="0"/>
          </a:p>
        </p:txBody>
      </p:sp>
      <p:sp>
        <p:nvSpPr>
          <p:cNvPr id="13" name="phase card 3"/>
          <p:cNvSpPr/>
          <p:nvPr/>
        </p:nvSpPr>
        <p:spPr>
          <a:xfrm>
            <a:off x="6035040" y="1188720"/>
            <a:ext cx="2651760" cy="2331720"/>
          </a:xfrm>
          <a:prstGeom prst="roundRect">
            <a:avLst>
              <a:gd name="adj" fmla="val 3137"/>
            </a:avLst>
          </a:prstGeom>
          <a:solidFill>
            <a:schemeClr val="bg2"/>
          </a:solidFill>
          <a:ln w="9525">
            <a:solidFill>
              <a:schemeClr val="bg2"/>
            </a:solidFill>
            <a:prstDash val="solid"/>
          </a:ln>
        </p:spPr>
      </p:sp>
      <p:sp>
        <p:nvSpPr>
          <p:cNvPr id="14" name="step 3"/>
          <p:cNvSpPr/>
          <p:nvPr/>
        </p:nvSpPr>
        <p:spPr>
          <a:xfrm>
            <a:off x="6172200" y="1298448"/>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617220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phase title 3"/>
          <p:cNvSpPr txBox="1"/>
          <p:nvPr/>
        </p:nvSpPr>
        <p:spPr>
          <a:xfrm>
            <a:off x="662940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 4 onwards: scale</a:t>
            </a:r>
            <a:endParaRPr lang="en-US" sz="1300" dirty="0"/>
          </a:p>
        </p:txBody>
      </p:sp>
      <p:sp>
        <p:nvSpPr>
          <p:cNvPr id="17" name="phase bullets 3"/>
          <p:cNvSpPr txBox="1"/>
          <p:nvPr/>
        </p:nvSpPr>
        <p:spPr>
          <a:xfrm>
            <a:off x="617220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Switch on automated approve / decline for clear cases</a:t>
            </a:r>
            <a:endParaRPr lang="en-US" sz="1100" dirty="0"/>
          </a:p>
          <a:p>
            <a:pPr marL="177800" indent="-177800">
              <a:spcAft>
                <a:spcPts val="800"/>
              </a:spcAft>
              <a:buSzPct val="100000"/>
              <a:buChar char="•"/>
            </a:pPr>
            <a:r>
              <a:rPr lang="en-US" sz="1100" dirty="0">
                <a:solidFill>
                  <a:schemeClr val="tx1"/>
                </a:solidFill>
              </a:rPr>
              <a:t>Monthly monitoring of recall, precision, approval rate, missing fields</a:t>
            </a:r>
            <a:endParaRPr lang="en-US" sz="1100" dirty="0"/>
          </a:p>
          <a:p>
            <a:pPr marL="177800" indent="-177800">
              <a:spcAft>
                <a:spcPts val="800"/>
              </a:spcAft>
              <a:buSzPct val="100000"/>
              <a:buChar char="•"/>
            </a:pPr>
            <a:r>
              <a:rPr lang="en-US" sz="1100" dirty="0">
                <a:solidFill>
                  <a:schemeClr val="tx1"/>
                </a:solidFill>
              </a:rPr>
              <a:t>Yearly re-training; threshold review with finance</a:t>
            </a:r>
            <a:endParaRPr lang="en-US" sz="1100" dirty="0"/>
          </a:p>
        </p:txBody>
      </p:sp>
      <p:sp>
        <p:nvSpPr>
          <p:cNvPr id="18" name="rules title"/>
          <p:cNvSpPr txBox="1"/>
          <p:nvPr/>
        </p:nvSpPr>
        <p:spPr>
          <a:xfrm>
            <a:off x="457200" y="3657600"/>
            <a:ext cx="8229600" cy="320040"/>
          </a:xfrm>
          <a:prstGeom prst="rect">
            <a:avLst/>
          </a:prstGeom>
          <a:noFill/>
          <a:ln/>
        </p:spPr>
        <p:txBody>
          <a:bodyPr wrap="square" lIns="0" tIns="0" rIns="0" bIns="0" rtlCol="0" anchor="ctr"/>
          <a:lstStyle/>
          <a:p>
            <a:pPr indent="0" marL="0">
              <a:buNone/>
            </a:pPr>
            <a:r>
              <a:rPr lang="en-US" sz="1300" b="1" dirty="0">
                <a:solidFill>
                  <a:schemeClr val="accent2"/>
                </a:solidFill>
              </a:rPr>
              <a:t>Policy rules to adopt now, independent of the model</a:t>
            </a:r>
            <a:endParaRPr lang="en-US" sz="1300" dirty="0"/>
          </a:p>
        </p:txBody>
      </p:sp>
      <p:sp>
        <p:nvSpPr>
          <p:cNvPr id="19" name="rules bullets"/>
          <p:cNvSpPr txBox="1"/>
          <p:nvPr/>
        </p:nvSpPr>
        <p:spPr>
          <a:xfrm>
            <a:off x="457200" y="4005072"/>
            <a:ext cx="8229600" cy="73152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chemeClr val="tx1"/>
                </a:solidFill>
              </a:rPr>
              <a:t>Decline or escalate when the debt-to-income ratio is above 45%, when there are two or more delinquent credit lines, or two or more major derogatory reports.</a:t>
            </a:r>
            <a:endParaRPr lang="en-US" sz="1150" dirty="0"/>
          </a:p>
          <a:p>
            <a:pPr marL="177800" indent="-177800">
              <a:spcAft>
                <a:spcPts val="800"/>
              </a:spcAft>
              <a:buSzPct val="100000"/>
              <a:buChar char="•"/>
            </a:pPr>
            <a:r>
              <a:rPr lang="en-US" sz="1150" dirty="0">
                <a:solidFill>
                  <a:schemeClr val="tx1"/>
                </a:solidFill>
              </a:rPr>
              <a:t>Treat an application with no verifiable income or property valuation as high risk, never as neutral.</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Risks, challenges and further analysis</a:t>
            </a:r>
            <a:endParaRPr lang="en-US" sz="2400" dirty="0"/>
          </a:p>
        </p:txBody>
      </p:sp>
      <p:sp>
        <p:nvSpPr>
          <p:cNvPr id="3" name="risks card"/>
          <p:cNvSpPr/>
          <p:nvPr/>
        </p:nvSpPr>
        <p:spPr>
          <a:xfrm>
            <a:off x="457200" y="1188720"/>
            <a:ext cx="4069080" cy="3520440"/>
          </a:xfrm>
          <a:prstGeom prst="roundRect">
            <a:avLst>
              <a:gd name="adj" fmla="val 2078"/>
            </a:avLst>
          </a:prstGeom>
          <a:solidFill>
            <a:schemeClr val="bg2"/>
          </a:solidFill>
          <a:ln w="9525">
            <a:solidFill>
              <a:schemeClr val="bg2"/>
            </a:solidFill>
            <a:prstDash val="solid"/>
          </a:ln>
        </p:spPr>
      </p:sp>
      <p:sp>
        <p:nvSpPr>
          <p:cNvPr id="4" name="risks title"/>
          <p:cNvSpPr txBox="1"/>
          <p:nvPr/>
        </p:nvSpPr>
        <p:spPr>
          <a:xfrm>
            <a:off x="640080" y="1280160"/>
            <a:ext cx="3749040" cy="365760"/>
          </a:xfrm>
          <a:prstGeom prst="rect">
            <a:avLst/>
          </a:prstGeom>
          <a:noFill/>
          <a:ln/>
        </p:spPr>
        <p:txBody>
          <a:bodyPr wrap="square" lIns="0" tIns="0" rIns="0" bIns="0" rtlCol="0" anchor="ctr"/>
          <a:lstStyle/>
          <a:p>
            <a:pPr indent="0" marL="0">
              <a:buNone/>
            </a:pPr>
            <a:r>
              <a:rPr lang="en-US" sz="1400" b="1" dirty="0">
                <a:solidFill>
                  <a:schemeClr val="accent2"/>
                </a:solidFill>
              </a:rPr>
              <a:t>Risks and mitigations</a:t>
            </a:r>
            <a:endParaRPr lang="en-US" sz="1400" dirty="0"/>
          </a:p>
        </p:txBody>
      </p:sp>
      <p:sp>
        <p:nvSpPr>
          <p:cNvPr id="5" name="risks bullets"/>
          <p:cNvSpPr txBox="1"/>
          <p:nvPr/>
        </p:nvSpPr>
        <p:spPr>
          <a:xfrm>
            <a:off x="64008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Selection bias: data covers approved loans only. Mitigate with a shadow period on all applications and reject inference.</a:t>
            </a:r>
            <a:endParaRPr lang="en-US" sz="1100" dirty="0"/>
          </a:p>
          <a:p>
            <a:pPr marL="177800" indent="-177800">
              <a:spcAft>
                <a:spcPts val="800"/>
              </a:spcAft>
              <a:buSzPct val="100000"/>
              <a:buChar char="•"/>
            </a:pPr>
            <a:r>
              <a:rPr lang="en-US" sz="1100" dirty="0">
                <a:solidFill>
                  <a:schemeClr val="tx1"/>
                </a:solidFill>
              </a:rPr>
              <a:t>The 'ratio missing' signal will change once verification is mandatory. Re-train after the rule is in place.</a:t>
            </a:r>
            <a:endParaRPr lang="en-US" sz="1100" dirty="0"/>
          </a:p>
          <a:p>
            <a:pPr marL="177800" indent="-177800">
              <a:spcAft>
                <a:spcPts val="800"/>
              </a:spcAft>
              <a:buSzPct val="100000"/>
              <a:buChar char="•"/>
            </a:pPr>
            <a:r>
              <a:rPr lang="en-US" sz="1100" dirty="0">
                <a:solidFill>
                  <a:schemeClr val="tx1"/>
                </a:solidFill>
              </a:rPr>
              <a:t>Economic drift: monitor monthly, re-train yearly, review the threshold.</a:t>
            </a:r>
            <a:endParaRPr lang="en-US" sz="1100" dirty="0"/>
          </a:p>
          <a:p>
            <a:pPr marL="177800" indent="-177800">
              <a:spcAft>
                <a:spcPts val="800"/>
              </a:spcAft>
              <a:buSzPct val="100000"/>
              <a:buChar char="•"/>
            </a:pPr>
            <a:r>
              <a:rPr lang="en-US" sz="1100" dirty="0">
                <a:solidFill>
                  <a:schemeClr val="tx1"/>
                </a:solidFill>
              </a:rPr>
              <a:t>Fair lending: keep occupation out of the model; disparate-impact testing before launch and annually.</a:t>
            </a:r>
            <a:endParaRPr lang="en-US" sz="1100" dirty="0"/>
          </a:p>
          <a:p>
            <a:pPr marL="177800" indent="-177800">
              <a:spcAft>
                <a:spcPts val="800"/>
              </a:spcAft>
              <a:buSzPct val="100000"/>
              <a:buChar char="•"/>
            </a:pPr>
            <a:r>
              <a:rPr lang="en-US" sz="1100" dirty="0">
                <a:solidFill>
                  <a:schemeClr val="tx1"/>
                </a:solidFill>
              </a:rPr>
              <a:t>Explainability and automation bias: tree-based reason codes, a referral band, documented overrides.</a:t>
            </a:r>
            <a:endParaRPr lang="en-US" sz="1100" dirty="0"/>
          </a:p>
        </p:txBody>
      </p:sp>
      <p:sp>
        <p:nvSpPr>
          <p:cNvPr id="6" name="next steps card"/>
          <p:cNvSpPr/>
          <p:nvPr/>
        </p:nvSpPr>
        <p:spPr>
          <a:xfrm>
            <a:off x="4709160" y="1188720"/>
            <a:ext cx="4069080" cy="3520440"/>
          </a:xfrm>
          <a:prstGeom prst="roundRect">
            <a:avLst>
              <a:gd name="adj" fmla="val 2078"/>
            </a:avLst>
          </a:prstGeom>
          <a:solidFill>
            <a:schemeClr val="bg2"/>
          </a:solidFill>
          <a:ln w="9525">
            <a:solidFill>
              <a:schemeClr val="bg2"/>
            </a:solidFill>
            <a:prstDash val="solid"/>
          </a:ln>
        </p:spPr>
      </p:sp>
      <p:sp>
        <p:nvSpPr>
          <p:cNvPr id="7" name="next title"/>
          <p:cNvSpPr txBox="1"/>
          <p:nvPr/>
        </p:nvSpPr>
        <p:spPr>
          <a:xfrm>
            <a:off x="4892040" y="1280160"/>
            <a:ext cx="3749040" cy="365760"/>
          </a:xfrm>
          <a:prstGeom prst="rect">
            <a:avLst/>
          </a:prstGeom>
          <a:noFill/>
          <a:ln/>
        </p:spPr>
        <p:txBody>
          <a:bodyPr wrap="square" lIns="0" tIns="0" rIns="0" bIns="0" rtlCol="0" anchor="ctr"/>
          <a:lstStyle/>
          <a:p>
            <a:pPr indent="0" marL="0">
              <a:buNone/>
            </a:pPr>
            <a:r>
              <a:rPr lang="en-US" sz="1400" b="1" dirty="0">
                <a:solidFill>
                  <a:schemeClr val="accent1"/>
                </a:solidFill>
              </a:rPr>
              <a:t>Further analysis</a:t>
            </a:r>
            <a:endParaRPr lang="en-US" sz="1400" dirty="0"/>
          </a:p>
        </p:txBody>
      </p:sp>
      <p:sp>
        <p:nvSpPr>
          <p:cNvPr id="8" name="next bullets"/>
          <p:cNvSpPr txBox="1"/>
          <p:nvPr/>
        </p:nvSpPr>
        <p:spPr>
          <a:xfrm>
            <a:off x="489204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Reject inference to cover applicants the old process declined.</a:t>
            </a:r>
            <a:endParaRPr lang="en-US" sz="1100" dirty="0"/>
          </a:p>
          <a:p>
            <a:pPr marL="177800" indent="-177800">
              <a:spcAft>
                <a:spcPts val="800"/>
              </a:spcAft>
              <a:buSzPct val="100000"/>
              <a:buChar char="•"/>
            </a:pPr>
            <a:r>
              <a:rPr lang="en-US" sz="1100" dirty="0">
                <a:solidFill>
                  <a:schemeClr val="tx1"/>
                </a:solidFill>
              </a:rPr>
              <a:t>Engineered features: loan-to-value and payment-to-income ratios.</a:t>
            </a:r>
            <a:endParaRPr lang="en-US" sz="1100" dirty="0"/>
          </a:p>
          <a:p>
            <a:pPr marL="177800" indent="-177800">
              <a:spcAft>
                <a:spcPts val="800"/>
              </a:spcAft>
              <a:buSzPct val="100000"/>
              <a:buChar char="•"/>
            </a:pPr>
            <a:r>
              <a:rPr lang="en-US" sz="1100" dirty="0">
                <a:solidFill>
                  <a:schemeClr val="tx1"/>
                </a:solidFill>
              </a:rPr>
              <a:t>Gradient boosting and probability calibration, so a score of 0.25 means a 25% chance of default.</a:t>
            </a:r>
            <a:endParaRPr lang="en-US" sz="1100" dirty="0"/>
          </a:p>
          <a:p>
            <a:pPr marL="177800" indent="-177800">
              <a:spcAft>
                <a:spcPts val="800"/>
              </a:spcAft>
              <a:buSzPct val="100000"/>
              <a:buChar char="•"/>
            </a:pPr>
            <a:r>
              <a:rPr lang="en-US" sz="1100" dirty="0">
                <a:solidFill>
                  <a:schemeClr val="tx1"/>
                </a:solidFill>
              </a:rPr>
              <a:t>Time-based validation once application dates are available.</a:t>
            </a:r>
            <a:endParaRPr lang="en-US" sz="1100" dirty="0"/>
          </a:p>
          <a:p>
            <a:pPr marL="177800" indent="-177800">
              <a:spcAft>
                <a:spcPts val="800"/>
              </a:spcAft>
              <a:buSzPct val="100000"/>
              <a:buChar char="•"/>
            </a:pPr>
            <a:r>
              <a:rPr lang="en-US" sz="1100" dirty="0">
                <a:solidFill>
                  <a:schemeClr val="tx1"/>
                </a:solidFill>
              </a:rPr>
              <a:t>Risk-based pricing for the referral band; early-warning scoring on existing loans.</a:t>
            </a:r>
            <a:endParaRPr lang="en-US" sz="1100" dirty="0"/>
          </a:p>
          <a:p>
            <a:pPr marL="177800" indent="-177800">
              <a:spcAft>
                <a:spcPts val="800"/>
              </a:spcAft>
              <a:buSzPct val="100000"/>
              <a:buChar char="•"/>
            </a:pPr>
            <a:r>
              <a:rPr lang="en-US" sz="1100" dirty="0">
                <a:solidFill>
                  <a:schemeClr val="tx1"/>
                </a:solidFill>
              </a:rPr>
              <a:t>Per-applicant SHAP-style reason codes in applicant-friendly language.</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Questions and discussion</a:t>
            </a:r>
            <a:endParaRPr lang="en-US" sz="1800" dirty="0"/>
          </a:p>
          <a:p>
            <a:pPr algn="l" indent="0" marL="0">
              <a:buNone/>
            </a:pPr>
            <a:r>
              <a:rPr lang="en-US" sz="1300" dirty="0">
                <a:solidFill>
                  <a:schemeClr val="accent4"/>
                </a:solidFill>
              </a:rPr>
              <a:t>Catch 93% of defaulters, explain every decision, and save an indicative $9M a year.</a:t>
            </a:r>
            <a:endParaRPr lang="en-US" sz="1800" dirty="0"/>
          </a:p>
        </p:txBody>
      </p:sp>
      <p:sp>
        <p:nvSpPr>
          <p:cNvPr id="4" name="clos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A: all models on the held-out test set</a:t>
            </a:r>
            <a:endParaRPr lang="en-US" sz="2400" dirty="0"/>
          </a:p>
        </p:txBody>
      </p:sp>
      <p:graphicFrame>
        <p:nvGraphicFramePr>
          <p:cNvPr id="17" name="full comparison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017520"/>
                <a:gridCol w="868680"/>
                <a:gridCol w="868680"/>
                <a:gridCol w="868680"/>
                <a:gridCol w="868680"/>
                <a:gridCol w="868680"/>
                <a:gridCol w="868680"/>
              </a:tblGrid>
              <a:tr h="30175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Recall</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Precision</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F1</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Accuracy</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ROC-AUC</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Train recall</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301752">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Logistic Regression (plain)</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0.569</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0.772</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0.655</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0.880</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0.907</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0.643</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01752">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Logistic Regression (balanced)</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0.798</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0.612</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0.693</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0.859</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0.906</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0.823</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01752">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Decision Tree (default)</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0.686</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0.706</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0.696</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0.880</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0.807</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01752">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Decision Tree (class weights)</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0.616</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0.728</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0.668</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0.878</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0.779</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01752">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Decision Tree (tuned: balanced, min 20 per leaf)</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0.818</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0.533</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0.645</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0.820</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0.879</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0.924</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01752">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Random Forest (default, 200 trees)</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0.689</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0.845</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0.759</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0.913</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0.962</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01752">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Random Forest (class weights 0.2/0.8)</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0.784</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0.773</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0.779</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0.911</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0.958</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01752">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Random Forest (tuned for recall)</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0.784</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0.653</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0.712</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0.874</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0.933</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0.921</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01752">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Random Forest (tuned, 12 features)</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0.782</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0.664</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0.718</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0.878</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0.928</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0.917</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01752">
                <a:tc>
                  <a:txBody>
                    <a:bodyPr/>
                    <a:lstStyle/>
                    <a:p>
                      <a:pPr algn="l" indent="0" marL="0">
                        <a:buNone/>
                      </a:pPr>
                      <a:r>
                        <a:rPr lang="en-US" sz="1050" b="1" dirty="0">
                          <a:solidFill>
                            <a:srgbClr val="1F1F1F"/>
                          </a:solidFill>
                          <a:latin typeface="Calibri" pitchFamily="34" charset="0"/>
                          <a:ea typeface="Calibri" pitchFamily="34" charset="-122"/>
                          <a:cs typeface="Calibri" pitchFamily="34" charset="-120"/>
                        </a:rPr>
                        <a:t>Proposed: RF class weights, threshold 0.25</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b="1" dirty="0">
                          <a:solidFill>
                            <a:srgbClr val="1F1F1F"/>
                          </a:solidFill>
                          <a:latin typeface="Calibri" pitchFamily="34" charset="0"/>
                          <a:ea typeface="Calibri" pitchFamily="34" charset="-122"/>
                          <a:cs typeface="Calibri" pitchFamily="34" charset="-120"/>
                        </a:rPr>
                        <a:t>0.933</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b="1" dirty="0">
                          <a:solidFill>
                            <a:srgbClr val="1F1F1F"/>
                          </a:solidFill>
                          <a:latin typeface="Calibri" pitchFamily="34" charset="0"/>
                          <a:ea typeface="Calibri" pitchFamily="34" charset="-122"/>
                          <a:cs typeface="Calibri" pitchFamily="34" charset="-120"/>
                        </a:rPr>
                        <a:t>0.670</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b="1" dirty="0">
                          <a:solidFill>
                            <a:srgbClr val="1F1F1F"/>
                          </a:solidFill>
                          <a:latin typeface="Calibri" pitchFamily="34" charset="0"/>
                          <a:ea typeface="Calibri" pitchFamily="34" charset="-122"/>
                          <a:cs typeface="Calibri" pitchFamily="34" charset="-120"/>
                        </a:rPr>
                        <a:t>0.780</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b="1" dirty="0">
                          <a:solidFill>
                            <a:srgbClr val="1F1F1F"/>
                          </a:solidFill>
                          <a:latin typeface="Calibri" pitchFamily="34" charset="0"/>
                          <a:ea typeface="Calibri" pitchFamily="34" charset="-122"/>
                          <a:cs typeface="Calibri" pitchFamily="34" charset="-120"/>
                        </a:rPr>
                        <a:t>0.895</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b="1" dirty="0">
                          <a:solidFill>
                            <a:srgbClr val="1F1F1F"/>
                          </a:solidFill>
                          <a:latin typeface="Calibri" pitchFamily="34" charset="0"/>
                          <a:ea typeface="Calibri" pitchFamily="34" charset="-122"/>
                          <a:cs typeface="Calibri" pitchFamily="34" charset="-120"/>
                        </a:rPr>
                        <a:t>0.958</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table footnote"/>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00" dirty="0">
                <a:solidFill>
                  <a:schemeClr val="accent6"/>
                </a:solidFill>
              </a:rPr>
              <a:t>Train recall of 1.000 marks the un-pruned models that memorised the training data. Grid search used stratified cross-validation on the training set only, scoring on recall.</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B: what the Random Forest relies on</a:t>
            </a:r>
            <a:endParaRPr lang="en-US" sz="2400" dirty="0"/>
          </a:p>
        </p:txBody>
      </p:sp>
      <p:graphicFrame>
        <p:nvGraphicFramePr>
          <p:cNvPr id="3" name="feature importance chart" descr=""/>
          <p:cNvGraphicFramePr/>
          <p:nvPr/>
        </p:nvGraphicFramePr>
        <p:xfrm>
          <a:off x="365760" y="1097280"/>
          <a:ext cx="5303520" cy="3566160"/>
        </p:xfrm>
        <a:graphic xmlns:a="http://schemas.openxmlformats.org/drawingml/2006/main">
          <a:graphicData uri="http://schemas.openxmlformats.org/drawingml/2006/chart">
            <c:chart xmlns:c="http://schemas.openxmlformats.org/drawingml/2006/chart" r:id="rId1"/>
          </a:graphicData>
        </a:graphic>
      </p:graphicFrame>
      <p:sp>
        <p:nvSpPr>
          <p:cNvPr id="4" name="importance bullets"/>
          <p:cNvSpPr txBox="1"/>
          <p:nvPr/>
        </p:nvSpPr>
        <p:spPr>
          <a:xfrm>
            <a:off x="5852160" y="1143000"/>
            <a:ext cx="2926080" cy="356616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The debt-to-income ratio and its missing flag carry more than half (53%) of the forest's decision power.</a:t>
            </a:r>
            <a:endParaRPr lang="en-US" sz="1200" dirty="0"/>
          </a:p>
          <a:p>
            <a:pPr marL="177800" indent="-177800">
              <a:spcAft>
                <a:spcPts val="800"/>
              </a:spcAft>
              <a:buSzPct val="100000"/>
              <a:buChar char="•"/>
            </a:pPr>
            <a:r>
              <a:rPr lang="en-US" sz="1200" dirty="0">
                <a:solidFill>
                  <a:schemeClr val="tx1"/>
                </a:solidFill>
              </a:rPr>
              <a:t>Next come repayment history (delinquencies, derogatory reports) and depth of credit history.</a:t>
            </a:r>
            <a:endParaRPr lang="en-US" sz="1200" dirty="0"/>
          </a:p>
          <a:p>
            <a:pPr marL="177800" indent="-177800">
              <a:spcAft>
                <a:spcPts val="800"/>
              </a:spcAft>
              <a:buSzPct val="100000"/>
              <a:buChar char="•"/>
            </a:pPr>
            <a:r>
              <a:rPr lang="en-US" sz="1200" dirty="0">
                <a:solidFill>
                  <a:schemeClr val="tx1"/>
                </a:solidFill>
              </a:rPr>
              <a:t>Loan, property and mortgage amounts matter in combination but are weak on their own.</a:t>
            </a:r>
            <a:endParaRPr lang="en-US" sz="1200" dirty="0"/>
          </a:p>
          <a:p>
            <a:pPr marL="177800" indent="-177800">
              <a:spcAft>
                <a:spcPts val="800"/>
              </a:spcAft>
              <a:buSzPct val="100000"/>
              <a:buChar char="•"/>
            </a:pPr>
            <a:r>
              <a:rPr lang="en-US" sz="1200" dirty="0">
                <a:solidFill>
                  <a:schemeClr val="tx1"/>
                </a:solidFill>
              </a:rPr>
              <a:t>Occupation and loan-purpose dummies rank at the bottom; removing them and nine minor flags left performance unchanged (12-feature model).</a:t>
            </a:r>
            <a:endParaRPr lang="en-US" sz="1200" dirty="0"/>
          </a:p>
          <a:p>
            <a:pPr marL="177800" indent="-177800">
              <a:spcAft>
                <a:spcPts val="800"/>
              </a:spcAft>
              <a:buSzPct val="100000"/>
              <a:buChar char="•"/>
            </a:pPr>
            <a:r>
              <a:rPr lang="en-US" sz="1200" dirty="0">
                <a:solidFill>
                  <a:schemeClr val="tx1"/>
                </a:solidFill>
              </a:rPr>
              <a:t>Logistic-regression coefficients and the decision-tree rules point to the same drivers, so the signal is stable across techniques.</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C: the explanation layer, rules read from the pruned Decision Tree</a:t>
            </a:r>
            <a:endParaRPr lang="en-US" sz="2400" dirty="0"/>
          </a:p>
        </p:txBody>
      </p:sp>
      <p:sp>
        <p:nvSpPr>
          <p:cNvPr id="3" name="step 1"/>
          <p:cNvSpPr/>
          <p:nvPr/>
        </p:nvSpPr>
        <p:spPr>
          <a:xfrm>
            <a:off x="457200" y="1280160"/>
            <a:ext cx="384048" cy="384048"/>
          </a:xfrm>
          <a:prstGeom prst="ellipse">
            <a:avLst/>
          </a:prstGeom>
          <a:solidFill>
            <a:schemeClr val="accent1"/>
          </a:solidFill>
          <a:ln w="12700">
            <a:solidFill>
              <a:schemeClr val="accent1"/>
            </a:solidFill>
            <a:prstDash val="solid"/>
          </a:ln>
        </p:spPr>
      </p:sp>
      <p:sp>
        <p:nvSpPr>
          <p:cNvPr id="4" name="step number 1"/>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rule question 1"/>
          <p:cNvSpPr txBox="1"/>
          <p:nvPr/>
        </p:nvSpPr>
        <p:spPr>
          <a:xfrm>
            <a:off x="1005840" y="1188720"/>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Is the debt-to-income ratio missing?</a:t>
            </a:r>
            <a:endParaRPr lang="en-US" sz="1250" dirty="0"/>
          </a:p>
        </p:txBody>
      </p:sp>
      <p:sp>
        <p:nvSpPr>
          <p:cNvPr id="6" name="rule answer 1"/>
          <p:cNvSpPr txBox="1"/>
          <p:nvPr/>
        </p:nvSpPr>
        <p:spPr>
          <a:xfrm>
            <a:off x="4389120" y="1188720"/>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highest-risk branch (62% historical default). Verify income or decline.</a:t>
            </a:r>
            <a:endParaRPr lang="en-US" sz="1200" dirty="0"/>
          </a:p>
        </p:txBody>
      </p:sp>
      <p:sp>
        <p:nvSpPr>
          <p:cNvPr id="7" name="rule divider 1"/>
          <p:cNvSpPr/>
          <p:nvPr/>
        </p:nvSpPr>
        <p:spPr>
          <a:xfrm>
            <a:off x="1005840" y="1847088"/>
            <a:ext cx="7772400" cy="0"/>
          </a:xfrm>
          <a:prstGeom prst="line">
            <a:avLst/>
          </a:prstGeom>
          <a:noFill/>
          <a:ln w="9525">
            <a:solidFill>
              <a:srgbClr val="E3E3E3"/>
            </a:solidFill>
            <a:prstDash val="solid"/>
          </a:ln>
        </p:spPr>
      </p:sp>
      <p:sp>
        <p:nvSpPr>
          <p:cNvPr id="8" name="step 2"/>
          <p:cNvSpPr/>
          <p:nvPr/>
        </p:nvSpPr>
        <p:spPr>
          <a:xfrm>
            <a:off x="457200" y="1975104"/>
            <a:ext cx="384048" cy="384048"/>
          </a:xfrm>
          <a:prstGeom prst="ellipse">
            <a:avLst/>
          </a:prstGeom>
          <a:solidFill>
            <a:schemeClr val="accent1"/>
          </a:solidFill>
          <a:ln w="12700">
            <a:solidFill>
              <a:schemeClr val="accent1"/>
            </a:solidFill>
            <a:prstDash val="solid"/>
          </a:ln>
        </p:spPr>
      </p:sp>
      <p:sp>
        <p:nvSpPr>
          <p:cNvPr id="9" name="step number 2"/>
          <p:cNvSpPr txBox="1"/>
          <p:nvPr/>
        </p:nvSpPr>
        <p:spPr>
          <a:xfrm>
            <a:off x="457200" y="197510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rule question 2"/>
          <p:cNvSpPr txBox="1"/>
          <p:nvPr/>
        </p:nvSpPr>
        <p:spPr>
          <a:xfrm>
            <a:off x="1005840" y="1883664"/>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If recorded, is the ratio above about 44%?</a:t>
            </a:r>
            <a:endParaRPr lang="en-US" sz="1250" dirty="0"/>
          </a:p>
        </p:txBody>
      </p:sp>
      <p:sp>
        <p:nvSpPr>
          <p:cNvPr id="11" name="rule answer 2"/>
          <p:cNvSpPr txBox="1"/>
          <p:nvPr/>
        </p:nvSpPr>
        <p:spPr>
          <a:xfrm>
            <a:off x="4389120" y="1883664"/>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almost certain default in the data (87-100%). Decline.</a:t>
            </a:r>
            <a:endParaRPr lang="en-US" sz="1200" dirty="0"/>
          </a:p>
        </p:txBody>
      </p:sp>
      <p:sp>
        <p:nvSpPr>
          <p:cNvPr id="12" name="rule divider 2"/>
          <p:cNvSpPr/>
          <p:nvPr/>
        </p:nvSpPr>
        <p:spPr>
          <a:xfrm>
            <a:off x="1005840" y="2542032"/>
            <a:ext cx="7772400" cy="0"/>
          </a:xfrm>
          <a:prstGeom prst="line">
            <a:avLst/>
          </a:prstGeom>
          <a:noFill/>
          <a:ln w="9525">
            <a:solidFill>
              <a:srgbClr val="E3E3E3"/>
            </a:solidFill>
            <a:prstDash val="solid"/>
          </a:ln>
        </p:spPr>
      </p:sp>
      <p:sp>
        <p:nvSpPr>
          <p:cNvPr id="13" name="step 3"/>
          <p:cNvSpPr/>
          <p:nvPr/>
        </p:nvSpPr>
        <p:spPr>
          <a:xfrm>
            <a:off x="457200" y="2670048"/>
            <a:ext cx="384048" cy="384048"/>
          </a:xfrm>
          <a:prstGeom prst="ellipse">
            <a:avLst/>
          </a:prstGeom>
          <a:solidFill>
            <a:schemeClr val="accent1"/>
          </a:solidFill>
          <a:ln w="12700">
            <a:solidFill>
              <a:schemeClr val="accent1"/>
            </a:solidFill>
            <a:prstDash val="solid"/>
          </a:ln>
        </p:spPr>
      </p:sp>
      <p:sp>
        <p:nvSpPr>
          <p:cNvPr id="14" name="step number 3"/>
          <p:cNvSpPr txBox="1"/>
          <p:nvPr/>
        </p:nvSpPr>
        <p:spPr>
          <a:xfrm>
            <a:off x="457200" y="26700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rule question 3"/>
          <p:cNvSpPr txBox="1"/>
          <p:nvPr/>
        </p:nvSpPr>
        <p:spPr>
          <a:xfrm>
            <a:off x="1005840" y="2578608"/>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Any delinquent credit lines?</a:t>
            </a:r>
            <a:endParaRPr lang="en-US" sz="1250" dirty="0"/>
          </a:p>
        </p:txBody>
      </p:sp>
      <p:sp>
        <p:nvSpPr>
          <p:cNvPr id="16" name="rule answer 3"/>
          <p:cNvSpPr txBox="1"/>
          <p:nvPr/>
        </p:nvSpPr>
        <p:spPr>
          <a:xfrm>
            <a:off x="4389120" y="2578608"/>
            <a:ext cx="4389120" cy="603504"/>
          </a:xfrm>
          <a:prstGeom prst="rect">
            <a:avLst/>
          </a:prstGeom>
          <a:noFill/>
          <a:ln/>
        </p:spPr>
        <p:txBody>
          <a:bodyPr wrap="square" lIns="0" tIns="0" rIns="0" bIns="0" rtlCol="0" anchor="ctr"/>
          <a:lstStyle/>
          <a:p>
            <a:pPr indent="0" marL="0">
              <a:buNone/>
            </a:pPr>
            <a:r>
              <a:rPr lang="en-US" sz="1200" dirty="0">
                <a:solidFill>
                  <a:schemeClr val="tx1"/>
                </a:solidFill>
              </a:rPr>
              <a:t>One or more pushes the applicant back into the risky branch, even with a healthy ratio.</a:t>
            </a:r>
            <a:endParaRPr lang="en-US" sz="1200" dirty="0"/>
          </a:p>
        </p:txBody>
      </p:sp>
      <p:sp>
        <p:nvSpPr>
          <p:cNvPr id="17" name="rule divider 3"/>
          <p:cNvSpPr/>
          <p:nvPr/>
        </p:nvSpPr>
        <p:spPr>
          <a:xfrm>
            <a:off x="1005840" y="3236976"/>
            <a:ext cx="7772400" cy="0"/>
          </a:xfrm>
          <a:prstGeom prst="line">
            <a:avLst/>
          </a:prstGeom>
          <a:noFill/>
          <a:ln w="9525">
            <a:solidFill>
              <a:srgbClr val="E3E3E3"/>
            </a:solidFill>
            <a:prstDash val="solid"/>
          </a:ln>
        </p:spPr>
      </p:sp>
      <p:sp>
        <p:nvSpPr>
          <p:cNvPr id="18" name="step 4"/>
          <p:cNvSpPr/>
          <p:nvPr/>
        </p:nvSpPr>
        <p:spPr>
          <a:xfrm>
            <a:off x="457200" y="3364992"/>
            <a:ext cx="384048" cy="384048"/>
          </a:xfrm>
          <a:prstGeom prst="ellipse">
            <a:avLst/>
          </a:prstGeom>
          <a:solidFill>
            <a:schemeClr val="accent1"/>
          </a:solidFill>
          <a:ln w="12700">
            <a:solidFill>
              <a:schemeClr val="accent1"/>
            </a:solidFill>
            <a:prstDash val="solid"/>
          </a:ln>
        </p:spPr>
      </p:sp>
      <p:sp>
        <p:nvSpPr>
          <p:cNvPr id="19" name="step number 4"/>
          <p:cNvSpPr txBox="1"/>
          <p:nvPr/>
        </p:nvSpPr>
        <p:spPr>
          <a:xfrm>
            <a:off x="457200" y="336499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rule question 4"/>
          <p:cNvSpPr txBox="1"/>
          <p:nvPr/>
        </p:nvSpPr>
        <p:spPr>
          <a:xfrm>
            <a:off x="1005840" y="3273552"/>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Any major derogatory reports, and how long is the credit history?</a:t>
            </a:r>
            <a:endParaRPr lang="en-US" sz="1250" dirty="0"/>
          </a:p>
        </p:txBody>
      </p:sp>
      <p:sp>
        <p:nvSpPr>
          <p:cNvPr id="21" name="rule answer 4"/>
          <p:cNvSpPr txBox="1"/>
          <p:nvPr/>
        </p:nvSpPr>
        <p:spPr>
          <a:xfrm>
            <a:off x="4389120" y="3273552"/>
            <a:ext cx="4389120" cy="603504"/>
          </a:xfrm>
          <a:prstGeom prst="rect">
            <a:avLst/>
          </a:prstGeom>
          <a:noFill/>
          <a:ln/>
        </p:spPr>
        <p:txBody>
          <a:bodyPr wrap="square" lIns="0" tIns="0" rIns="0" bIns="0" rtlCol="0" anchor="ctr"/>
          <a:lstStyle/>
          <a:p>
            <a:pPr indent="0" marL="0">
              <a:buNone/>
            </a:pPr>
            <a:r>
              <a:rPr lang="en-US" sz="1200" dirty="0">
                <a:solidFill>
                  <a:schemeClr val="tx1"/>
                </a:solidFill>
              </a:rPr>
              <a:t>Short history (under about 15 years) with a derogatory report is risky; long clean histories are safe.</a:t>
            </a:r>
            <a:endParaRPr lang="en-US" sz="1200" dirty="0"/>
          </a:p>
        </p:txBody>
      </p:sp>
      <p:sp>
        <p:nvSpPr>
          <p:cNvPr id="22" name="rule divider 4"/>
          <p:cNvSpPr/>
          <p:nvPr/>
        </p:nvSpPr>
        <p:spPr>
          <a:xfrm>
            <a:off x="1005840" y="3931920"/>
            <a:ext cx="7772400" cy="0"/>
          </a:xfrm>
          <a:prstGeom prst="line">
            <a:avLst/>
          </a:prstGeom>
          <a:noFill/>
          <a:ln w="9525">
            <a:solidFill>
              <a:srgbClr val="E3E3E3"/>
            </a:solidFill>
            <a:prstDash val="solid"/>
          </a:ln>
        </p:spPr>
      </p:sp>
      <p:sp>
        <p:nvSpPr>
          <p:cNvPr id="23" name="step 5"/>
          <p:cNvSpPr/>
          <p:nvPr/>
        </p:nvSpPr>
        <p:spPr>
          <a:xfrm>
            <a:off x="457200" y="4059936"/>
            <a:ext cx="384048" cy="384048"/>
          </a:xfrm>
          <a:prstGeom prst="ellipse">
            <a:avLst/>
          </a:prstGeom>
          <a:solidFill>
            <a:schemeClr val="accent1"/>
          </a:solidFill>
          <a:ln w="12700">
            <a:solidFill>
              <a:schemeClr val="accent1"/>
            </a:solidFill>
            <a:prstDash val="solid"/>
          </a:ln>
        </p:spPr>
      </p:sp>
      <p:sp>
        <p:nvSpPr>
          <p:cNvPr id="24" name="step number 5"/>
          <p:cNvSpPr txBox="1"/>
          <p:nvPr/>
        </p:nvSpPr>
        <p:spPr>
          <a:xfrm>
            <a:off x="457200" y="40599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rule question 5"/>
          <p:cNvSpPr txBox="1"/>
          <p:nvPr/>
        </p:nvSpPr>
        <p:spPr>
          <a:xfrm>
            <a:off x="1005840" y="3968496"/>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Loan size, mortgage balance and property value</a:t>
            </a:r>
            <a:endParaRPr lang="en-US" sz="1250" dirty="0"/>
          </a:p>
        </p:txBody>
      </p:sp>
      <p:sp>
        <p:nvSpPr>
          <p:cNvPr id="26" name="rule answer 5"/>
          <p:cNvSpPr txBox="1"/>
          <p:nvPr/>
        </p:nvSpPr>
        <p:spPr>
          <a:xfrm>
            <a:off x="4389120" y="3968496"/>
            <a:ext cx="4389120" cy="603504"/>
          </a:xfrm>
          <a:prstGeom prst="rect">
            <a:avLst/>
          </a:prstGeom>
          <a:noFill/>
          <a:ln/>
        </p:spPr>
        <p:txBody>
          <a:bodyPr wrap="square" lIns="0" tIns="0" rIns="0" bIns="0" rtlCol="0" anchor="ctr"/>
          <a:lstStyle/>
          <a:p>
            <a:pPr indent="0" marL="0">
              <a:buNone/>
            </a:pPr>
            <a:r>
              <a:rPr lang="en-US" sz="1200" dirty="0">
                <a:solidFill>
                  <a:schemeClr val="tx1"/>
                </a:solidFill>
              </a:rPr>
              <a:t>Refine the decision deeper in the tree; small loans with weak history lean towards default.</a:t>
            </a:r>
            <a:endParaRPr lang="en-US" sz="1200" dirty="0"/>
          </a:p>
        </p:txBody>
      </p:sp>
      <p:sp>
        <p:nvSpPr>
          <p:cNvPr id="27" name="tree footnote"/>
          <p:cNvSpPr txBox="1"/>
          <p:nvPr/>
        </p:nvSpPr>
        <p:spPr>
          <a:xfrm>
            <a:off x="457200" y="4572000"/>
            <a:ext cx="8229600" cy="228600"/>
          </a:xfrm>
          <a:prstGeom prst="rect">
            <a:avLst/>
          </a:prstGeom>
          <a:noFill/>
          <a:ln/>
        </p:spPr>
        <p:txBody>
          <a:bodyPr wrap="square" lIns="0" tIns="0" rIns="0" bIns="0" rtlCol="0" anchor="ctr"/>
          <a:lstStyle/>
          <a:p>
            <a:pPr indent="0" marL="0">
              <a:buNone/>
            </a:pPr>
            <a:r>
              <a:rPr lang="en-US" sz="900" dirty="0">
                <a:solidFill>
                  <a:schemeClr val="accent6"/>
                </a:solidFill>
              </a:rPr>
              <a:t>Tuned tree: Gini criterion, balanced class weights, minimum 20 applicants per leaf, depth 14, 105 leaves. Test recall 82%, precision 53%: used for explanations, not for scoring.</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D: data treatment and pre-processing</a:t>
            </a:r>
            <a:endParaRPr lang="en-US" sz="2400" dirty="0"/>
          </a:p>
        </p:txBody>
      </p:sp>
      <p:graphicFrame>
        <p:nvGraphicFramePr>
          <p:cNvPr id="20" name="preprocessing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371600"/>
                <a:gridCol w="3474720"/>
                <a:gridCol w="3383280"/>
              </a:tblGrid>
              <a:tr h="0">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Step</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What was done</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Why</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0">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Duplicates</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None found; no rows dropped</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5,960 loans retained, including 2 with only the loan amount recorded</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Missing values</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A 0/1 'was missing' flag per column, then median (numeric) or mode (categorical) imputation</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Missingness of debt-to-income and property value is the strongest default signal; dropping rows would lose 44% of the data</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Outliers</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IQR capping for the linear model only; DEROG and DELINQ capped at the 99th percentile; tree models use raw values</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Linear models are pulled by extremes (debt-to-income 203%, credit history 97 years); trees split on rank order and keep the 'above 50% always defaults' signal</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Encoding and scaling</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One-hot encoding of REASON and JOB (drop first); standard scaling for the linear model only</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Comparable coefficients and stable convergence for logistic regression</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Split</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70% train / 30% test, stratified on the target, fixed seed; identical applicants in both data versions</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Both sets keep the 20% default rate; results comparable across models</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Imbalance</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Class weights (balanced or 0.2/0.8) inside the models rather than resampling</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Keeps every real applicant; lifted recall by 23 points for logistic regression and 10 for the forest</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Loan Default Navy">
  <a:themeElements>
    <a:clrScheme name="Loan Default Navy">
      <a:dk1>
        <a:srgbClr val="1F1F1F"/>
      </a:dk1>
      <a:lt1>
        <a:srgbClr val="FFFFFF"/>
      </a:lt1>
      <a:dk2>
        <a:srgbClr val="1E2761"/>
      </a:dk2>
      <a:lt2>
        <a:srgbClr val="EEF2FA"/>
      </a:lt2>
      <a:accent1>
        <a:srgbClr val="1E2761"/>
      </a:accent1>
      <a:accent2>
        <a:srgbClr val="C44E52"/>
      </a:accent2>
      <a:accent3>
        <a:srgbClr val="4C72B0"/>
      </a:accent3>
      <a:accent4>
        <a:srgbClr val="9DB4DE"/>
      </a:accent4>
      <a:accent5>
        <a:srgbClr val="3C8D5A"/>
      </a:accent5>
      <a:accent6>
        <a:srgbClr val="8C8C8C"/>
      </a:accent6>
      <a:hlink>
        <a:srgbClr val="1E2761"/>
      </a:hlink>
      <a:folHlink>
        <a:srgbClr val="4C72B0"/>
      </a:folHlink>
    </a:clrScheme>
    <a:fontScheme name="Loan Default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Loan Default Prediction - Capstone Presentation</dc:title>
  <dc:subject>PptxGenJS Presentation</dc:subject>
  <dc:creator>Shubham Garg</dc:creator>
  <cp:lastModifiedBy>Shubham Garg</cp:lastModifiedBy>
  <cp:revision>1</cp:revision>
  <dcterms:created xsi:type="dcterms:W3CDTF">2026-10-25T18:47:41Z</dcterms:created>
  <dcterms:modified xsi:type="dcterms:W3CDTF">2026-10-25T18:47:41Z</dcterms:modified>
</cp:coreProperties>
</file>