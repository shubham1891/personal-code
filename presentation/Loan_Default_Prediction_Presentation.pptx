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4457d1a-2bbf-3295-7f76-2787341740c4}">
          <p14:sldIdLst>
            <p14:sldId id="256"/>
            <p14:sldId id="257"/>
          </p14:sldIdLst>
        </p14:section>
        <p14:section name="Problem and approach" id="{65714d2d-2070-d04c-29a1-6ae6acb1db49}">
          <p14:sldIdLst>
            <p14:sldId id="258"/>
            <p14:sldId id="259"/>
          </p14:sldIdLst>
        </p14:section>
        <p14:section name="Key insights" id="{c345ab57-e9ee-41ba-dde8-e8d9535996b0}">
          <p14:sldIdLst>
            <p14:sldId id="260"/>
            <p14:sldId id="261"/>
            <p14:sldId id="262"/>
          </p14:sldIdLst>
        </p14:section>
        <p14:section name="Modelling" id="{ce4cde7c-b9cd-6a0c-d7c3-7a0aff6c154a}">
          <p14:sldIdLst>
            <p14:sldId id="263"/>
            <p14:sldId id="264"/>
            <p14:sldId id="265"/>
            <p14:sldId id="266"/>
          </p14:sldIdLst>
        </p14:section>
        <p14:section name="Recommendations" id="{3aba29f0-69ab-701d-1e20-7bd2db4f8d54}">
          <p14:sldIdLst>
            <p14:sldId id="267"/>
            <p14:sldId id="268"/>
            <p14:sldId id="269"/>
            <p14:sldId id="270"/>
          </p14:sldIdLst>
        </p14:section>
        <p14:section name="Appendix" id="{fe9ebe8a-b7e9-d0b6-0c75-f5f244f4bc54}">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67.8</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82.9</c:v>
                </c:pt>
                <c:pt idx="4">
                  <c:v>76.9</c:v>
                </c:pt>
                <c:pt idx="5">
                  <c:v>67.4</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98.4</c:v>
                </c:pt>
                <c:pt idx="1">
                  <c:v>96.2</c:v>
                </c:pt>
                <c:pt idx="2">
                  <c:v>93.7</c:v>
                </c:pt>
                <c:pt idx="3">
                  <c:v>90.2</c:v>
                </c:pt>
                <c:pt idx="4">
                  <c:v>86.7</c:v>
                </c:pt>
                <c:pt idx="5">
                  <c:v>83.9</c:v>
                </c:pt>
                <c:pt idx="6">
                  <c:v>81.2</c:v>
                </c:pt>
                <c:pt idx="7">
                  <c:v>78.2</c:v>
                </c:pt>
                <c:pt idx="8">
                  <c:v>75.1</c:v>
                </c:pt>
                <c:pt idx="9">
                  <c:v>71</c:v>
                </c:pt>
                <c:pt idx="10">
                  <c:v>66.7</c:v>
                </c:pt>
                <c:pt idx="11">
                  <c:v>61.3</c:v>
                </c:pt>
                <c:pt idx="12">
                  <c:v>53</c:v>
                </c:pt>
                <c:pt idx="13">
                  <c:v>45.4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43.8</c:v>
                </c:pt>
                <c:pt idx="1">
                  <c:v>56.6</c:v>
                </c:pt>
                <c:pt idx="2">
                  <c:v>63.9</c:v>
                </c:pt>
                <c:pt idx="3">
                  <c:v>68</c:v>
                </c:pt>
                <c:pt idx="4">
                  <c:v>70.7</c:v>
                </c:pt>
                <c:pt idx="5">
                  <c:v>73</c:v>
                </c:pt>
                <c:pt idx="6">
                  <c:v>75.4</c:v>
                </c:pt>
                <c:pt idx="7">
                  <c:v>77.8</c:v>
                </c:pt>
                <c:pt idx="8">
                  <c:v>80.2</c:v>
                </c:pt>
                <c:pt idx="9">
                  <c:v>82.7</c:v>
                </c:pt>
                <c:pt idx="10">
                  <c:v>85.5</c:v>
                </c:pt>
                <c:pt idx="11">
                  <c:v>87.8</c:v>
                </c:pt>
                <c:pt idx="12">
                  <c:v>89.4</c:v>
                </c:pt>
                <c:pt idx="13">
                  <c:v>91</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17.2</c:v>
                </c:pt>
                <c:pt idx="1">
                  <c:v>14.4</c:v>
                </c:pt>
                <c:pt idx="2">
                  <c:v>8.7</c:v>
                </c:pt>
                <c:pt idx="3">
                  <c:v>8</c:v>
                </c:pt>
                <c:pt idx="4">
                  <c:v>7.5</c:v>
                </c:pt>
                <c:pt idx="5">
                  <c:v>7.2</c:v>
                </c:pt>
                <c:pt idx="6">
                  <c:v>6.8</c:v>
                </c:pt>
                <c:pt idx="7">
                  <c:v>6.7</c:v>
                </c:pt>
                <c:pt idx="8">
                  <c:v>5.3</c:v>
                </c:pt>
                <c:pt idx="9">
                  <c:v>4.7</c:v>
                </c:pt>
                <c:pt idx="10">
                  <c:v>3.6</c:v>
                </c:pt>
                <c:pt idx="11">
                  <c:v>2.9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eight minutes I will show how a bank can cut the cost of credit errors on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 The final model keeps six of these flags, because the input-set reduction removed five weak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13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The same rule then removed five weak missing flags, so the forest uses 22 of the 27 inputs. On the test set it catches 93 percent of defaulters, and two thirds of the flagged applicants really defaulted. At their own best thresholds the bagged trees, the logistic regression and the tree cost 390, 550 and 607 thousand dollars per thousand applicants. The selected forest costs 324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on 22 inputs scores the applicants. Stage 2 of the selection removed five weak missing flags, those of mortgage balance, delinquent lines, credit-line age, inquiries and number of credit lines. The rule kept the smallest input set within one standard error of the lowest cost. Stage 3 checked the 22-input forest against all 27 inputs and kept it. The fallback without occupation uses 16 inputs and costs about 13 percent more. A surrogate decision tree, fitted to the forest's out-of-fold decisions, reproduces ninety-three percent of the forest's decisions on unseen applicants. It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64 to 15 per thousand applicants on the test set. The price is flagging 90 instead of 28 good customers. It is the cheapest operating point for any cost ratio between four and a half and eight to one. Our assumed ratio of four and a half to one sits at the lower edge of that range. It held on a finer grid and on other train/test splits. It sits just below the textbook break-even of 0.18 for a perfectly calibrated score, because the forest's scores understate risk in the decision range. Applicants scored fifteen to twenty percent defaulted about twenty-eight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cost of credit errors falls from about 10.8 million to about 1.9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On the seed-averaged input curve one standard error is about 9,700 dollars, and the same rule kept 22 inputs. The mean out-of-fold ROC-AUC of the proposed model is 0.960, against 0.961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credit-error cost down to about $1.9M.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inputs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for the models.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13%.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The plain forest on 22 inputs at 0.15 catches 93% at 67%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22 of 27 (10 attributes, 6 missing-value flags, occupation and loan purpose). Fallback without occupation: 16 inputs, about 13%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4.5:1 to 8:1 and on a finer grid.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test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90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64 missed defaulters</a:t>
            </a:r>
            <a:endParaRPr lang="en-US" sz="1200" dirty="0"/>
          </a:p>
          <a:p>
            <a:pPr marL="177800" indent="-177800">
              <a:spcAft>
                <a:spcPts val="800"/>
              </a:spcAft>
              <a:buSzPct val="100000"/>
              <a:buChar char="•"/>
            </a:pPr>
            <a:r>
              <a:rPr lang="en-US" sz="1200" dirty="0">
                <a:solidFill>
                  <a:schemeClr val="tx1"/>
                </a:solidFill>
              </a:rPr>
              <a:t>28 good customers flagged</a:t>
            </a:r>
            <a:endParaRPr lang="en-US" sz="1200" dirty="0"/>
          </a:p>
          <a:p>
            <a:pPr marL="177800" indent="-177800">
              <a:spcAft>
                <a:spcPts val="800"/>
              </a:spcAft>
              <a:buSzPct val="100000"/>
              <a:buChar char="•"/>
            </a:pPr>
            <a:r>
              <a:rPr lang="en-US" sz="1200" dirty="0">
                <a:solidFill>
                  <a:schemeClr val="tx1"/>
                </a:solidFill>
              </a:rPr>
              <a:t>$635k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90 good customers flagged</a:t>
            </a:r>
            <a:endParaRPr lang="en-US" sz="1200" dirty="0"/>
          </a:p>
          <a:p>
            <a:pPr marL="177800" indent="-177800">
              <a:spcAft>
                <a:spcPts val="800"/>
              </a:spcAft>
              <a:buSzPct val="100000"/>
              <a:buChar char="•"/>
            </a:pPr>
            <a:r>
              <a:rPr lang="en-US" sz="1200" dirty="0">
                <a:solidFill>
                  <a:schemeClr val="tx1"/>
                </a:solidFill>
              </a:rPr>
              <a:t>$310k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4.5:1 to 8:1 and on a finer grid.</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540,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$8.8M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(81% caught at 78%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13%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inputs)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22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its 22 inputs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Stage 2 removed five weak missing flags (about 2% of the decision power). The cost stayed within one standard error. Removing occupation as well adds about 13%, so it stays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and a credit history of 93 months or less?</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derogatory reports,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22 of 27 columns: the 10 attributes, 6 missing flags (VALUE, REASON, JOB, YOJ, DEROG, DEBTINC) and 6 one-hot REASON/JOB indicators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Stage 2 removed five flags (MORTDUE, DELINQ, CLAGE, NINQ, CLNO): smallest set within one standard error of the lowest cost. Stage 3 checked it against all 27</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2026-10-29T17:11:44Z</dcterms:created>
  <dcterms:modified xsi:type="dcterms:W3CDTF">2026-10-29T17:11:44Z</dcterms:modified>
</cp:coreProperties>
</file>