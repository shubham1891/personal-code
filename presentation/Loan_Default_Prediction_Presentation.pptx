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8c4bc4e-2915-2a87-b841-446367403869}">
          <p14:sldIdLst>
            <p14:sldId id="256"/>
            <p14:sldId id="257"/>
          </p14:sldIdLst>
        </p14:section>
        <p14:section name="Problem and approach" id="{b321e987-0aff-7844-b0cc-2b3942438861}">
          <p14:sldIdLst>
            <p14:sldId id="258"/>
            <p14:sldId id="259"/>
          </p14:sldIdLst>
        </p14:section>
        <p14:section name="Key insights" id="{5632ece6-e2a5-ce98-7a0a-b8a4fd66bd13}">
          <p14:sldIdLst>
            <p14:sldId id="260"/>
            <p14:sldId id="261"/>
            <p14:sldId id="262"/>
          </p14:sldIdLst>
        </p14:section>
        <p14:section name="Modelling" id="{113d6635-5758-bcbf-3157-d78d9cf98f23}">
          <p14:sldIdLst>
            <p14:sldId id="263"/>
            <p14:sldId id="264"/>
            <p14:sldId id="265"/>
            <p14:sldId id="266"/>
          </p14:sldIdLst>
        </p14:section>
        <p14:section name="Recommendations" id="{8ea0698d-341c-6881-8e58-27ab8191cf38}">
          <p14:sldIdLst>
            <p14:sldId id="267"/>
            <p14:sldId id="268"/>
            <p14:sldId id="269"/>
            <p14:sldId id="270"/>
          </p14:sldIdLst>
        </p14:section>
        <p14:section name="Appendix" id="{cbbb411e-e37b-827c-95f7-b36e804b4a75}">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20.48</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model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68.6</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(default: proposed model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84.2</c:v>
                </c:pt>
                <c:pt idx="4">
                  <c:v>76.9</c:v>
                </c:pt>
                <c:pt idx="5">
                  <c:v>68.1</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98.6</c:v>
                </c:pt>
                <c:pt idx="1">
                  <c:v>96.4</c:v>
                </c:pt>
                <c:pt idx="2">
                  <c:v>93.7</c:v>
                </c:pt>
                <c:pt idx="3">
                  <c:v>90.4</c:v>
                </c:pt>
                <c:pt idx="4">
                  <c:v>87.1</c:v>
                </c:pt>
                <c:pt idx="5">
                  <c:v>83.9</c:v>
                </c:pt>
                <c:pt idx="6">
                  <c:v>80.8</c:v>
                </c:pt>
                <c:pt idx="7">
                  <c:v>78.4</c:v>
                </c:pt>
                <c:pt idx="8">
                  <c:v>75.1</c:v>
                </c:pt>
                <c:pt idx="9">
                  <c:v>71.4</c:v>
                </c:pt>
                <c:pt idx="10">
                  <c:v>67.2</c:v>
                </c:pt>
                <c:pt idx="11">
                  <c:v>62</c:v>
                </c:pt>
                <c:pt idx="12">
                  <c:v>55.3</c:v>
                </c:pt>
                <c:pt idx="13">
                  <c:v>47.4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44.6</c:v>
                </c:pt>
                <c:pt idx="1">
                  <c:v>57.1</c:v>
                </c:pt>
                <c:pt idx="2">
                  <c:v>64.7</c:v>
                </c:pt>
                <c:pt idx="3">
                  <c:v>68.5</c:v>
                </c:pt>
                <c:pt idx="4">
                  <c:v>71.1</c:v>
                </c:pt>
                <c:pt idx="5">
                  <c:v>73.6</c:v>
                </c:pt>
                <c:pt idx="6">
                  <c:v>75.5</c:v>
                </c:pt>
                <c:pt idx="7">
                  <c:v>78.1</c:v>
                </c:pt>
                <c:pt idx="8">
                  <c:v>80.2</c:v>
                </c:pt>
                <c:pt idx="9">
                  <c:v>82.5</c:v>
                </c:pt>
                <c:pt idx="10">
                  <c:v>85.6</c:v>
                </c:pt>
                <c:pt idx="11">
                  <c:v>87.6</c:v>
                </c:pt>
                <c:pt idx="12">
                  <c:v>89.2</c:v>
                </c:pt>
                <c:pt idx="13">
                  <c:v>91.5</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ratio missing</c:v>
                  </c:pt>
                  <c:pt idx="1">
                    <c:v>Debt-to-income ratio</c:v>
                  </c:pt>
                  <c:pt idx="2">
                    <c:v>Age of oldest credit line</c:v>
                  </c:pt>
                  <c:pt idx="3">
                    <c:v>Delinquent credit lines</c:v>
                  </c:pt>
                  <c:pt idx="4">
                    <c:v>Property value</c:v>
                  </c:pt>
                  <c:pt idx="5">
                    <c:v>Loan amount</c:v>
                  </c:pt>
                  <c:pt idx="6">
                    <c:v>Number of credit lines</c:v>
                  </c:pt>
                  <c:pt idx="7">
                    <c:v>Mortgage balance</c:v>
                  </c:pt>
                  <c:pt idx="8">
                    <c:v>Years at current job</c:v>
                  </c:pt>
                  <c:pt idx="9">
                    <c:v>Major derogatory reports</c:v>
                  </c:pt>
                  <c:pt idx="10">
                    <c:v>Recent credit inquiries</c:v>
                  </c:pt>
                  <c:pt idx="11">
                    <c:v>Property value missing</c:v>
                  </c:pt>
                </c:lvl>
              </c:multiLvlStrCache>
            </c:multiLvlStrRef>
          </c:cat>
          <c:val>
            <c:numRef>
              <c:f>Sheet1!$B$2:$B$13</c:f>
              <c:numCache>
                <c:formatCode>General</c:formatCode>
                <c:ptCount val="12"/>
                <c:pt idx="0">
                  <c:v>18.6</c:v>
                </c:pt>
                <c:pt idx="1">
                  <c:v>14</c:v>
                </c:pt>
                <c:pt idx="2">
                  <c:v>8.6</c:v>
                </c:pt>
                <c:pt idx="3">
                  <c:v>8</c:v>
                </c:pt>
                <c:pt idx="4">
                  <c:v>6.9</c:v>
                </c:pt>
                <c:pt idx="5">
                  <c:v>6.7</c:v>
                </c:pt>
                <c:pt idx="6">
                  <c:v>6.4</c:v>
                </c:pt>
                <c:pt idx="7">
                  <c:v>6.4</c:v>
                </c:pt>
                <c:pt idx="8">
                  <c:v>5.1</c:v>
                </c:pt>
                <c:pt idx="9">
                  <c:v>4.4</c:v>
                </c:pt>
                <c:pt idx="10">
                  <c:v>3.4</c:v>
                </c:pt>
                <c:pt idx="11">
                  <c:v>2.6</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the next eight minutes I will show how a bank can cut the default-related cost of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 We recommend mandatory income and valuation checks first. Then deploy the forest at a 0.15 threshold with approve, refer and decline bands, after a two-month shadow run and a fairness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the first delinquent credit line more than doubles the default rate, and each further one raises it again. Both are plain-language rules to give an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10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a large part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added nothing once we chose the threshold on cost. We chose the plain forest at a 0.15 threshold. On the test set it catches 93 percent of defaulters, and two thirds of the flagged applicants really defaulted. At their own best thresholds the bagged trees, the logistic regression and the tree cost 390, 550 and 607 thousand dollars per thousand applicants. The forest costs 317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scores the applicants. A surrogate decision tree fitted to the forest's out-of-fold decisions reproduces ninety-three percent of them and gives the plain-language summary of the rules. Per-applicant risk drivers, built before the shadow run, give each decline its own reason. On unseen applicants the forest catches 93 percent of defaulters. On the same applicants, two out of three flagged applicants really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63 to 15 per thousand applicants on the test set. The price is flagging 87 instead of 26 good customers. It is the cheapest operating point for any cost ratio between three and six to one. It held on a finer grid and on other train/test splits. It sits just below the textbook break-even of 0.18 for a perfectly calibrated score, because the forest's scores understate risk in the decision range. Applicants scored fifteen to twenty percent defaulted about twenty-three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default-related cost falls from about 10.8 million to about 1.8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run, then scale. There are three policy rules the bank can adopt immediately, with or without the model. First, set a debt-to-income limit of 45 percent. Second, refer anyone with two or more delinquencies or derogatory reports to an underwriter. Third, treat a missing income or valuation as high risk and require verification. We read the first two thresholds straight from the observed default rates. Where a rule and the score disagree, the stricter outcome applies. The slide 10 band shares exclude these referrals.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on the test set. We fixed the selection rule beforehand: lowest mean cost, and the simplest set-up among those within one standard error, about 10,500 dollars per thousand applicants. The mean out-of-fold ROC-AUC of the proposed model is 0.961, against 0.963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home equity loans in the data ended in default. Accuracy alone is a misleading yardstick.</a:t>
            </a:r>
            <a:endParaRPr lang="en-US" sz="1200" dirty="0"/>
          </a:p>
        </p:txBody>
      </p:sp>
      <p:sp>
        <p:nvSpPr>
          <p:cNvPr id="6" name="takeaway card 2"/>
          <p:cNvSpPr/>
          <p:nvPr/>
        </p:nvSpPr>
        <p:spPr>
          <a:xfrm>
            <a:off x="256032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default rate when the applicant's debt-to-income ratio is missing, versus 8.6% when it is present. Unverified income is the strongest warning sign.</a:t>
            </a:r>
            <a:endParaRPr lang="en-US" sz="1200" dirty="0"/>
          </a:p>
        </p:txBody>
      </p:sp>
      <p:sp>
        <p:nvSpPr>
          <p:cNvPr id="9" name="takeaway card 3"/>
          <p:cNvSpPr/>
          <p:nvPr/>
        </p:nvSpPr>
        <p:spPr>
          <a:xfrm>
            <a:off x="466344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of future defaulters among unseen applicants. The proposed Random Forest model catches them. 2 of every 3 applicants it flagged really defaulted.</a:t>
            </a:r>
            <a:endParaRPr lang="en-US" sz="1200" dirty="0"/>
          </a:p>
        </p:txBody>
      </p:sp>
      <p:sp>
        <p:nvSpPr>
          <p:cNvPr id="12" name="takeaway card 4"/>
          <p:cNvSpPr/>
          <p:nvPr/>
        </p:nvSpPr>
        <p:spPr>
          <a:xfrm>
            <a:off x="676656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indicative annual benefit on 6,000 applications, from roughly $10.8M of default-related cost down to about $1.8M.</a:t>
            </a:r>
            <a:endParaRPr lang="en-US" sz="1200" dirty="0"/>
          </a:p>
        </p:txBody>
      </p:sp>
      <p:sp>
        <p:nvSpPr>
          <p:cNvPr id="15" name="recommendation line"/>
          <p:cNvSpPr txBox="1"/>
          <p:nvPr/>
        </p:nvSpPr>
        <p:spPr>
          <a:xfrm>
            <a:off x="457200" y="4069080"/>
            <a:ext cx="8229600" cy="594360"/>
          </a:xfrm>
          <a:prstGeom prst="rect">
            <a:avLst/>
          </a:prstGeom>
          <a:noFill/>
          <a:ln/>
        </p:spPr>
        <p:txBody>
          <a:bodyPr wrap="square" lIns="0" tIns="0" rIns="0" bIns="0" rtlCol="0" anchor="t"/>
          <a:lstStyle/>
          <a:p>
            <a:pPr indent="0" marL="0">
              <a:buNone/>
            </a:pPr>
            <a:r>
              <a:rPr lang="en-US" sz="1250" b="1" dirty="0">
                <a:solidFill>
                  <a:schemeClr val="accent2"/>
                </a:solidFill>
              </a:rPr>
              <a:t>Recommendation: </a:t>
            </a:r>
            <a:pPr indent="0" marL="0">
              <a:buNone/>
            </a:pPr>
            <a:r>
              <a:rPr lang="en-US" sz="1250" dirty="0">
                <a:solidFill>
                  <a:schemeClr val="accent1"/>
                </a:solidFill>
              </a:rPr>
              <a:t>make income and valuation checks mandatory. Deploy the forest at a 0.15 threshold with approve / refer / decline bands, after a two-month shadow run and a fairness review.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in the model.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The first delinquent line or derogatory report more than doubles the risk. Each further one raises it again (delinquent lines: 14% at zero, 34% at one, 100% at six or more).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150" dirty="0">
                <a:solidFill>
                  <a:schemeClr val="tx1"/>
                </a:solidFill>
              </a:rPr>
              <a:t>Default rate (%) by group. Applicants with under five years of credit history default four times as often as those with twenty-plus years. Loans under $5,000 default 57% of the time. Occupation shifts risk moderately and adds little on its own at the usual threshold. But removing it from the final model raises the expected cost of credit errors by about 10%. So it stays, subject to the fair-lending review.</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a large part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is creditworthy.</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Three forests tied. The plain forest at 0.15 catches 93% at 68%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Scoring engine: Random Forest, 200 fully grown trees, no class weights (the threshold handles the imbalance).</a:t>
            </a:r>
            <a:endParaRPr lang="en-US" sz="1100" dirty="0"/>
          </a:p>
          <a:p>
            <a:pPr marL="177800" indent="-177800">
              <a:spcAft>
                <a:spcPts val="800"/>
              </a:spcAft>
              <a:buSzPct val="100000"/>
              <a:buChar char="•"/>
            </a:pPr>
            <a:r>
              <a:rPr lang="en-US" sz="1100" dirty="0">
                <a:solidFill>
                  <a:schemeClr val="tx1"/>
                </a:solidFill>
              </a:rPr>
              <a:t>Inputs: all 27 (10 attributes, 11 missing-value flags, occupation and loan purpose). Fallback without occupation: 21 inputs, about 10% more cost.</a:t>
            </a:r>
            <a:endParaRPr lang="en-US" sz="1100" dirty="0"/>
          </a:p>
          <a:p>
            <a:pPr marL="177800" indent="-177800">
              <a:spcAft>
                <a:spcPts val="800"/>
              </a:spcAft>
              <a:buSzPct val="100000"/>
              <a:buChar char="•"/>
            </a:pPr>
            <a:r>
              <a:rPr lang="en-US" sz="1100" dirty="0">
                <a:solidFill>
                  <a:schemeClr val="tx1"/>
                </a:solidFill>
              </a:rPr>
              <a:t>Threshold 0.15, chosen with the configuration on repeated out-of-fold expected cost (training rows). It holds for cost ratios 3:1 to 6:1 and across splits. Approve / refer / decline bands (69% / 7% / 24%) keep an underwriter in the loop.</a:t>
            </a:r>
            <a:endParaRPr lang="en-US" sz="1100" dirty="0"/>
          </a:p>
          <a:p>
            <a:pPr marL="177800" indent="-177800">
              <a:spcAft>
                <a:spcPts val="800"/>
              </a:spcAft>
              <a:buSzPct val="100000"/>
              <a:buChar char="•"/>
            </a:pPr>
            <a:r>
              <a:rPr lang="en-US" sz="1100" dirty="0">
                <a:solidFill>
                  <a:schemeClr val="tx1"/>
                </a:solidFill>
              </a:rPr>
              <a:t>Explanation layer: a depth-4 surrogate tree reproduces 93% of the forest's out-of-fold decisions and gives the plain-language summary. Per-applicant risk drivers (built before the shadow run) give each decline its ECOA reason.</a:t>
            </a:r>
            <a:endParaRPr lang="en-US" sz="1100" dirty="0"/>
          </a:p>
          <a:p>
            <a:pPr marL="177800" indent="-177800">
              <a:spcAft>
                <a:spcPts val="800"/>
              </a:spcAft>
              <a:buSzPct val="100000"/>
              <a:buChar char="•"/>
            </a:pPr>
            <a:r>
              <a:rPr lang="en-US" sz="1100" dirty="0">
                <a:solidFill>
                  <a:schemeClr val="tx1"/>
                </a:solidFill>
              </a:rPr>
              <a:t>We scored the reserved test set once, after all choices.</a:t>
            </a:r>
            <a:endParaRPr lang="en-US" sz="110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8%"/>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68%</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at 0.15: 185 of 200 defaulters flagged in advance, 15 missed, 87 good customers flagged.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43000"/>
            <a:ext cx="3383280" cy="1463040"/>
          </a:xfrm>
          <a:prstGeom prst="roundRect">
            <a:avLst>
              <a:gd name="adj" fmla="val 5000"/>
            </a:avLst>
          </a:prstGeom>
          <a:solidFill>
            <a:schemeClr val="bg2"/>
          </a:solidFill>
          <a:ln w="9525">
            <a:solidFill>
              <a:schemeClr val="bg2"/>
            </a:solidFill>
            <a:prstDash val="solid"/>
          </a:ln>
        </p:spPr>
      </p:sp>
      <p:sp>
        <p:nvSpPr>
          <p:cNvPr id="5" name="threshold card title 1"/>
          <p:cNvSpPr txBox="1"/>
          <p:nvPr/>
        </p:nvSpPr>
        <p:spPr>
          <a:xfrm>
            <a:off x="5577840" y="123444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184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63 missed defaulters</a:t>
            </a:r>
            <a:endParaRPr lang="en-US" sz="1200" dirty="0"/>
          </a:p>
          <a:p>
            <a:pPr marL="177800" indent="-177800">
              <a:spcAft>
                <a:spcPts val="800"/>
              </a:spcAft>
              <a:buSzPct val="100000"/>
              <a:buChar char="•"/>
            </a:pPr>
            <a:r>
              <a:rPr lang="en-US" sz="1200" dirty="0">
                <a:solidFill>
                  <a:schemeClr val="tx1"/>
                </a:solidFill>
              </a:rPr>
              <a:t>26 good customers flagged</a:t>
            </a:r>
            <a:endParaRPr lang="en-US" sz="1200" dirty="0"/>
          </a:p>
          <a:p>
            <a:pPr marL="177800" indent="-177800">
              <a:spcAft>
                <a:spcPts val="800"/>
              </a:spcAft>
              <a:buSzPct val="100000"/>
              <a:buChar char="•"/>
            </a:pPr>
            <a:r>
              <a:rPr lang="en-US" sz="1200" dirty="0">
                <a:solidFill>
                  <a:schemeClr val="tx1"/>
                </a:solidFill>
              </a:rPr>
              <a:t>$615k indicative cost</a:t>
            </a:r>
            <a:endParaRPr lang="en-US" sz="1200" dirty="0"/>
          </a:p>
        </p:txBody>
      </p:sp>
      <p:sp>
        <p:nvSpPr>
          <p:cNvPr id="7" name="threshold card 2"/>
          <p:cNvSpPr/>
          <p:nvPr/>
        </p:nvSpPr>
        <p:spPr>
          <a:xfrm>
            <a:off x="5394960" y="2743200"/>
            <a:ext cx="3383280" cy="1463040"/>
          </a:xfrm>
          <a:prstGeom prst="roundRect">
            <a:avLst>
              <a:gd name="adj" fmla="val 5000"/>
            </a:avLst>
          </a:prstGeom>
          <a:solidFill>
            <a:schemeClr val="bg2"/>
          </a:solidFill>
          <a:ln w="9525">
            <a:solidFill>
              <a:schemeClr val="bg2"/>
            </a:solidFill>
            <a:prstDash val="solid"/>
          </a:ln>
        </p:spPr>
      </p:sp>
      <p:sp>
        <p:nvSpPr>
          <p:cNvPr id="8" name="threshold card title 2"/>
          <p:cNvSpPr txBox="1"/>
          <p:nvPr/>
        </p:nvSpPr>
        <p:spPr>
          <a:xfrm>
            <a:off x="5577840" y="28346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2186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87 good customers flagged</a:t>
            </a:r>
            <a:endParaRPr lang="en-US" sz="1200" dirty="0"/>
          </a:p>
          <a:p>
            <a:pPr marL="177800" indent="-177800">
              <a:spcAft>
                <a:spcPts val="800"/>
              </a:spcAft>
              <a:buSzPct val="100000"/>
              <a:buChar char="•"/>
            </a:pPr>
            <a:r>
              <a:rPr lang="en-US" sz="1200" dirty="0">
                <a:solidFill>
                  <a:schemeClr val="tx1"/>
                </a:solidFill>
              </a:rPr>
              <a:t>$304k indicative cost</a:t>
            </a:r>
            <a:endParaRPr lang="en-US" sz="1200" dirty="0"/>
          </a:p>
        </p:txBody>
      </p:sp>
      <p:sp>
        <p:nvSpPr>
          <p:cNvPr id="10" name="threshold footnote"/>
          <p:cNvSpPr txBox="1"/>
          <p:nvPr/>
        </p:nvSpPr>
        <p:spPr>
          <a:xfrm>
            <a:off x="457200" y="4370832"/>
            <a:ext cx="8229600" cy="329184"/>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Cards: test set, per 1,000 applicants, at $9,000 per missed defaulter and $2,000 per wrongly declined customer. The optimum stays at 0.15 for cost ratios 3:1 to 6:1 and on other splits.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flagged at 0.15</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520, margin forgone about $1.0M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100" dirty="0">
                <a:solidFill>
                  <a:schemeClr val="bg2"/>
                </a:solidFill>
              </a:rPr>
              <a:t>indicative gross annual benefit. About $8.9M after running costs, $8.5M in year one</a:t>
            </a:r>
            <a:endParaRPr lang="en-US" sz="11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It repays its cost within year one even if the bank gets only a quarter of the benefit.</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per-applicant risk drivers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run</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Test on past applicants with a recorded ratio.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risk drivers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Monthly: approval rate, missing fields. As outcomes arrive: recall, precision</a:t>
            </a:r>
            <a:endParaRPr lang="en-US" sz="1100" dirty="0"/>
          </a:p>
          <a:p>
            <a:pPr marL="177800" indent="-177800">
              <a:spcAft>
                <a:spcPts val="800"/>
              </a:spcAft>
              <a:buSzPct val="100000"/>
              <a:buChar char="•"/>
            </a:pPr>
            <a:r>
              <a:rPr lang="en-US" sz="1100" dirty="0">
                <a:solidFill>
                  <a:schemeClr val="tx1"/>
                </a:solidFill>
              </a:rPr>
              <a:t>Re-train once 12+ months of verified outcomes exist, then yearly.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Where a rule and the score disagree, the stricter outcome applies.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Before go-live, test on past applicants with a recorded ratio (83% caught at 80% precision). Re-train after 12+ months of verified outcomes.</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10% more cost).</a:t>
            </a:r>
            <a:endParaRPr lang="en-US" sz="1100" dirty="0"/>
          </a:p>
          <a:p>
            <a:pPr marL="177800" indent="-177800">
              <a:spcAft>
                <a:spcPts val="800"/>
              </a:spcAft>
              <a:buSzPct val="100000"/>
              <a:buChar char="•"/>
            </a:pPr>
            <a:r>
              <a:rPr lang="en-US" sz="1100" dirty="0">
                <a:solidFill>
                  <a:schemeClr val="tx1"/>
                </a:solidFill>
              </a:rPr>
              <a:t>Explainability and automation bias: per-applicant risk drivers,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 (needs 12+ months of data).</a:t>
            </a:r>
            <a:endParaRPr lang="en-US" sz="1100" dirty="0"/>
          </a:p>
          <a:p>
            <a:pPr marL="177800" indent="-177800">
              <a:spcAft>
                <a:spcPts val="800"/>
              </a:spcAft>
              <a:buSzPct val="100000"/>
              <a:buChar char="•"/>
            </a:pPr>
            <a:r>
              <a:rPr lang="en-US" sz="1100" dirty="0">
                <a:solidFill>
                  <a:schemeClr val="tx1"/>
                </a:solidFill>
              </a:rPr>
              <a:t>Engineered features: combined loan-to-value ratio, debt-to-income bands, interaction terms.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Applicant-friendly wording for the per-applicant risk drivers, tested with compliance staff.</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features)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27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407408"/>
            <a:ext cx="8229600" cy="301752"/>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and its threshold on repeated out-of-fold expected cost (training rows only).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Occupation, loan purpose and minor flags matter little individually. Yet removing them raised out-of-fold expected cost by about a fifth, and removing occupation alone by about 10%. So they stay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19656"/>
            <a:ext cx="7772400" cy="0"/>
          </a:xfrm>
          <a:prstGeom prst="line">
            <a:avLst/>
          </a:prstGeom>
          <a:noFill/>
          <a:ln w="9525">
            <a:solidFill>
              <a:srgbClr val="E3E3E3"/>
            </a:solidFill>
            <a:prstDash val="solid"/>
          </a:ln>
        </p:spPr>
      </p:sp>
      <p:sp>
        <p:nvSpPr>
          <p:cNvPr id="8" name="step 2"/>
          <p:cNvSpPr/>
          <p:nvPr/>
        </p:nvSpPr>
        <p:spPr>
          <a:xfrm>
            <a:off x="457200" y="1938528"/>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4708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4708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478024"/>
            <a:ext cx="7772400" cy="0"/>
          </a:xfrm>
          <a:prstGeom prst="line">
            <a:avLst/>
          </a:prstGeom>
          <a:noFill/>
          <a:ln w="9525">
            <a:solidFill>
              <a:srgbClr val="E3E3E3"/>
            </a:solidFill>
            <a:prstDash val="solid"/>
          </a:ln>
        </p:spPr>
      </p:sp>
      <p:sp>
        <p:nvSpPr>
          <p:cNvPr id="13" name="step 3"/>
          <p:cNvSpPr/>
          <p:nvPr/>
        </p:nvSpPr>
        <p:spPr>
          <a:xfrm>
            <a:off x="457200" y="2596896"/>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0545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together with a major derogatory report?</a:t>
            </a:r>
            <a:endParaRPr lang="en-US" sz="1250" dirty="0"/>
          </a:p>
        </p:txBody>
      </p:sp>
      <p:sp>
        <p:nvSpPr>
          <p:cNvPr id="16" name="rule answer 3"/>
          <p:cNvSpPr txBox="1"/>
          <p:nvPr/>
        </p:nvSpPr>
        <p:spPr>
          <a:xfrm>
            <a:off x="4389120" y="2505456"/>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136392"/>
            <a:ext cx="7772400" cy="0"/>
          </a:xfrm>
          <a:prstGeom prst="line">
            <a:avLst/>
          </a:prstGeom>
          <a:noFill/>
          <a:ln w="9525">
            <a:solidFill>
              <a:srgbClr val="E3E3E3"/>
            </a:solidFill>
            <a:prstDash val="solid"/>
          </a:ln>
        </p:spPr>
      </p:sp>
      <p:sp>
        <p:nvSpPr>
          <p:cNvPr id="18" name="step 4"/>
          <p:cNvSpPr/>
          <p:nvPr/>
        </p:nvSpPr>
        <p:spPr>
          <a:xfrm>
            <a:off x="457200" y="3255264"/>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16382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163824"/>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Per-applicant risk drivers from the forest give each decline its own reason.</a:t>
            </a:r>
            <a:endParaRPr lang="en-US" sz="1200" dirty="0"/>
          </a:p>
        </p:txBody>
      </p:sp>
      <p:sp>
        <p:nvSpPr>
          <p:cNvPr id="22" name="rule divider 4"/>
          <p:cNvSpPr/>
          <p:nvPr/>
        </p:nvSpPr>
        <p:spPr>
          <a:xfrm>
            <a:off x="1005840" y="3794760"/>
            <a:ext cx="7772400" cy="0"/>
          </a:xfrm>
          <a:prstGeom prst="line">
            <a:avLst/>
          </a:prstGeom>
          <a:noFill/>
          <a:ln w="9525">
            <a:solidFill>
              <a:srgbClr val="E3E3E3"/>
            </a:solidFill>
            <a:prstDash val="solid"/>
          </a:ln>
        </p:spPr>
      </p:sp>
      <p:sp>
        <p:nvSpPr>
          <p:cNvPr id="23" name="step 5"/>
          <p:cNvSpPr/>
          <p:nvPr/>
        </p:nvSpPr>
        <p:spPr>
          <a:xfrm>
            <a:off x="457200" y="3913632"/>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82219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822192"/>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credit-history length, occupation and loan purpose do not change the surrogate's outcome. They matter only in combination inside the forest.</a:t>
            </a:r>
            <a:endParaRPr lang="en-US" sz="1200" dirty="0"/>
          </a:p>
        </p:txBody>
      </p:sp>
      <p:sp>
        <p:nvSpPr>
          <p:cNvPr id="27" name="tree footnote"/>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900" dirty="0">
                <a:solidFill>
                  <a:schemeClr val="accent6"/>
                </a:solidFill>
              </a:rPr>
              <a:t>Surrogate: depth-4 tree, at least 20 applicants per leaf, fitted to the forest's out-of-fold flag/clear decisions at threshold 0.15 on the training rows.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so extreme values do not distort them</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added nothing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27 columns: the 10 attributes, 11 missing flags and 6 one-hot indicators (REASON HomeImp, JOB Office/Other/ProfExe/Sales/Self)</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The final-pipeline cell names every input. Smaller sets cost more out of fold (21 inputs without occupation +10%, 12 inputs +19%), so all 27 stay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2026-10-29T05:35:55Z</dcterms:created>
  <dcterms:modified xsi:type="dcterms:W3CDTF">2026-10-29T05:35:55Z</dcterms:modified>
</cp:coreProperties>
</file>