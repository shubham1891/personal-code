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bd73a43-34e0-c8c7-d7de-0e125493f825}">
          <p14:sldIdLst>
            <p14:sldId id="256"/>
            <p14:sldId id="257"/>
          </p14:sldIdLst>
        </p14:section>
        <p14:section name="Problem and approach" id="{2dc41030-6da8-2a51-ad2a-17cd48bdcd8a}">
          <p14:sldIdLst>
            <p14:sldId id="258"/>
            <p14:sldId id="259"/>
          </p14:sldIdLst>
        </p14:section>
        <p14:section name="Key insights" id="{e1789cb2-adee-278c-4cc3-96e3b7e0bc92}">
          <p14:sldIdLst>
            <p14:sldId id="260"/>
            <p14:sldId id="261"/>
            <p14:sldId id="262"/>
          </p14:sldIdLst>
        </p14:section>
        <p14:section name="Modelling" id="{73805249-8449-dbaf-d53f-15d67b4d9db0}">
          <p14:sldIdLst>
            <p14:sldId id="263"/>
            <p14:sldId id="264"/>
            <p14:sldId id="265"/>
            <p14:sldId id="266"/>
          </p14:sldIdLst>
        </p14:section>
        <p14:section name="Recommendations" id="{6e40bfff-3293-bf34-89f9-8e5a02edd23e}">
          <p14:sldIdLst>
            <p14:sldId id="267"/>
            <p14:sldId id="268"/>
            <p14:sldId id="269"/>
            <p14:sldId id="270"/>
          </p14:sldIdLst>
        </p14:section>
        <p14:section name="Appendix" id="{71f734e1-526b-6809-5fdf-ba3f4c5f5e7d}">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when a field is missing vs present</a:t>
            </a:r>
          </a:p>
        </c:rich>
      </c:tx>
      <c:layout/>
      <c:overlay val="0"/>
    </c:title>
    <c:autoTitleDeleted val="0"/>
    <c:plotArea>
      <c:layout/>
      <c:barChart>
        <c:barDir val="col"/>
        <c:grouping val="clustered"/>
        <c:varyColors val="0"/>
        <c:ser>
          <c:idx val="0"/>
          <c:order val="0"/>
          <c:tx>
            <c:strRef>
              <c:f>Sheet1!$B$1</c:f>
              <c:strCache>
                <c:ptCount val="1"/>
                <c:pt idx="0">
                  <c:v>Field missing</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Sheet1!$B$2:$B$7</c:f>
              <c:numCache>
                <c:formatCode>General</c:formatCode>
                <c:ptCount val="6"/>
                <c:pt idx="0">
                  <c:v>93.8</c:v>
                </c:pt>
                <c:pt idx="1">
                  <c:v>62</c:v>
                </c:pt>
                <c:pt idx="2">
                  <c:v>25.3</c:v>
                </c:pt>
                <c:pt idx="3">
                  <c:v>23.9</c:v>
                </c:pt>
                <c:pt idx="4">
                  <c:v>12.3</c:v>
                </c:pt>
                <c:pt idx="5">
                  <c:v>8.2</c:v>
                </c:pt>
              </c:numCache>
            </c:numRef>
          </c:val>
        </c:ser>
        <c:ser>
          <c:idx val="1"/>
          <c:order val="1"/>
          <c:tx>
            <c:strRef>
              <c:f>Sheet1!$C$1</c:f>
              <c:strCache>
                <c:ptCount val="1"/>
                <c:pt idx="0">
                  <c:v>Field present</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Sheet1!$C$2:$C$7</c:f>
              <c:numCache>
                <c:formatCode>General</c:formatCode>
                <c:ptCount val="6"/>
                <c:pt idx="0">
                  <c:v>18.5</c:v>
                </c:pt>
                <c:pt idx="1">
                  <c:v>8.6</c:v>
                </c:pt>
                <c:pt idx="2">
                  <c:v>19.7</c:v>
                </c:pt>
                <c:pt idx="3">
                  <c:v>19.8</c:v>
                </c:pt>
                <c:pt idx="4">
                  <c:v>21</c:v>
                </c:pt>
                <c:pt idx="5">
                  <c:v>20.5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debt-to-income ratio band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0-20</c:v>
                  </c:pt>
                  <c:pt idx="1">
                    <c:v>20-30</c:v>
                  </c:pt>
                  <c:pt idx="2">
                    <c:v>30-35</c:v>
                  </c:pt>
                  <c:pt idx="3">
                    <c:v>35-40</c:v>
                  </c:pt>
                  <c:pt idx="4">
                    <c:v>40-45</c:v>
                  </c:pt>
                  <c:pt idx="5">
                    <c:v>45-50</c:v>
                  </c:pt>
                  <c:pt idx="6">
                    <c:v>50+</c:v>
                  </c:pt>
                </c:lvl>
              </c:multiLvlStrCache>
            </c:multiLvlStrRef>
          </c:cat>
          <c:val>
            <c:numRef>
              <c:f>Sheet1!$B$2:$B$8</c:f>
              <c:numCache>
                <c:formatCode>General</c:formatCode>
                <c:ptCount val="7"/>
                <c:pt idx="0">
                  <c:v>10.6</c:v>
                </c:pt>
                <c:pt idx="1">
                  <c:v>4.4</c:v>
                </c:pt>
                <c:pt idx="2">
                  <c:v>6</c:v>
                </c:pt>
                <c:pt idx="3">
                  <c:v>7</c:v>
                </c:pt>
                <c:pt idx="4">
                  <c:v>11.2</c:v>
                </c:pt>
                <c:pt idx="5">
                  <c:v>87.2</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delinquent credit lines</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14</c:v>
                </c:pt>
                <c:pt idx="1">
                  <c:v>33.9</c:v>
                </c:pt>
                <c:pt idx="2">
                  <c:v>44.8</c:v>
                </c:pt>
                <c:pt idx="3">
                  <c:v>55</c:v>
                </c:pt>
                <c:pt idx="4">
                  <c:v>59</c:v>
                </c:pt>
                <c:pt idx="5">
                  <c:v>81.6</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age of oldest credit line</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 yrs</c:v>
                  </c:pt>
                  <c:pt idx="1">
                    <c:v>5-10</c:v>
                  </c:pt>
                  <c:pt idx="2">
                    <c:v>10-15</c:v>
                  </c:pt>
                  <c:pt idx="3">
                    <c:v>15-20</c:v>
                  </c:pt>
                  <c:pt idx="4">
                    <c:v>20-25</c:v>
                  </c:pt>
                  <c:pt idx="5">
                    <c:v>25+</c:v>
                  </c:pt>
                </c:lvl>
              </c:multiLvlStrCache>
            </c:multiLvlStrRef>
          </c:cat>
          <c:val>
            <c:numRef>
              <c:f>Sheet1!$B$2:$B$7</c:f>
              <c:numCache>
                <c:formatCode>General</c:formatCode>
                <c:ptCount val="6"/>
                <c:pt idx="0">
                  <c:v>44</c:v>
                </c:pt>
                <c:pt idx="1">
                  <c:v>26.2</c:v>
                </c:pt>
                <c:pt idx="2">
                  <c:v>22.8</c:v>
                </c:pt>
                <c:pt idx="3">
                  <c:v>15.3</c:v>
                </c:pt>
                <c:pt idx="4">
                  <c:v>9.3</c:v>
                </c:pt>
                <c:pt idx="5">
                  <c:v>10.7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loan amount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&lt;5k</c:v>
                  </c:pt>
                  <c:pt idx="1">
                    <c:v>5-10k</c:v>
                  </c:pt>
                  <c:pt idx="2">
                    <c:v>10-15k</c:v>
                  </c:pt>
                  <c:pt idx="3">
                    <c:v>15-20k</c:v>
                  </c:pt>
                  <c:pt idx="4">
                    <c:v>20-30k</c:v>
                  </c:pt>
                  <c:pt idx="5">
                    <c:v>30k+</c:v>
                  </c:pt>
                </c:lvl>
              </c:multiLvlStrCache>
            </c:multiLvlStrRef>
          </c:cat>
          <c:val>
            <c:numRef>
              <c:f>Sheet1!$B$2:$B$7</c:f>
              <c:numCache>
                <c:formatCode>General</c:formatCode>
                <c:ptCount val="6"/>
                <c:pt idx="0">
                  <c:v>57.2</c:v>
                </c:pt>
                <c:pt idx="1">
                  <c:v>25.1</c:v>
                </c:pt>
                <c:pt idx="2">
                  <c:v>20.48</c:v>
                </c:pt>
                <c:pt idx="3">
                  <c:v>16.2</c:v>
                </c:pt>
                <c:pt idx="4">
                  <c:v>14.4</c:v>
                </c:pt>
                <c:pt idx="5">
                  <c:v>19.5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occupation</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8C8C8C"/>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Sales</c:v>
                  </c:pt>
                  <c:pt idx="1">
                    <c:v>Self</c:v>
                  </c:pt>
                  <c:pt idx="2">
                    <c:v>Mgr</c:v>
                  </c:pt>
                  <c:pt idx="3">
                    <c:v>Other</c:v>
                  </c:pt>
                  <c:pt idx="4">
                    <c:v>ProfExe</c:v>
                  </c:pt>
                  <c:pt idx="5">
                    <c:v>Office</c:v>
                  </c:pt>
                </c:lvl>
              </c:multiLvlStrCache>
            </c:multiLvlStrRef>
          </c:cat>
          <c:val>
            <c:numRef>
              <c:f>Sheet1!$B$2:$B$7</c:f>
              <c:numCache>
                <c:formatCode>General</c:formatCode>
                <c:ptCount val="6"/>
                <c:pt idx="0">
                  <c:v>34.9</c:v>
                </c:pt>
                <c:pt idx="1">
                  <c:v>30.1</c:v>
                </c:pt>
                <c:pt idx="2">
                  <c:v>23.3</c:v>
                </c:pt>
                <c:pt idx="3">
                  <c:v>23.2</c:v>
                </c:pt>
                <c:pt idx="4">
                  <c:v>16.6</c:v>
                </c:pt>
                <c:pt idx="5">
                  <c:v>13.2</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Test set (1,788 unseen applicants), % </a:t>
            </a:r>
          </a:p>
        </c:rich>
      </c:tx>
      <c:layout/>
      <c:overlay val="0"/>
    </c:title>
    <c:autoTitleDeleted val="0"/>
    <c:plotArea>
      <c:layout/>
      <c:barChart>
        <c:barDir val="bar"/>
        <c:grouping val="clustered"/>
        <c:varyColors val="0"/>
        <c:ser>
          <c:idx val="0"/>
          <c:order val="0"/>
          <c:tx>
            <c:strRef>
              <c:f>Sheet1!$B$1</c:f>
              <c:strCache>
                <c:ptCount val="1"/>
                <c:pt idx="0">
                  <c:v>Defaulters caught (recall)</c:v>
                </c:pt>
              </c:strCache>
            </c:strRef>
          </c:tx>
          <c:spPr>
            <a:solidFill>
              <a:srgbClr val="1E2761"/>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(proposed model at 0.5)</c:v>
                  </c:pt>
                  <c:pt idx="4">
                    <c:v>Random Forest (class weights)</c:v>
                  </c:pt>
                  <c:pt idx="5">
                    <c:v>Random Forest, threshold 0.15</c:v>
                  </c:pt>
                </c:lvl>
              </c:multiLvlStrCache>
            </c:multiLvlStrRef>
          </c:cat>
          <c:val>
            <c:numRef>
              <c:f>Sheet1!$B$2:$B$7</c:f>
              <c:numCache>
                <c:formatCode>General</c:formatCode>
                <c:ptCount val="6"/>
                <c:pt idx="0">
                  <c:v>79.6</c:v>
                </c:pt>
                <c:pt idx="1">
                  <c:v>82.1</c:v>
                </c:pt>
                <c:pt idx="2">
                  <c:v>68.3</c:v>
                </c:pt>
                <c:pt idx="3">
                  <c:v>67.8</c:v>
                </c:pt>
                <c:pt idx="4">
                  <c:v>77.3</c:v>
                </c:pt>
                <c:pt idx="5">
                  <c:v>92.7</c:v>
                </c:pt>
              </c:numCache>
            </c:numRef>
          </c:val>
        </c:ser>
        <c:ser>
          <c:idx val="1"/>
          <c:order val="1"/>
          <c:tx>
            <c:strRef>
              <c:f>Sheet1!$C$1</c:f>
              <c:strCache>
                <c:ptCount val="1"/>
                <c:pt idx="0">
                  <c:v>Precision</c:v>
                </c:pt>
              </c:strCache>
            </c:strRef>
          </c:tx>
          <c:spPr>
            <a:solidFill>
              <a:srgbClr val="9DB4DE"/>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(proposed model at 0.5)</c:v>
                  </c:pt>
                  <c:pt idx="4">
                    <c:v>Random Forest (class weights)</c:v>
                  </c:pt>
                  <c:pt idx="5">
                    <c:v>Random Forest, threshold 0.15</c:v>
                  </c:pt>
                </c:lvl>
              </c:multiLvlStrCache>
            </c:multiLvlStrRef>
          </c:cat>
          <c:val>
            <c:numRef>
              <c:f>Sheet1!$C$2:$C$7</c:f>
              <c:numCache>
                <c:formatCode>General</c:formatCode>
                <c:ptCount val="6"/>
                <c:pt idx="0">
                  <c:v>60.8</c:v>
                </c:pt>
                <c:pt idx="1">
                  <c:v>53.1</c:v>
                </c:pt>
                <c:pt idx="2">
                  <c:v>82.7</c:v>
                </c:pt>
                <c:pt idx="3">
                  <c:v>82.9</c:v>
                </c:pt>
                <c:pt idx="4">
                  <c:v>76.9</c:v>
                </c:pt>
                <c:pt idx="5">
                  <c:v>67.4</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Selected Random Forest, out-of-fold on training rows</a:t>
            </a:r>
          </a:p>
        </c:rich>
      </c:tx>
      <c:layout/>
      <c:overlay val="0"/>
    </c:title>
    <c:autoTitleDeleted val="0"/>
    <c:plotArea>
      <c:layout/>
      <c:lineChart>
        <c:varyColors val="0"/>
        <c:ser>
          <c:idx val="0"/>
          <c:order val="0"/>
          <c:tx>
            <c:strRef>
              <c:f>Sheet1!$B$1</c:f>
              <c:strCache>
                <c:ptCount val="1"/>
                <c:pt idx="0">
                  <c:v>Defaulters caught (recall) %</c:v>
                </c:pt>
              </c:strCache>
            </c:strRef>
          </c:tx>
          <c:spPr>
            <a:solidFill>
              <a:srgbClr val="3C8D5A"/>
            </a:solidFill>
            <a:ln w="31750" cap="flat">
              <a:solidFill>
                <a:srgbClr val="3C8D5A"/>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3C8D5A"/>
              </a:solidFill>
              <a:ln w="9525" cap="flat">
                <a:solidFill>
                  <a:srgbClr val="3C8D5A"/>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Sheet1!$B$2:$B$15</c:f>
              <c:numCache>
                <c:formatCode>General</c:formatCode>
                <c:ptCount val="14"/>
                <c:pt idx="0">
                  <c:v>98.4</c:v>
                </c:pt>
                <c:pt idx="1">
                  <c:v>96.2</c:v>
                </c:pt>
                <c:pt idx="2">
                  <c:v>93.7</c:v>
                </c:pt>
                <c:pt idx="3">
                  <c:v>90.2</c:v>
                </c:pt>
                <c:pt idx="4">
                  <c:v>86.7</c:v>
                </c:pt>
                <c:pt idx="5">
                  <c:v>83.9</c:v>
                </c:pt>
                <c:pt idx="6">
                  <c:v>81.2</c:v>
                </c:pt>
                <c:pt idx="7">
                  <c:v>78.2</c:v>
                </c:pt>
                <c:pt idx="8">
                  <c:v>75.1</c:v>
                </c:pt>
                <c:pt idx="9">
                  <c:v>71</c:v>
                </c:pt>
                <c:pt idx="10">
                  <c:v>66.7</c:v>
                </c:pt>
                <c:pt idx="11">
                  <c:v>61.3</c:v>
                </c:pt>
                <c:pt idx="12">
                  <c:v>53</c:v>
                </c:pt>
                <c:pt idx="13">
                  <c:v>45.4</c:v>
                </c:pt>
              </c:numCache>
            </c:numRef>
          </c:val>
          <c:smooth val="0"/>
        </c:ser>
        <c:ser>
          <c:idx val="1"/>
          <c:order val="1"/>
          <c:tx>
            <c:strRef>
              <c:f>Sheet1!$C$1</c:f>
              <c:strCache>
                <c:ptCount val="1"/>
                <c:pt idx="0">
                  <c:v>Precision %</c:v>
                </c:pt>
              </c:strCache>
            </c:strRef>
          </c:tx>
          <c:spPr>
            <a:solidFill>
              <a:srgbClr val="1E2761"/>
            </a:solidFill>
            <a:ln w="31750" cap="flat">
              <a:solidFill>
                <a:srgbClr val="1E2761"/>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Sheet1!$C$2:$C$15</c:f>
              <c:numCache>
                <c:formatCode>General</c:formatCode>
                <c:ptCount val="14"/>
                <c:pt idx="0">
                  <c:v>43.8</c:v>
                </c:pt>
                <c:pt idx="1">
                  <c:v>56.6</c:v>
                </c:pt>
                <c:pt idx="2">
                  <c:v>63.9</c:v>
                </c:pt>
                <c:pt idx="3">
                  <c:v>68</c:v>
                </c:pt>
                <c:pt idx="4">
                  <c:v>70.7</c:v>
                </c:pt>
                <c:pt idx="5">
                  <c:v>73</c:v>
                </c:pt>
                <c:pt idx="6">
                  <c:v>75.4</c:v>
                </c:pt>
                <c:pt idx="7">
                  <c:v>77.8</c:v>
                </c:pt>
                <c:pt idx="8">
                  <c:v>80.2</c:v>
                </c:pt>
                <c:pt idx="9">
                  <c:v>82.7</c:v>
                </c:pt>
                <c:pt idx="10">
                  <c:v>85.5</c:v>
                </c:pt>
                <c:pt idx="11">
                  <c:v>87.8</c:v>
                </c:pt>
                <c:pt idx="12">
                  <c:v>89.4</c:v>
                </c:pt>
                <c:pt idx="13">
                  <c:v>91</c:v>
                </c:pt>
              </c:numCache>
            </c:numRef>
          </c:val>
          <c:smooth val="0"/>
        </c:ser>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C8C8C"/>
                    </a:solidFill>
                    <a:latin typeface="Arial"/>
                  </a:defRPr>
                </a:pPr>
                <a:r>
                  <a:rPr sz="1000" b="0" i="0" u="none" strike="noStrike">
                    <a:solidFill>
                      <a:srgbClr val="8C8C8C"/>
                    </a:solidFill>
                    <a:latin typeface="Arial"/>
                  </a:rPr>
                  <a:t>probability threshold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4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Impurity-based importance (%), final Random Forest</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E2761"/>
            </a:solidFill>
            <a:effectLst/>
          </c:spPr>
          <c:invertIfNegative val="0"/>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Sheet1!$A$2:$A$13</c:f>
              <c:multiLvlStrCache>
                <c:ptCount val="12"/>
                <c:lvl>
                  <c:pt idx="0">
                    <c:v>Debt-to-income ratio missing</c:v>
                  </c:pt>
                  <c:pt idx="1">
                    <c:v>Debt-to-income ratio</c:v>
                  </c:pt>
                  <c:pt idx="2">
                    <c:v>Age of oldest credit line</c:v>
                  </c:pt>
                  <c:pt idx="3">
                    <c:v>Delinquent credit lines</c:v>
                  </c:pt>
                  <c:pt idx="4">
                    <c:v>Property value</c:v>
                  </c:pt>
                  <c:pt idx="5">
                    <c:v>Loan amount</c:v>
                  </c:pt>
                  <c:pt idx="6">
                    <c:v>Number of credit lines</c:v>
                  </c:pt>
                  <c:pt idx="7">
                    <c:v>Mortgage balance</c:v>
                  </c:pt>
                  <c:pt idx="8">
                    <c:v>Years at current job</c:v>
                  </c:pt>
                  <c:pt idx="9">
                    <c:v>Major derogatory reports</c:v>
                  </c:pt>
                  <c:pt idx="10">
                    <c:v>Recent credit inquiries</c:v>
                  </c:pt>
                  <c:pt idx="11">
                    <c:v>Property value missing</c:v>
                  </c:pt>
                </c:lvl>
              </c:multiLvlStrCache>
            </c:multiLvlStrRef>
          </c:cat>
          <c:val>
            <c:numRef>
              <c:f>Sheet1!$B$2:$B$13</c:f>
              <c:numCache>
                <c:formatCode>General</c:formatCode>
                <c:ptCount val="12"/>
                <c:pt idx="0">
                  <c:v>17.2</c:v>
                </c:pt>
                <c:pt idx="1">
                  <c:v>14.4</c:v>
                </c:pt>
                <c:pt idx="2">
                  <c:v>8.7</c:v>
                </c:pt>
                <c:pt idx="3">
                  <c:v>8</c:v>
                </c:pt>
                <c:pt idx="4">
                  <c:v>7.5</c:v>
                </c:pt>
                <c:pt idx="5">
                  <c:v>7.2</c:v>
                </c:pt>
                <c:pt idx="6">
                  <c:v>6.8</c:v>
                </c:pt>
                <c:pt idx="7">
                  <c:v>6.7</c:v>
                </c:pt>
                <c:pt idx="8">
                  <c:v>5.3</c:v>
                </c:pt>
                <c:pt idx="9">
                  <c:v>4.7</c:v>
                </c:pt>
                <c:pt idx="10">
                  <c:v>3.6</c:v>
                </c:pt>
                <c:pt idx="11">
                  <c:v>2.9</c:v>
                </c:pt>
              </c:numCache>
            </c:numRef>
          </c:val>
        </c:ser>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24"/>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the next eight minutes I will show how a bank can cut the default-related cost of the home equity loans it approves today. The cut is about four fifths, with a model the bank can also explain to regulators and applicants.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One in five loans ends in default. The biggest red flag is income the bank could not check. The proposed model catches 93 percent of defaulters before the money leaves the bank. And under reasonable assumptions that is worth about nine million dollars a year. We recommend mandatory income and valuation checks first. Then deploy the forest at a 0.15 threshold with approve, refer and decline bands, after a two-month shadow run and a fairness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context: profit comes from interest, and losses come from defaulters. The current manual process is slow and inconsistent. The data is 5,960 recent home equity loans with 12 attributes and a 20 percent default rate. Almost half the applications have at least one blank field. That matters a great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Explore the data. Prepare it. Build linear and non-linear models. Measure them on the metric that follows the money. Convert the result into recommendations. The key preparation decision was to keep a flag for every missing field instead of just filling the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finding. When the debt-to-income ratio is missing, 62 percent of those applicants defaulted. When the property valuation is missing, 94 percent. The absence of information is itself a signal, so the models carry a flag for every missing field. The final model keeps six of these flags, because the input-set reduction removed five weak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drivers that are easy to explain. The debt-to-income ratio is not a slope but a cliff: between 20 and 40 percent, 4 to 7 percent default. Above 45 percent, 87 to 100 percent default. And repayment history repeats: the first delinquent credit line more than doubles the default rate, and each further one raises it again. Both are plain-language rules to give an applicant.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drivers. A long credit history protects. Small loans are the riskiest, not the safest. Occupation matters a little: removing it raises the expected cost of credit errors by about 13 percent. The fair-lending review decides whether it stays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comparing models, the yardstick. Approving a future defaulter costs the bank a large part of the principal. Declining a good customer costs only the margin. So the primary metric is recall, the share of defaulters we catch, with precision as the guard-rail against declining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eleven model variants. These six tell the story. At the usual threshold the forest with class weights has the best balance and ranks applicants among the best. We then chose the final configuration and its threshold together on repeated out-of-fold expected cost, using training rows only. We fixed the rule beforehand: lowest mean cost of mistakes, and the simplest set-up when several are within run-to-run noise. Three forests tied within that noise, so class weights added nothing once we chose the threshold on cost. We chose the plain forest at a 0.15 threshold. The same rule then removed five weak missing flags, so the forest uses 22 of the 27 inputs. On the test set it catches 93 percent of defaulters, and two thirds of the flagged applicants really defaulted. At their own best thresholds the bagged trees, the logistic regression and the tree cost 390, 550 and 607 thousand dollars per thousand applicants. The selected forest costs 324 thousand, so it also wins on the cost yardstick.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A Random Forest on 22 inputs scores the applicants. Stage 2 of the selection removed five weak missing flags, those of mortgage balance, delinquent lines, credit-line age, inquiries and number of credit lines. The rule kept the smallest input set within one standard error of the lowest cost. Stage 3 checked the 22-input forest against all 27 inputs and kept it. The fallback without occupation uses 16 inputs and costs about 13 percent more. A surrogate decision tree, fitted to the forest's out-of-fold decisions, reproduces ninety-three percent of the forest's decisions on unseen applicants. It gives the plain-language summary of the rules. Per-applicant risk drivers, built before the shadow run, give each decline its own reason. On unseen applicants the forest catches 93 percent of defaulters. On the same applicants, two out of three flagged applicants really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outputs a probability, and 0.5 is only a convention. We chose the threshold on out-of-fold predictions of the training rows, so the test set played no part. Moving it to 0.15 cuts missed defaulters from 64 to 15 per thousand applicants on the test set. The price is flagging 90 instead of 28 good customers. It is the cheapest operating point for any cost ratio between four and a half and eight to one. Our assumed ratio of four and a half to one sits at the lower edge of that range. It held on a finer grid and on other train/test splits. It sits just below the textbook break-even of 0.18 for a perfectly calibrated score, because the forest's scores understate risk in the decision range. Applicants scored fifteen to twenty percent defaulted about twenty-eight percent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round-number assumptions, the bank's default-related cost falls from about 10.8 million to about 1.9 million a year on 6,000 applications. Even if the real benefit were a quarter of that, the project repays its cost inside a year. Finance should replace these assumptions with actual loss and margin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has three phases: prepare, shadow run, then scale. There are three policy rules the bank can adopt immediately, with or without the model. First, set a debt-to-income limit of 45 percent. Second, refer anyone with two or more delinquencies or derogatory reports to an underwriter. Third, treat a missing income or valuation as high risk and require verification. We read the first two thresholds straight from the observed default rates. Where a rule and the score disagree, the stricter outcome applies. The slide 10 band shares exclude these referrals.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selection bias, drift in the missing-value signal, and fair-lending exposure. Selection bias comes from data that covers only approved loans. The drift starts once verification becomes mandatory. Each has a concrete mitigation. Next steps include reject inference, engineered ratios, calibration and time-based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models on the test set. We fixed the selection rule beforehand: lowest mean cost, and the simplest set-up among those within one standard error, about 10,500 dollars per thousand applicants. On the seed-averaged input curve one standard error is about 9,700 dollars, and the same rule kept 22 inputs. The mean out-of-fold ROC-AUC of the proposed model is 0.960, against 0.961 on the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rtlCol="0"/>
          <a:lstStyle>
            <a:lvl1pPr algn="l" indent="0" marL="0">
              <a:buNone/>
              <a:defRPr lang="en-US" sz="1800" dirty="0">
                <a:solidFill>
                  <a:srgbClr val="EEF2F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rgbClr val="1E2761"/>
                </a:solidFill>
              </a:defRPr>
            </a:lvl1pPr>
          </a:lstStyle>
          <a:p>
            <a:pPr algn="l" indent="0" marL="0">
              <a:buNone/>
            </a:pPr>
            <a:endParaRPr lang="en-US" sz="2400" dirty="0"/>
          </a:p>
        </p:txBody>
      </p:sp>
      <p:sp>
        <p:nvSpPr>
          <p:cNvPr id="3"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900" dirty="0">
                <a:solidFill>
                  <a:srgbClr val="8C8C8C"/>
                </a:solidFill>
              </a:rPr>
              <a:t>Loan Default Prediction  |  Capstone</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Loan Default Prediction</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An interpretable credit-scoring model to approve home equity loans</a:t>
            </a:r>
            <a:endParaRPr lang="en-US" sz="1800" dirty="0"/>
          </a:p>
          <a:p>
            <a:pPr algn="l" indent="0" marL="0">
              <a:buNone/>
            </a:pPr>
            <a:r>
              <a:rPr lang="en-US" sz="1200" dirty="0">
                <a:solidFill>
                  <a:schemeClr val="accent4"/>
                </a:solidFill>
              </a:rPr>
              <a:t>Capstone Project  |  Practical Data Science  |  MIT Professional Education - Applied AI and Data Science Program</a:t>
            </a:r>
            <a:endParaRPr lang="en-US" sz="1800" dirty="0"/>
          </a:p>
          <a:p>
            <a:pPr algn="l" indent="0" marL="0">
              <a:buNone/>
            </a:pPr>
            <a:r>
              <a:rPr lang="en-US" sz="1200" dirty="0">
                <a:solidFill>
                  <a:schemeClr val="accent4"/>
                </a:solidFill>
              </a:rPr>
              <a:t>Shubham Garg  |  November 2026</a:t>
            </a:r>
            <a:endParaRPr lang="en-US" sz="1800" dirty="0"/>
          </a:p>
        </p:txBody>
      </p:sp>
      <p:sp>
        <p:nvSpPr>
          <p:cNvPr id="4" name="titl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Key takeaways</a:t>
            </a:r>
            <a:endParaRPr lang="en-US" sz="2400" dirty="0"/>
          </a:p>
        </p:txBody>
      </p:sp>
      <p:sp>
        <p:nvSpPr>
          <p:cNvPr id="3" name="takeaway card 1"/>
          <p:cNvSpPr/>
          <p:nvPr/>
        </p:nvSpPr>
        <p:spPr>
          <a:xfrm>
            <a:off x="45720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4" name="takeaway number 1"/>
          <p:cNvSpPr txBox="1"/>
          <p:nvPr/>
        </p:nvSpPr>
        <p:spPr>
          <a:xfrm>
            <a:off x="59436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1 in 5</a:t>
            </a:r>
            <a:endParaRPr lang="en-US" sz="3400" dirty="0"/>
          </a:p>
        </p:txBody>
      </p:sp>
      <p:sp>
        <p:nvSpPr>
          <p:cNvPr id="5" name="takeaway text 1"/>
          <p:cNvSpPr txBox="1"/>
          <p:nvPr/>
        </p:nvSpPr>
        <p:spPr>
          <a:xfrm>
            <a:off x="59436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home equity loans in the data ended in default. Accuracy alone is a misleading yardstick.</a:t>
            </a:r>
            <a:endParaRPr lang="en-US" sz="1200" dirty="0"/>
          </a:p>
        </p:txBody>
      </p:sp>
      <p:sp>
        <p:nvSpPr>
          <p:cNvPr id="6" name="takeaway card 2"/>
          <p:cNvSpPr/>
          <p:nvPr/>
        </p:nvSpPr>
        <p:spPr>
          <a:xfrm>
            <a:off x="256032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7" name="takeaway number 2"/>
          <p:cNvSpPr txBox="1"/>
          <p:nvPr/>
        </p:nvSpPr>
        <p:spPr>
          <a:xfrm>
            <a:off x="269748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62%</a:t>
            </a:r>
            <a:endParaRPr lang="en-US" sz="3400" dirty="0"/>
          </a:p>
        </p:txBody>
      </p:sp>
      <p:sp>
        <p:nvSpPr>
          <p:cNvPr id="8" name="takeaway text 2"/>
          <p:cNvSpPr txBox="1"/>
          <p:nvPr/>
        </p:nvSpPr>
        <p:spPr>
          <a:xfrm>
            <a:off x="269748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default rate when the applicant's debt-to-income ratio is missing, versus 8.6% when it is present. Unverified income is the strongest warning sign.</a:t>
            </a:r>
            <a:endParaRPr lang="en-US" sz="1200" dirty="0"/>
          </a:p>
        </p:txBody>
      </p:sp>
      <p:sp>
        <p:nvSpPr>
          <p:cNvPr id="9" name="takeaway card 3"/>
          <p:cNvSpPr/>
          <p:nvPr/>
        </p:nvSpPr>
        <p:spPr>
          <a:xfrm>
            <a:off x="466344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0" name="takeaway number 3"/>
          <p:cNvSpPr txBox="1"/>
          <p:nvPr/>
        </p:nvSpPr>
        <p:spPr>
          <a:xfrm>
            <a:off x="480060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5"/>
                </a:solidFill>
              </a:rPr>
              <a:t>93%</a:t>
            </a:r>
            <a:endParaRPr lang="en-US" sz="3400" dirty="0"/>
          </a:p>
        </p:txBody>
      </p:sp>
      <p:sp>
        <p:nvSpPr>
          <p:cNvPr id="11" name="takeaway text 3"/>
          <p:cNvSpPr txBox="1"/>
          <p:nvPr/>
        </p:nvSpPr>
        <p:spPr>
          <a:xfrm>
            <a:off x="480060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of future defaulters among unseen applicants. The proposed Random Forest model catches them. 2 of every 3 applicants it flagged really defaulted.</a:t>
            </a:r>
            <a:endParaRPr lang="en-US" sz="1200" dirty="0"/>
          </a:p>
        </p:txBody>
      </p:sp>
      <p:sp>
        <p:nvSpPr>
          <p:cNvPr id="12" name="takeaway card 4"/>
          <p:cNvSpPr/>
          <p:nvPr/>
        </p:nvSpPr>
        <p:spPr>
          <a:xfrm>
            <a:off x="676656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3" name="takeaway number 4"/>
          <p:cNvSpPr txBox="1"/>
          <p:nvPr/>
        </p:nvSpPr>
        <p:spPr>
          <a:xfrm>
            <a:off x="690372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~$9M</a:t>
            </a:r>
            <a:endParaRPr lang="en-US" sz="3400" dirty="0"/>
          </a:p>
        </p:txBody>
      </p:sp>
      <p:sp>
        <p:nvSpPr>
          <p:cNvPr id="14" name="takeaway text 4"/>
          <p:cNvSpPr txBox="1"/>
          <p:nvPr/>
        </p:nvSpPr>
        <p:spPr>
          <a:xfrm>
            <a:off x="690372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indicative annual benefit on 6,000 applications, from roughly $10.8M of default-related cost down to about $1.9M.</a:t>
            </a:r>
            <a:endParaRPr lang="en-US" sz="1200" dirty="0"/>
          </a:p>
        </p:txBody>
      </p:sp>
      <p:sp>
        <p:nvSpPr>
          <p:cNvPr id="15" name="recommendation line"/>
          <p:cNvSpPr txBox="1"/>
          <p:nvPr/>
        </p:nvSpPr>
        <p:spPr>
          <a:xfrm>
            <a:off x="457200" y="4069080"/>
            <a:ext cx="8229600" cy="594360"/>
          </a:xfrm>
          <a:prstGeom prst="rect">
            <a:avLst/>
          </a:prstGeom>
          <a:noFill/>
          <a:ln/>
        </p:spPr>
        <p:txBody>
          <a:bodyPr wrap="square" lIns="0" tIns="0" rIns="0" bIns="0" rtlCol="0" anchor="t"/>
          <a:lstStyle/>
          <a:p>
            <a:pPr indent="0" marL="0">
              <a:buNone/>
            </a:pPr>
            <a:r>
              <a:rPr lang="en-US" sz="1250" b="1" dirty="0">
                <a:solidFill>
                  <a:schemeClr val="accent2"/>
                </a:solidFill>
              </a:rPr>
              <a:t>Recommendation: </a:t>
            </a:r>
            <a:pPr indent="0" marL="0">
              <a:buNone/>
            </a:pPr>
            <a:r>
              <a:rPr lang="en-US" sz="1250" dirty="0">
                <a:solidFill>
                  <a:schemeClr val="accent1"/>
                </a:solidFill>
              </a:rPr>
              <a:t>make income and valuation checks mandatory. Deploy the forest at a 0.15 threshold with approve / refer / decline bands, after a two-month shadow run and a fairness review.</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The problem: approving home equity loans without losing the profit to defaults</a:t>
            </a:r>
            <a:endParaRPr lang="en-US" sz="2400" dirty="0"/>
          </a:p>
        </p:txBody>
      </p:sp>
      <p:sp>
        <p:nvSpPr>
          <p:cNvPr id="3" name="problem bullets"/>
          <p:cNvSpPr txBox="1"/>
          <p:nvPr/>
        </p:nvSpPr>
        <p:spPr>
          <a:xfrm>
            <a:off x="457200" y="1143000"/>
            <a:ext cx="4846320" cy="27432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1"/>
                </a:solidFill>
              </a:rPr>
              <a:t>Interest on home loans is a major share of retail bank profit. Defaults consume it.</a:t>
            </a:r>
            <a:endParaRPr lang="en-US" sz="1350" dirty="0"/>
          </a:p>
          <a:p>
            <a:pPr marL="177800" indent="-177800">
              <a:spcAft>
                <a:spcPts val="800"/>
              </a:spcAft>
              <a:buSzPct val="100000"/>
              <a:buChar char="•"/>
            </a:pPr>
            <a:r>
              <a:rPr lang="en-US" sz="1350" dirty="0">
                <a:solidFill>
                  <a:schemeClr val="tx1"/>
                </a:solidFill>
              </a:rPr>
              <a:t>Today each decision is manual: slow, inconsistent across underwriters, open to error and bias.</a:t>
            </a:r>
            <a:endParaRPr lang="en-US" sz="1350" dirty="0"/>
          </a:p>
          <a:p>
            <a:pPr marL="177800" indent="-177800">
              <a:spcAft>
                <a:spcPts val="800"/>
              </a:spcAft>
              <a:buSzPct val="100000"/>
              <a:buChar char="•"/>
            </a:pPr>
            <a:r>
              <a:rPr lang="en-US" sz="1350" dirty="0">
                <a:solidFill>
                  <a:schemeClr val="tx1"/>
                </a:solidFill>
              </a:rPr>
              <a:t>The consumer credit department wants an empirically derived credit-scoring model built on its own recent loans.</a:t>
            </a:r>
            <a:endParaRPr lang="en-US" sz="1350" dirty="0"/>
          </a:p>
          <a:p>
            <a:pPr marL="177800" indent="-177800">
              <a:spcAft>
                <a:spcPts val="800"/>
              </a:spcAft>
              <a:buSzPct val="100000"/>
              <a:buChar char="•"/>
            </a:pPr>
            <a:r>
              <a:rPr lang="en-US" sz="1350" dirty="0">
                <a:solidFill>
                  <a:schemeClr val="tx1"/>
                </a:solidFill>
              </a:rPr>
              <a:t>Constraint: under the Equal Credit Opportunity Act every rejection needs a specific, defensible reason, so the model must be interpretable.</a:t>
            </a:r>
            <a:endParaRPr lang="en-US" sz="1350" dirty="0"/>
          </a:p>
        </p:txBody>
      </p:sp>
      <p:sp>
        <p:nvSpPr>
          <p:cNvPr id="4" name="data card"/>
          <p:cNvSpPr/>
          <p:nvPr/>
        </p:nvSpPr>
        <p:spPr>
          <a:xfrm>
            <a:off x="5577840" y="1143000"/>
            <a:ext cx="3108960" cy="3429000"/>
          </a:xfrm>
          <a:prstGeom prst="roundRect">
            <a:avLst>
              <a:gd name="adj" fmla="val 2353"/>
            </a:avLst>
          </a:prstGeom>
          <a:solidFill>
            <a:schemeClr val="bg2"/>
          </a:solidFill>
          <a:ln w="9525">
            <a:solidFill>
              <a:schemeClr val="bg2"/>
            </a:solidFill>
            <a:prstDash val="solid"/>
          </a:ln>
        </p:spPr>
      </p:sp>
      <p:sp>
        <p:nvSpPr>
          <p:cNvPr id="5" name="data card title"/>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200" b="1" dirty="0">
                <a:solidFill>
                  <a:schemeClr val="accent1"/>
                </a:solidFill>
              </a:rPr>
              <a:t>The data: Home Equity dataset (HMEQ)</a:t>
            </a:r>
            <a:endParaRPr lang="en-US" sz="1200" dirty="0"/>
          </a:p>
        </p:txBody>
      </p:sp>
      <p:sp>
        <p:nvSpPr>
          <p:cNvPr id="6" name="stat 5,960"/>
          <p:cNvSpPr txBox="1"/>
          <p:nvPr/>
        </p:nvSpPr>
        <p:spPr>
          <a:xfrm>
            <a:off x="576072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5,960</a:t>
            </a:r>
            <a:endParaRPr lang="en-US" sz="2800" dirty="0"/>
          </a:p>
        </p:txBody>
      </p:sp>
      <p:sp>
        <p:nvSpPr>
          <p:cNvPr id="7" name="stat label recent loans"/>
          <p:cNvSpPr txBox="1"/>
          <p:nvPr/>
        </p:nvSpPr>
        <p:spPr>
          <a:xfrm>
            <a:off x="576072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recent loans</a:t>
            </a:r>
            <a:endParaRPr lang="en-US" sz="1100" dirty="0"/>
          </a:p>
        </p:txBody>
      </p:sp>
      <p:sp>
        <p:nvSpPr>
          <p:cNvPr id="8" name="stat 12"/>
          <p:cNvSpPr txBox="1"/>
          <p:nvPr/>
        </p:nvSpPr>
        <p:spPr>
          <a:xfrm>
            <a:off x="717804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12</a:t>
            </a:r>
            <a:endParaRPr lang="en-US" sz="2800" dirty="0"/>
          </a:p>
        </p:txBody>
      </p:sp>
      <p:sp>
        <p:nvSpPr>
          <p:cNvPr id="9" name="stat label attributes known at application"/>
          <p:cNvSpPr txBox="1"/>
          <p:nvPr/>
        </p:nvSpPr>
        <p:spPr>
          <a:xfrm>
            <a:off x="717804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attributes known at application</a:t>
            </a:r>
            <a:endParaRPr lang="en-US" sz="1100" dirty="0"/>
          </a:p>
        </p:txBody>
      </p:sp>
      <p:sp>
        <p:nvSpPr>
          <p:cNvPr id="10" name="stat 19.9%"/>
          <p:cNvSpPr txBox="1"/>
          <p:nvPr/>
        </p:nvSpPr>
        <p:spPr>
          <a:xfrm>
            <a:off x="576072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2"/>
                </a:solidFill>
              </a:rPr>
              <a:t>19.9%</a:t>
            </a:r>
            <a:endParaRPr lang="en-US" sz="2800" dirty="0"/>
          </a:p>
        </p:txBody>
      </p:sp>
      <p:sp>
        <p:nvSpPr>
          <p:cNvPr id="11" name="stat label defaulted or seriously delinquent"/>
          <p:cNvSpPr txBox="1"/>
          <p:nvPr/>
        </p:nvSpPr>
        <p:spPr>
          <a:xfrm>
            <a:off x="576072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defaulted or seriously delinquent</a:t>
            </a:r>
            <a:endParaRPr lang="en-US" sz="1100" dirty="0"/>
          </a:p>
        </p:txBody>
      </p:sp>
      <p:sp>
        <p:nvSpPr>
          <p:cNvPr id="12" name="stat 44%"/>
          <p:cNvSpPr txBox="1"/>
          <p:nvPr/>
        </p:nvSpPr>
        <p:spPr>
          <a:xfrm>
            <a:off x="717804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3"/>
                </a:solidFill>
              </a:rPr>
              <a:t>44%</a:t>
            </a:r>
            <a:endParaRPr lang="en-US" sz="2800" dirty="0"/>
          </a:p>
        </p:txBody>
      </p:sp>
      <p:sp>
        <p:nvSpPr>
          <p:cNvPr id="13" name="stat label of applications have a blank field"/>
          <p:cNvSpPr txBox="1"/>
          <p:nvPr/>
        </p:nvSpPr>
        <p:spPr>
          <a:xfrm>
            <a:off x="717804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of applications have a blank field</a:t>
            </a:r>
            <a:endParaRPr lang="en-US" sz="1100" dirty="0"/>
          </a:p>
        </p:txBody>
      </p:sp>
      <p:sp>
        <p:nvSpPr>
          <p:cNvPr id="14" name="objective"/>
          <p:cNvSpPr txBox="1"/>
          <p:nvPr/>
        </p:nvSpPr>
        <p:spPr>
          <a:xfrm>
            <a:off x="457200" y="3977640"/>
            <a:ext cx="4846320" cy="640080"/>
          </a:xfrm>
          <a:prstGeom prst="rect">
            <a:avLst/>
          </a:prstGeom>
          <a:noFill/>
          <a:ln/>
        </p:spPr>
        <p:txBody>
          <a:bodyPr wrap="square" lIns="0" tIns="0" rIns="0" bIns="0" rtlCol="0" anchor="t"/>
          <a:lstStyle/>
          <a:p>
            <a:pPr indent="0" marL="0">
              <a:buNone/>
            </a:pPr>
            <a:r>
              <a:rPr lang="en-US" sz="1250" i="1" dirty="0">
                <a:solidFill>
                  <a:schemeClr val="accent1"/>
                </a:solidFill>
              </a:rPr>
              <a:t>Objective: predict which applicants are likely to default. Tell the bank which attributes to weigh when approving a loan.</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Approach: from raw applications to a decision the bank can defend</a:t>
            </a:r>
            <a:endParaRPr lang="en-US" sz="2400" dirty="0"/>
          </a:p>
        </p:txBody>
      </p:sp>
      <p:sp>
        <p:nvSpPr>
          <p:cNvPr id="3" name="step card 1"/>
          <p:cNvSpPr/>
          <p:nvPr/>
        </p:nvSpPr>
        <p:spPr>
          <a:xfrm>
            <a:off x="457200" y="1234440"/>
            <a:ext cx="1554480" cy="3200400"/>
          </a:xfrm>
          <a:prstGeom prst="roundRect">
            <a:avLst>
              <a:gd name="adj" fmla="val 4706"/>
            </a:avLst>
          </a:prstGeom>
          <a:solidFill>
            <a:schemeClr val="bg2"/>
          </a:solidFill>
          <a:ln w="9525">
            <a:solidFill>
              <a:schemeClr val="bg2"/>
            </a:solidFill>
            <a:prstDash val="solid"/>
          </a:ln>
        </p:spPr>
      </p:sp>
      <p:sp>
        <p:nvSpPr>
          <p:cNvPr id="4" name="step 1"/>
          <p:cNvSpPr/>
          <p:nvPr/>
        </p:nvSpPr>
        <p:spPr>
          <a:xfrm>
            <a:off x="594360" y="1371600"/>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title 1"/>
          <p:cNvSpPr txBox="1"/>
          <p:nvPr/>
        </p:nvSpPr>
        <p:spPr>
          <a:xfrm>
            <a:off x="594360"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Explore</a:t>
            </a:r>
            <a:endParaRPr lang="en-US" sz="1500" dirty="0"/>
          </a:p>
        </p:txBody>
      </p:sp>
      <p:sp>
        <p:nvSpPr>
          <p:cNvPr id="7" name="step text 1"/>
          <p:cNvSpPr txBox="1"/>
          <p:nvPr/>
        </p:nvSpPr>
        <p:spPr>
          <a:xfrm>
            <a:off x="594360"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Univariate, bivariate and correlation analysis. Default rate by band. Pattern of missing values</a:t>
            </a:r>
            <a:endParaRPr lang="en-US" sz="1100" dirty="0"/>
          </a:p>
        </p:txBody>
      </p:sp>
      <p:sp>
        <p:nvSpPr>
          <p:cNvPr id="8" name="step card 2"/>
          <p:cNvSpPr/>
          <p:nvPr/>
        </p:nvSpPr>
        <p:spPr>
          <a:xfrm>
            <a:off x="2139696" y="1234440"/>
            <a:ext cx="1554480" cy="3200400"/>
          </a:xfrm>
          <a:prstGeom prst="roundRect">
            <a:avLst>
              <a:gd name="adj" fmla="val 4706"/>
            </a:avLst>
          </a:prstGeom>
          <a:solidFill>
            <a:schemeClr val="bg2"/>
          </a:solidFill>
          <a:ln w="9525">
            <a:solidFill>
              <a:schemeClr val="bg2"/>
            </a:solidFill>
            <a:prstDash val="solid"/>
          </a:ln>
        </p:spPr>
      </p:sp>
      <p:sp>
        <p:nvSpPr>
          <p:cNvPr id="9" name="step 2"/>
          <p:cNvSpPr/>
          <p:nvPr/>
        </p:nvSpPr>
        <p:spPr>
          <a:xfrm>
            <a:off x="2276856" y="1371600"/>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2276856"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title 2"/>
          <p:cNvSpPr txBox="1"/>
          <p:nvPr/>
        </p:nvSpPr>
        <p:spPr>
          <a:xfrm>
            <a:off x="2276856"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Prepare</a:t>
            </a:r>
            <a:endParaRPr lang="en-US" sz="1500" dirty="0"/>
          </a:p>
        </p:txBody>
      </p:sp>
      <p:sp>
        <p:nvSpPr>
          <p:cNvPr id="12" name="step text 2"/>
          <p:cNvSpPr txBox="1"/>
          <p:nvPr/>
        </p:nvSpPr>
        <p:spPr>
          <a:xfrm>
            <a:off x="2276856"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Reserve a stratified 30% test set first. Flag every missing field. Impute median/mode learned on training rows. Cap outliers for the linear model only. One-hot encode</a:t>
            </a:r>
            <a:endParaRPr lang="en-US" sz="1100" dirty="0"/>
          </a:p>
        </p:txBody>
      </p:sp>
      <p:sp>
        <p:nvSpPr>
          <p:cNvPr id="13" name="step card 3"/>
          <p:cNvSpPr/>
          <p:nvPr/>
        </p:nvSpPr>
        <p:spPr>
          <a:xfrm>
            <a:off x="3822192" y="1234440"/>
            <a:ext cx="1554480" cy="3200400"/>
          </a:xfrm>
          <a:prstGeom prst="roundRect">
            <a:avLst>
              <a:gd name="adj" fmla="val 4706"/>
            </a:avLst>
          </a:prstGeom>
          <a:solidFill>
            <a:schemeClr val="bg2"/>
          </a:solidFill>
          <a:ln w="9525">
            <a:solidFill>
              <a:schemeClr val="bg2"/>
            </a:solidFill>
            <a:prstDash val="solid"/>
          </a:ln>
        </p:spPr>
      </p:sp>
      <p:sp>
        <p:nvSpPr>
          <p:cNvPr id="14" name="step 3"/>
          <p:cNvSpPr/>
          <p:nvPr/>
        </p:nvSpPr>
        <p:spPr>
          <a:xfrm>
            <a:off x="3959352" y="1371600"/>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3959352"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step title 3"/>
          <p:cNvSpPr txBox="1"/>
          <p:nvPr/>
        </p:nvSpPr>
        <p:spPr>
          <a:xfrm>
            <a:off x="3959352"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Model</a:t>
            </a:r>
            <a:endParaRPr lang="en-US" sz="1500" dirty="0"/>
          </a:p>
        </p:txBody>
      </p:sp>
      <p:sp>
        <p:nvSpPr>
          <p:cNvPr id="17" name="step text 3"/>
          <p:cNvSpPr txBox="1"/>
          <p:nvPr/>
        </p:nvSpPr>
        <p:spPr>
          <a:xfrm>
            <a:off x="3959352"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Logistic Regression (linear benchmark), Decision Tree, Bagging, Random Forest. Class weights. Cross-validated grid search</a:t>
            </a:r>
            <a:endParaRPr lang="en-US" sz="1100" dirty="0"/>
          </a:p>
        </p:txBody>
      </p:sp>
      <p:sp>
        <p:nvSpPr>
          <p:cNvPr id="18" name="step card 4"/>
          <p:cNvSpPr/>
          <p:nvPr/>
        </p:nvSpPr>
        <p:spPr>
          <a:xfrm>
            <a:off x="5504688" y="1234440"/>
            <a:ext cx="1554480" cy="3200400"/>
          </a:xfrm>
          <a:prstGeom prst="roundRect">
            <a:avLst>
              <a:gd name="adj" fmla="val 4706"/>
            </a:avLst>
          </a:prstGeom>
          <a:solidFill>
            <a:schemeClr val="accent4"/>
          </a:solidFill>
          <a:ln w="9525">
            <a:solidFill>
              <a:schemeClr val="accent4"/>
            </a:solidFill>
            <a:prstDash val="solid"/>
          </a:ln>
        </p:spPr>
      </p:sp>
      <p:sp>
        <p:nvSpPr>
          <p:cNvPr id="19" name="step 4"/>
          <p:cNvSpPr/>
          <p:nvPr/>
        </p:nvSpPr>
        <p:spPr>
          <a:xfrm>
            <a:off x="5641848" y="1371600"/>
            <a:ext cx="384048" cy="384048"/>
          </a:xfrm>
          <a:prstGeom prst="ellipse">
            <a:avLst/>
          </a:prstGeom>
          <a:solidFill>
            <a:schemeClr val="accent1"/>
          </a:solidFill>
          <a:ln w="12700">
            <a:solidFill>
              <a:schemeClr val="accent1"/>
            </a:solidFill>
            <a:prstDash val="solid"/>
          </a:ln>
        </p:spPr>
      </p:sp>
      <p:sp>
        <p:nvSpPr>
          <p:cNvPr id="20" name="step number 4"/>
          <p:cNvSpPr txBox="1"/>
          <p:nvPr/>
        </p:nvSpPr>
        <p:spPr>
          <a:xfrm>
            <a:off x="5641848"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step title 4"/>
          <p:cNvSpPr txBox="1"/>
          <p:nvPr/>
        </p:nvSpPr>
        <p:spPr>
          <a:xfrm>
            <a:off x="5641848"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Measure</a:t>
            </a:r>
            <a:endParaRPr lang="en-US" sz="1500" dirty="0"/>
          </a:p>
        </p:txBody>
      </p:sp>
      <p:sp>
        <p:nvSpPr>
          <p:cNvPr id="22" name="step text 4"/>
          <p:cNvSpPr txBox="1"/>
          <p:nvPr/>
        </p:nvSpPr>
        <p:spPr>
          <a:xfrm>
            <a:off x="5641848"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Recall on defaulters as the primary metric. Precision, F1, ROC-AUC as guard-rails. Final model, inputs and threshold chosen on out-of-fold expected cost</a:t>
            </a:r>
            <a:endParaRPr lang="en-US" sz="1100" dirty="0"/>
          </a:p>
        </p:txBody>
      </p:sp>
      <p:sp>
        <p:nvSpPr>
          <p:cNvPr id="23" name="step card 5"/>
          <p:cNvSpPr/>
          <p:nvPr/>
        </p:nvSpPr>
        <p:spPr>
          <a:xfrm>
            <a:off x="7187184" y="1234440"/>
            <a:ext cx="1554480" cy="3200400"/>
          </a:xfrm>
          <a:prstGeom prst="roundRect">
            <a:avLst>
              <a:gd name="adj" fmla="val 4706"/>
            </a:avLst>
          </a:prstGeom>
          <a:solidFill>
            <a:schemeClr val="bg2"/>
          </a:solidFill>
          <a:ln w="9525">
            <a:solidFill>
              <a:schemeClr val="bg2"/>
            </a:solidFill>
            <a:prstDash val="solid"/>
          </a:ln>
        </p:spPr>
      </p:sp>
      <p:sp>
        <p:nvSpPr>
          <p:cNvPr id="24" name="step 5"/>
          <p:cNvSpPr/>
          <p:nvPr/>
        </p:nvSpPr>
        <p:spPr>
          <a:xfrm>
            <a:off x="7324344" y="1371600"/>
            <a:ext cx="384048" cy="384048"/>
          </a:xfrm>
          <a:prstGeom prst="ellipse">
            <a:avLst/>
          </a:prstGeom>
          <a:solidFill>
            <a:schemeClr val="accent1"/>
          </a:solidFill>
          <a:ln w="12700">
            <a:solidFill>
              <a:schemeClr val="accent1"/>
            </a:solidFill>
            <a:prstDash val="solid"/>
          </a:ln>
        </p:spPr>
      </p:sp>
      <p:sp>
        <p:nvSpPr>
          <p:cNvPr id="25" name="step number 5"/>
          <p:cNvSpPr txBox="1"/>
          <p:nvPr/>
        </p:nvSpPr>
        <p:spPr>
          <a:xfrm>
            <a:off x="7324344"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step title 5"/>
          <p:cNvSpPr txBox="1"/>
          <p:nvPr/>
        </p:nvSpPr>
        <p:spPr>
          <a:xfrm>
            <a:off x="7324344"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Recommend</a:t>
            </a:r>
            <a:endParaRPr lang="en-US" sz="1500" dirty="0"/>
          </a:p>
        </p:txBody>
      </p:sp>
      <p:sp>
        <p:nvSpPr>
          <p:cNvPr id="27" name="step text 5"/>
          <p:cNvSpPr txBox="1"/>
          <p:nvPr/>
        </p:nvSpPr>
        <p:spPr>
          <a:xfrm>
            <a:off x="7324344"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Model specification, business rules, implementation plan, benefits, risks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1: information the applicant did not provide is the strongest warning sign</a:t>
            </a:r>
            <a:endParaRPr lang="en-US" sz="2400" dirty="0"/>
          </a:p>
        </p:txBody>
      </p:sp>
      <p:graphicFrame>
        <p:nvGraphicFramePr>
          <p:cNvPr id="3" name="missing fields chart" descr=""/>
          <p:cNvGraphicFramePr/>
          <p:nvPr/>
        </p:nvGraphicFramePr>
        <p:xfrm>
          <a:off x="365760" y="109728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nsight 1 bullets"/>
          <p:cNvSpPr txBox="1"/>
          <p:nvPr/>
        </p:nvSpPr>
        <p:spPr>
          <a:xfrm>
            <a:off x="5669280" y="1143000"/>
            <a:ext cx="3108960" cy="35661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No recorded debt-to-income ratio: 62% default (1,267 applicants, 21% of the data).</a:t>
            </a:r>
            <a:endParaRPr lang="en-US" sz="1250" dirty="0"/>
          </a:p>
          <a:p>
            <a:pPr marL="177800" indent="-177800">
              <a:spcAft>
                <a:spcPts val="800"/>
              </a:spcAft>
              <a:buSzPct val="100000"/>
              <a:buChar char="•"/>
            </a:pPr>
            <a:r>
              <a:rPr lang="en-US" sz="1250" dirty="0">
                <a:solidFill>
                  <a:schemeClr val="tx1"/>
                </a:solidFill>
              </a:rPr>
              <a:t>No property valuation: 94% default (112 applicants).</a:t>
            </a:r>
            <a:endParaRPr lang="en-US" sz="1250" dirty="0"/>
          </a:p>
          <a:p>
            <a:pPr marL="177800" indent="-177800">
              <a:spcAft>
                <a:spcPts val="800"/>
              </a:spcAft>
              <a:buSzPct val="100000"/>
              <a:buChar char="•"/>
            </a:pPr>
            <a:r>
              <a:rPr lang="en-US" sz="1250" dirty="0">
                <a:solidFill>
                  <a:schemeClr val="tx1"/>
                </a:solidFill>
              </a:rPr>
              <a:t>The overall default rate is 20%, so these gaps multiply risk 3 to 5 times.</a:t>
            </a:r>
            <a:endParaRPr lang="en-US" sz="1250" dirty="0"/>
          </a:p>
          <a:p>
            <a:pPr marL="177800" indent="-177800">
              <a:spcAft>
                <a:spcPts val="800"/>
              </a:spcAft>
              <a:buSzPct val="100000"/>
              <a:buChar char="•"/>
            </a:pPr>
            <a:r>
              <a:rPr lang="en-US" sz="1250" dirty="0">
                <a:solidFill>
                  <a:schemeClr val="tx1"/>
                </a:solidFill>
              </a:rPr>
              <a:t>Interpretation: the bank could not check the income or collateral, or the applicant chose not to supply it.</a:t>
            </a:r>
            <a:endParaRPr lang="en-US" sz="1250" dirty="0"/>
          </a:p>
          <a:p>
            <a:pPr marL="177800" indent="-177800">
              <a:spcAft>
                <a:spcPts val="800"/>
              </a:spcAft>
              <a:buSzPct val="100000"/>
              <a:buChar char="•"/>
            </a:pPr>
            <a:r>
              <a:rPr lang="en-US" sz="1250" dirty="0">
                <a:solidFill>
                  <a:schemeClr val="tx1"/>
                </a:solidFill>
              </a:rPr>
              <a:t>Action: every imputed field gets a 'was missing' flag for the models. Verification should become mandatory in the process.</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2: debt burden has a cliff at 45%, and past delinquency repeats</a:t>
            </a:r>
            <a:endParaRPr lang="en-US" sz="2400" dirty="0"/>
          </a:p>
        </p:txBody>
      </p:sp>
      <p:graphicFrame>
        <p:nvGraphicFramePr>
          <p:cNvPr id="3" name="debt to income chart" descr=""/>
          <p:cNvGraphicFramePr/>
          <p:nvPr/>
        </p:nvGraphicFramePr>
        <p:xfrm>
          <a:off x="365760" y="1097280"/>
          <a:ext cx="416052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linquency chart" descr=""/>
          <p:cNvGraphicFramePr/>
          <p:nvPr/>
        </p:nvGraphicFramePr>
        <p:xfrm>
          <a:off x="4617720" y="1097280"/>
          <a:ext cx="4160520" cy="3017520"/>
        </p:xfrm>
        <a:graphic xmlns:a="http://schemas.openxmlformats.org/drawingml/2006/main">
          <a:graphicData uri="http://schemas.openxmlformats.org/drawingml/2006/chart">
            <c:chart xmlns:c="http://schemas.openxmlformats.org/drawingml/2006/chart" r:id="rId2"/>
          </a:graphicData>
        </a:graphic>
      </p:graphicFrame>
      <p:sp>
        <p:nvSpPr>
          <p:cNvPr id="5" name="insight 2 summary"/>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Between a 20% and a 40% ratio only 4-7% default. Above 45% almost everyone does. The first delinquent line or derogatory report more than doubles the risk. Each further one raises it again (delinquent lines: 14% at zero, 34% at one, 100% at six or more).</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3: long credit histories protect, small loans do not, occupation matters less</a:t>
            </a:r>
            <a:endParaRPr lang="en-US" sz="2400" dirty="0"/>
          </a:p>
        </p:txBody>
      </p:sp>
      <p:graphicFrame>
        <p:nvGraphicFramePr>
          <p:cNvPr id="3" name="credit age chart" descr=""/>
          <p:cNvGraphicFramePr/>
          <p:nvPr/>
        </p:nvGraphicFramePr>
        <p:xfrm>
          <a:off x="365760" y="1097280"/>
          <a:ext cx="283464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loan amount chart" descr=""/>
          <p:cNvGraphicFramePr/>
          <p:nvPr/>
        </p:nvGraphicFramePr>
        <p:xfrm>
          <a:off x="3200400" y="1097280"/>
          <a:ext cx="2834640" cy="28346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occupation chart" descr=""/>
          <p:cNvGraphicFramePr/>
          <p:nvPr/>
        </p:nvGraphicFramePr>
        <p:xfrm>
          <a:off x="6035040" y="1097280"/>
          <a:ext cx="2743200" cy="2834640"/>
        </p:xfrm>
        <a:graphic xmlns:a="http://schemas.openxmlformats.org/drawingml/2006/main">
          <a:graphicData uri="http://schemas.openxmlformats.org/drawingml/2006/chart">
            <c:chart xmlns:c="http://schemas.openxmlformats.org/drawingml/2006/chart" r:id="rId3"/>
          </a:graphicData>
        </a:graphic>
      </p:graphicFrame>
      <p:sp>
        <p:nvSpPr>
          <p:cNvPr id="6" name="insight 3 summary"/>
          <p:cNvSpPr txBox="1"/>
          <p:nvPr/>
        </p:nvSpPr>
        <p:spPr>
          <a:xfrm>
            <a:off x="457200" y="3977640"/>
            <a:ext cx="8229600" cy="731520"/>
          </a:xfrm>
          <a:prstGeom prst="rect">
            <a:avLst/>
          </a:prstGeom>
          <a:noFill/>
          <a:ln/>
        </p:spPr>
        <p:txBody>
          <a:bodyPr wrap="square" lIns="0" tIns="0" rIns="0" bIns="0" rtlCol="0" anchor="t"/>
          <a:lstStyle/>
          <a:p>
            <a:pPr indent="0" marL="0">
              <a:buNone/>
            </a:pPr>
            <a:r>
              <a:rPr lang="en-US" sz="1150" dirty="0">
                <a:solidFill>
                  <a:schemeClr val="tx1"/>
                </a:solidFill>
              </a:rPr>
              <a:t>Default rate (%) by group. Applicants with under five years of credit history default four times as often as those with twenty-plus years. Loans under $5,000 default 57% of the time. Occupation shifts risk moderately and adds little on its own at the usual threshold. But removing it from the final model raises the expected cost of credit errors by about 13%. So it stays, subject to the fair-lending review.</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Measure of success: the two mistakes do not cost the same</a:t>
            </a:r>
            <a:endParaRPr lang="en-US" sz="2400" dirty="0"/>
          </a:p>
        </p:txBody>
      </p:sp>
      <p:sp>
        <p:nvSpPr>
          <p:cNvPr id="3" name="error card 1"/>
          <p:cNvSpPr/>
          <p:nvPr/>
        </p:nvSpPr>
        <p:spPr>
          <a:xfrm>
            <a:off x="457200" y="1188720"/>
            <a:ext cx="4023360" cy="2011680"/>
          </a:xfrm>
          <a:prstGeom prst="roundRect">
            <a:avLst>
              <a:gd name="adj" fmla="val 3636"/>
            </a:avLst>
          </a:prstGeom>
          <a:solidFill>
            <a:schemeClr val="bg2"/>
          </a:solidFill>
          <a:ln w="9525">
            <a:solidFill>
              <a:schemeClr val="bg2"/>
            </a:solidFill>
            <a:prstDash val="solid"/>
          </a:ln>
        </p:spPr>
      </p:sp>
      <p:sp>
        <p:nvSpPr>
          <p:cNvPr id="4" name="error marker 1"/>
          <p:cNvSpPr/>
          <p:nvPr/>
        </p:nvSpPr>
        <p:spPr>
          <a:xfrm>
            <a:off x="640080" y="1371600"/>
            <a:ext cx="457200" cy="457200"/>
          </a:xfrm>
          <a:prstGeom prst="ellipse">
            <a:avLst/>
          </a:prstGeom>
          <a:solidFill>
            <a:schemeClr val="accent2"/>
          </a:solidFill>
          <a:ln w="12700">
            <a:solidFill>
              <a:schemeClr val="accent2"/>
            </a:solidFill>
            <a:prstDash val="solid"/>
          </a:ln>
        </p:spPr>
      </p:sp>
      <p:sp>
        <p:nvSpPr>
          <p:cNvPr id="5" name="error title 1"/>
          <p:cNvSpPr txBox="1"/>
          <p:nvPr/>
        </p:nvSpPr>
        <p:spPr>
          <a:xfrm>
            <a:off x="1234440" y="1325880"/>
            <a:ext cx="3108960" cy="548640"/>
          </a:xfrm>
          <a:prstGeom prst="rect">
            <a:avLst/>
          </a:prstGeom>
          <a:noFill/>
          <a:ln/>
        </p:spPr>
        <p:txBody>
          <a:bodyPr wrap="square" lIns="0" tIns="0" rIns="0" bIns="0" rtlCol="0" anchor="ctr"/>
          <a:lstStyle/>
          <a:p>
            <a:pPr indent="0" marL="0">
              <a:buNone/>
            </a:pPr>
            <a:r>
              <a:rPr lang="en-US" sz="1700" b="1" dirty="0">
                <a:solidFill>
                  <a:schemeClr val="accent2"/>
                </a:solidFill>
              </a:rPr>
              <a:t>Missed defaulter</a:t>
            </a:r>
            <a:endParaRPr lang="en-US" sz="1700" dirty="0"/>
          </a:p>
        </p:txBody>
      </p:sp>
      <p:sp>
        <p:nvSpPr>
          <p:cNvPr id="6" name="error desc 1"/>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repay'. The customer defaults.</a:t>
            </a:r>
            <a:endParaRPr lang="en-US" sz="1200" dirty="0"/>
          </a:p>
        </p:txBody>
      </p:sp>
      <p:sp>
        <p:nvSpPr>
          <p:cNvPr id="7" name="error cost 1"/>
          <p:cNvSpPr txBox="1"/>
          <p:nvPr/>
        </p:nvSpPr>
        <p:spPr>
          <a:xfrm>
            <a:off x="64008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loses a large part of the principal plus collection cost: about $9,000 on an average $16,900 defaulted loan.</a:t>
            </a:r>
            <a:endParaRPr lang="en-US" sz="1200" dirty="0"/>
          </a:p>
        </p:txBody>
      </p:sp>
      <p:sp>
        <p:nvSpPr>
          <p:cNvPr id="8" name="error card 2"/>
          <p:cNvSpPr/>
          <p:nvPr/>
        </p:nvSpPr>
        <p:spPr>
          <a:xfrm>
            <a:off x="4663440" y="1188720"/>
            <a:ext cx="4023360" cy="2011680"/>
          </a:xfrm>
          <a:prstGeom prst="roundRect">
            <a:avLst>
              <a:gd name="adj" fmla="val 3636"/>
            </a:avLst>
          </a:prstGeom>
          <a:solidFill>
            <a:schemeClr val="bg2"/>
          </a:solidFill>
          <a:ln w="9525">
            <a:solidFill>
              <a:schemeClr val="bg2"/>
            </a:solidFill>
            <a:prstDash val="solid"/>
          </a:ln>
        </p:spPr>
      </p:sp>
      <p:sp>
        <p:nvSpPr>
          <p:cNvPr id="9" name="error marker 2"/>
          <p:cNvSpPr/>
          <p:nvPr/>
        </p:nvSpPr>
        <p:spPr>
          <a:xfrm>
            <a:off x="4846320" y="1371600"/>
            <a:ext cx="457200" cy="457200"/>
          </a:xfrm>
          <a:prstGeom prst="ellipse">
            <a:avLst/>
          </a:prstGeom>
          <a:solidFill>
            <a:schemeClr val="accent3"/>
          </a:solidFill>
          <a:ln w="12700">
            <a:solidFill>
              <a:schemeClr val="accent3"/>
            </a:solidFill>
            <a:prstDash val="solid"/>
          </a:ln>
        </p:spPr>
      </p:sp>
      <p:sp>
        <p:nvSpPr>
          <p:cNvPr id="10" name="error title 2"/>
          <p:cNvSpPr txBox="1"/>
          <p:nvPr/>
        </p:nvSpPr>
        <p:spPr>
          <a:xfrm>
            <a:off x="5440680" y="1325880"/>
            <a:ext cx="3108960" cy="548640"/>
          </a:xfrm>
          <a:prstGeom prst="rect">
            <a:avLst/>
          </a:prstGeom>
          <a:noFill/>
          <a:ln/>
        </p:spPr>
        <p:txBody>
          <a:bodyPr wrap="square" lIns="0" tIns="0" rIns="0" bIns="0" rtlCol="0" anchor="ctr"/>
          <a:lstStyle/>
          <a:p>
            <a:pPr indent="0" marL="0">
              <a:buNone/>
            </a:pPr>
            <a:r>
              <a:rPr lang="en-US" sz="1700" b="1" dirty="0">
                <a:solidFill>
                  <a:schemeClr val="accent3"/>
                </a:solidFill>
              </a:rPr>
              <a:t>Wrongly declined</a:t>
            </a:r>
            <a:endParaRPr lang="en-US" sz="1700" dirty="0"/>
          </a:p>
        </p:txBody>
      </p:sp>
      <p:sp>
        <p:nvSpPr>
          <p:cNvPr id="11" name="error desc 2"/>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default'. The customer is creditworthy.</a:t>
            </a:r>
            <a:endParaRPr lang="en-US" sz="1200" dirty="0"/>
          </a:p>
        </p:txBody>
      </p:sp>
      <p:sp>
        <p:nvSpPr>
          <p:cNvPr id="12" name="error cost 2"/>
          <p:cNvSpPr txBox="1"/>
          <p:nvPr/>
        </p:nvSpPr>
        <p:spPr>
          <a:xfrm>
            <a:off x="484632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forgoes the interest margin on one good applicant: about $2,000.</a:t>
            </a:r>
            <a:endParaRPr lang="en-US" sz="1200" dirty="0"/>
          </a:p>
        </p:txBody>
      </p:sp>
      <p:sp>
        <p:nvSpPr>
          <p:cNvPr id="13" name="metric bullets"/>
          <p:cNvSpPr txBox="1"/>
          <p:nvPr/>
        </p:nvSpPr>
        <p:spPr>
          <a:xfrm>
            <a:off x="457200" y="3383280"/>
            <a:ext cx="8229600" cy="13258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A missed defaulter costs roughly 4.5 times a wrongly declined customer. So the primary metric is Recall: the share of future defaulters the model catches.</a:t>
            </a:r>
            <a:endParaRPr lang="en-US" sz="1250" dirty="0"/>
          </a:p>
          <a:p>
            <a:pPr marL="177800" indent="-177800">
              <a:spcAft>
                <a:spcPts val="800"/>
              </a:spcAft>
              <a:buSzPct val="100000"/>
              <a:buChar char="•"/>
            </a:pPr>
            <a:r>
              <a:rPr lang="en-US" sz="1250" dirty="0">
                <a:solidFill>
                  <a:schemeClr val="tx1"/>
                </a:solidFill>
              </a:rPr>
              <a:t>Guard-rails: Precision (how many flagged applicants really default) and F1, so the model does not simply decline everyone. ROC-AUC measures how well the model ranks applicants by risk, which matters when the threshold moves.</a:t>
            </a:r>
            <a:endParaRPr lang="en-US" sz="1250" dirty="0"/>
          </a:p>
          <a:p>
            <a:pPr marL="177800" indent="-177800">
              <a:spcAft>
                <a:spcPts val="800"/>
              </a:spcAft>
              <a:buSzPct val="100000"/>
              <a:buChar char="•"/>
            </a:pPr>
            <a:r>
              <a:rPr lang="en-US" sz="1250" dirty="0">
                <a:solidFill>
                  <a:schemeClr val="tx1"/>
                </a:solidFill>
              </a:rPr>
              <a:t>We tune individual models by cross-validated grid search on recall. We choose the final model and its threshold on out-of-fold expected cost, training rows only. We score the 30% test set once.</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Model comparison: the Random Forest gives the best balance</a:t>
            </a:r>
            <a:endParaRPr lang="en-US" sz="2400" dirty="0"/>
          </a:p>
        </p:txBody>
      </p:sp>
      <p:graphicFrame>
        <p:nvGraphicFramePr>
          <p:cNvPr id="3" name="model comparison chart" descr=""/>
          <p:cNvGraphicFramePr/>
          <p:nvPr/>
        </p:nvGraphicFramePr>
        <p:xfrm>
          <a:off x="365760" y="109728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comparison bullets"/>
          <p:cNvSpPr txBox="1"/>
          <p:nvPr/>
        </p:nvSpPr>
        <p:spPr>
          <a:xfrm>
            <a:off x="5897880" y="1143000"/>
            <a:ext cx="288036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Linear vs non-linear: logistic regression reaches 80% recall but only 61% precision. The data is made of steps, which trees capture and a straight line cannot.</a:t>
            </a:r>
            <a:endParaRPr lang="en-US" sz="1200" dirty="0"/>
          </a:p>
          <a:p>
            <a:pPr marL="177800" indent="-177800">
              <a:spcAft>
                <a:spcPts val="800"/>
              </a:spcAft>
              <a:buSzPct val="100000"/>
              <a:buChar char="•"/>
            </a:pPr>
            <a:r>
              <a:rPr lang="en-US" sz="1200" dirty="0">
                <a:solidFill>
                  <a:schemeClr val="tx1"/>
                </a:solidFill>
              </a:rPr>
              <a:t>Single tree vs ensembles: the tuned tree catches 82% but declines almost one good customer per defaulter caught (53% precision). Bagging 200 trees lifts precision to 83% and AUC to 0.95 at 68% recall.</a:t>
            </a:r>
            <a:endParaRPr lang="en-US" sz="1200" dirty="0"/>
          </a:p>
          <a:p>
            <a:pPr marL="177800" indent="-177800">
              <a:spcAft>
                <a:spcPts val="800"/>
              </a:spcAft>
              <a:buSzPct val="100000"/>
              <a:buChar char="•"/>
            </a:pPr>
            <a:r>
              <a:rPr lang="en-US" sz="1200" dirty="0">
                <a:solidFill>
                  <a:schemeClr val="tx1"/>
                </a:solidFill>
              </a:rPr>
              <a:t>The class-weighted forest: 77% recall at 77% precision, ROC-AUC 0.96, among the best at ranking applicants by risk.</a:t>
            </a:r>
            <a:endParaRPr lang="en-US" sz="1200" dirty="0"/>
          </a:p>
          <a:p>
            <a:pPr marL="177800" indent="-177800">
              <a:spcAft>
                <a:spcPts val="800"/>
              </a:spcAft>
              <a:buSzPct val="100000"/>
              <a:buChar char="•"/>
            </a:pPr>
            <a:r>
              <a:rPr lang="en-US" sz="1200" dirty="0">
                <a:solidFill>
                  <a:schemeClr val="tx1"/>
                </a:solidFill>
              </a:rPr>
              <a:t>Final choice on the expected cost of mistakes (training rows only), by a rule fixed beforehand: lowest mean cost, simplest if within noise. The plain forest on 22 inputs at 0.15 catches 93% at 67% precision on test.</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Proposed solution: a Random Forest scorer explained by a surrogate decision tree</a:t>
            </a:r>
            <a:endParaRPr lang="en-US" sz="2400" dirty="0"/>
          </a:p>
        </p:txBody>
      </p:sp>
      <p:sp>
        <p:nvSpPr>
          <p:cNvPr id="3" name="spec card"/>
          <p:cNvSpPr/>
          <p:nvPr/>
        </p:nvSpPr>
        <p:spPr>
          <a:xfrm>
            <a:off x="457200" y="1143000"/>
            <a:ext cx="4846320" cy="3520440"/>
          </a:xfrm>
          <a:prstGeom prst="roundRect">
            <a:avLst>
              <a:gd name="adj" fmla="val 2078"/>
            </a:avLst>
          </a:prstGeom>
          <a:solidFill>
            <a:schemeClr val="bg2"/>
          </a:solidFill>
          <a:ln w="9525">
            <a:solidFill>
              <a:schemeClr val="bg2"/>
            </a:solidFill>
            <a:prstDash val="solid"/>
          </a:ln>
        </p:spPr>
      </p:sp>
      <p:sp>
        <p:nvSpPr>
          <p:cNvPr id="4" name="spec title"/>
          <p:cNvSpPr txBox="1"/>
          <p:nvPr/>
        </p:nvSpPr>
        <p:spPr>
          <a:xfrm>
            <a:off x="640080" y="1234440"/>
            <a:ext cx="4480560" cy="365760"/>
          </a:xfrm>
          <a:prstGeom prst="rect">
            <a:avLst/>
          </a:prstGeom>
          <a:noFill/>
          <a:ln/>
        </p:spPr>
        <p:txBody>
          <a:bodyPr wrap="square" lIns="0" tIns="0" rIns="0" bIns="0" rtlCol="0" anchor="ctr"/>
          <a:lstStyle/>
          <a:p>
            <a:pPr indent="0" marL="0">
              <a:buNone/>
            </a:pPr>
            <a:r>
              <a:rPr lang="en-US" sz="1400" b="1" dirty="0">
                <a:solidFill>
                  <a:schemeClr val="accent1"/>
                </a:solidFill>
              </a:rPr>
              <a:t>Model specification</a:t>
            </a:r>
            <a:endParaRPr lang="en-US" sz="1400" dirty="0"/>
          </a:p>
        </p:txBody>
      </p:sp>
      <p:sp>
        <p:nvSpPr>
          <p:cNvPr id="5" name="spec bullets"/>
          <p:cNvSpPr txBox="1"/>
          <p:nvPr/>
        </p:nvSpPr>
        <p:spPr>
          <a:xfrm>
            <a:off x="640080" y="1645920"/>
            <a:ext cx="448056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Scoring engine: Random Forest, 200 fully grown trees, no class weights (the threshold handles the imbalance).</a:t>
            </a:r>
            <a:endParaRPr lang="en-US" sz="1100" dirty="0"/>
          </a:p>
          <a:p>
            <a:pPr marL="177800" indent="-177800">
              <a:spcAft>
                <a:spcPts val="800"/>
              </a:spcAft>
              <a:buSzPct val="100000"/>
              <a:buChar char="•"/>
            </a:pPr>
            <a:r>
              <a:rPr lang="en-US" sz="1100" dirty="0">
                <a:solidFill>
                  <a:schemeClr val="tx1"/>
                </a:solidFill>
              </a:rPr>
              <a:t>Inputs: 22 of 27 (10 attributes, 6 missing-value flags, occupation and loan purpose). Fallback without occupation: 16 inputs, about 13% more cost.</a:t>
            </a:r>
            <a:endParaRPr lang="en-US" sz="1100" dirty="0"/>
          </a:p>
          <a:p>
            <a:pPr marL="177800" indent="-177800">
              <a:spcAft>
                <a:spcPts val="800"/>
              </a:spcAft>
              <a:buSzPct val="100000"/>
              <a:buChar char="•"/>
            </a:pPr>
            <a:r>
              <a:rPr lang="en-US" sz="1100" dirty="0">
                <a:solidFill>
                  <a:schemeClr val="tx1"/>
                </a:solidFill>
              </a:rPr>
              <a:t>Threshold 0.15, chosen with the configuration on repeated out-of-fold expected cost (training rows). It holds for cost ratios 4.5:1 to 8:1 and across splits. Approve / refer / decline bands (69% / 7% / 24%) keep an underwriter in the loop.</a:t>
            </a:r>
            <a:endParaRPr lang="en-US" sz="1100" dirty="0"/>
          </a:p>
          <a:p>
            <a:pPr marL="177800" indent="-177800">
              <a:spcAft>
                <a:spcPts val="800"/>
              </a:spcAft>
              <a:buSzPct val="100000"/>
              <a:buChar char="•"/>
            </a:pPr>
            <a:r>
              <a:rPr lang="en-US" sz="1100" dirty="0">
                <a:solidFill>
                  <a:schemeClr val="tx1"/>
                </a:solidFill>
              </a:rPr>
              <a:t>Explanation layer: a depth-4 surrogate tree reproduces 93% of the forest's test decisions and gives the plain-language summary. Per-applicant risk drivers (built before the shadow run) give each decline its ECOA reason.</a:t>
            </a:r>
            <a:endParaRPr lang="en-US" sz="1100" dirty="0"/>
          </a:p>
          <a:p>
            <a:pPr marL="177800" indent="-177800">
              <a:spcAft>
                <a:spcPts val="800"/>
              </a:spcAft>
              <a:buSzPct val="100000"/>
              <a:buChar char="•"/>
            </a:pPr>
            <a:r>
              <a:rPr lang="en-US" sz="1100" dirty="0">
                <a:solidFill>
                  <a:schemeClr val="tx1"/>
                </a:solidFill>
              </a:rPr>
              <a:t>We scored the reserved test set once, after all choices.</a:t>
            </a:r>
            <a:endParaRPr lang="en-US" sz="1100" dirty="0"/>
          </a:p>
        </p:txBody>
      </p:sp>
      <p:sp>
        <p:nvSpPr>
          <p:cNvPr id="6" name="stat 93%"/>
          <p:cNvSpPr txBox="1"/>
          <p:nvPr/>
        </p:nvSpPr>
        <p:spPr>
          <a:xfrm>
            <a:off x="55778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5"/>
                </a:solidFill>
              </a:rPr>
              <a:t>93%</a:t>
            </a:r>
            <a:endParaRPr lang="en-US" sz="3400" dirty="0"/>
          </a:p>
        </p:txBody>
      </p:sp>
      <p:sp>
        <p:nvSpPr>
          <p:cNvPr id="7" name="stat label of defaulters caught"/>
          <p:cNvSpPr txBox="1"/>
          <p:nvPr/>
        </p:nvSpPr>
        <p:spPr>
          <a:xfrm>
            <a:off x="55778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defaulters caught</a:t>
            </a:r>
            <a:endParaRPr lang="en-US" sz="1100" dirty="0"/>
          </a:p>
        </p:txBody>
      </p:sp>
      <p:sp>
        <p:nvSpPr>
          <p:cNvPr id="8" name="stat 67%"/>
          <p:cNvSpPr txBox="1"/>
          <p:nvPr/>
        </p:nvSpPr>
        <p:spPr>
          <a:xfrm>
            <a:off x="71780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67%</a:t>
            </a:r>
            <a:endParaRPr lang="en-US" sz="3400" dirty="0"/>
          </a:p>
        </p:txBody>
      </p:sp>
      <p:sp>
        <p:nvSpPr>
          <p:cNvPr id="9" name="stat label of flagged applicants truly default"/>
          <p:cNvSpPr txBox="1"/>
          <p:nvPr/>
        </p:nvSpPr>
        <p:spPr>
          <a:xfrm>
            <a:off x="71780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flagged applicants truly default</a:t>
            </a:r>
            <a:endParaRPr lang="en-US" sz="1100" dirty="0"/>
          </a:p>
        </p:txBody>
      </p:sp>
      <p:sp>
        <p:nvSpPr>
          <p:cNvPr id="10" name="stat 0.96"/>
          <p:cNvSpPr txBox="1"/>
          <p:nvPr/>
        </p:nvSpPr>
        <p:spPr>
          <a:xfrm>
            <a:off x="55778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0.96</a:t>
            </a:r>
            <a:endParaRPr lang="en-US" sz="3400" dirty="0"/>
          </a:p>
        </p:txBody>
      </p:sp>
      <p:sp>
        <p:nvSpPr>
          <p:cNvPr id="11" name="stat label ROC-AUC: risk ranking quality"/>
          <p:cNvSpPr txBox="1"/>
          <p:nvPr/>
        </p:nvSpPr>
        <p:spPr>
          <a:xfrm>
            <a:off x="55778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ROC-AUC: risk ranking quality</a:t>
            </a:r>
            <a:endParaRPr lang="en-US" sz="1100" dirty="0"/>
          </a:p>
        </p:txBody>
      </p:sp>
      <p:sp>
        <p:nvSpPr>
          <p:cNvPr id="12" name="stat 90%"/>
          <p:cNvSpPr txBox="1"/>
          <p:nvPr/>
        </p:nvSpPr>
        <p:spPr>
          <a:xfrm>
            <a:off x="71780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90%</a:t>
            </a:r>
            <a:endParaRPr lang="en-US" sz="3400" dirty="0"/>
          </a:p>
        </p:txBody>
      </p:sp>
      <p:sp>
        <p:nvSpPr>
          <p:cNvPr id="13" name="stat label overall accuracy"/>
          <p:cNvSpPr txBox="1"/>
          <p:nvPr/>
        </p:nvSpPr>
        <p:spPr>
          <a:xfrm>
            <a:off x="71780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overall accuracy</a:t>
            </a:r>
            <a:endParaRPr lang="en-US" sz="1100" dirty="0"/>
          </a:p>
        </p:txBody>
      </p:sp>
      <p:sp>
        <p:nvSpPr>
          <p:cNvPr id="14" name="per 1000 note"/>
          <p:cNvSpPr txBox="1"/>
          <p:nvPr/>
        </p:nvSpPr>
        <p:spPr>
          <a:xfrm>
            <a:off x="5577840" y="3886200"/>
            <a:ext cx="3108960" cy="777240"/>
          </a:xfrm>
          <a:prstGeom prst="rect">
            <a:avLst/>
          </a:prstGeom>
          <a:noFill/>
          <a:ln/>
        </p:spPr>
        <p:txBody>
          <a:bodyPr wrap="square" lIns="0" tIns="0" rIns="0" bIns="0" rtlCol="0" anchor="t"/>
          <a:lstStyle/>
          <a:p>
            <a:pPr indent="0" marL="0">
              <a:buNone/>
            </a:pPr>
            <a:r>
              <a:rPr lang="en-US" sz="1150" i="1" dirty="0">
                <a:solidFill>
                  <a:schemeClr val="tx1"/>
                </a:solidFill>
              </a:rPr>
              <a:t>Per 1,000 applicants at 0.15: 185 of 200 defaulters flagged in advance, 15 missed, 90 good customers flagged. 27% of applicants flagged, 73% approved.</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Why a 0.15 threshold: it is a business dial, not a constant</a:t>
            </a:r>
            <a:endParaRPr lang="en-US" sz="2400" dirty="0"/>
          </a:p>
        </p:txBody>
      </p:sp>
      <p:graphicFrame>
        <p:nvGraphicFramePr>
          <p:cNvPr id="3" name="threshold chart" descr=""/>
          <p:cNvGraphicFramePr/>
          <p:nvPr/>
        </p:nvGraphicFramePr>
        <p:xfrm>
          <a:off x="365760" y="1097280"/>
          <a:ext cx="4846320" cy="3200400"/>
        </p:xfrm>
        <a:graphic xmlns:a="http://schemas.openxmlformats.org/drawingml/2006/main">
          <a:graphicData uri="http://schemas.openxmlformats.org/drawingml/2006/chart">
            <c:chart xmlns:c="http://schemas.openxmlformats.org/drawingml/2006/chart" r:id="rId1"/>
          </a:graphicData>
        </a:graphic>
      </p:graphicFrame>
      <p:sp>
        <p:nvSpPr>
          <p:cNvPr id="4" name="threshold card 1"/>
          <p:cNvSpPr/>
          <p:nvPr/>
        </p:nvSpPr>
        <p:spPr>
          <a:xfrm>
            <a:off x="5394960" y="1143000"/>
            <a:ext cx="3383280" cy="1463040"/>
          </a:xfrm>
          <a:prstGeom prst="roundRect">
            <a:avLst>
              <a:gd name="adj" fmla="val 5000"/>
            </a:avLst>
          </a:prstGeom>
          <a:solidFill>
            <a:schemeClr val="bg2"/>
          </a:solidFill>
          <a:ln w="9525">
            <a:solidFill>
              <a:schemeClr val="bg2"/>
            </a:solidFill>
            <a:prstDash val="solid"/>
          </a:ln>
        </p:spPr>
      </p:sp>
      <p:sp>
        <p:nvSpPr>
          <p:cNvPr id="5" name="threshold card title 1"/>
          <p:cNvSpPr txBox="1"/>
          <p:nvPr/>
        </p:nvSpPr>
        <p:spPr>
          <a:xfrm>
            <a:off x="5577840" y="1234440"/>
            <a:ext cx="3017520" cy="365760"/>
          </a:xfrm>
          <a:prstGeom prst="rect">
            <a:avLst/>
          </a:prstGeom>
          <a:noFill/>
          <a:ln/>
        </p:spPr>
        <p:txBody>
          <a:bodyPr wrap="square" lIns="0" tIns="0" rIns="0" bIns="0" rtlCol="0" anchor="ctr"/>
          <a:lstStyle/>
          <a:p>
            <a:pPr indent="0" marL="0">
              <a:buNone/>
            </a:pPr>
            <a:r>
              <a:rPr lang="en-US" sz="1400" b="1" dirty="0">
                <a:solidFill>
                  <a:schemeClr val="accent6"/>
                </a:solidFill>
              </a:rPr>
              <a:t>At 0.50 (default)</a:t>
            </a:r>
            <a:endParaRPr lang="en-US" sz="1400" dirty="0"/>
          </a:p>
        </p:txBody>
      </p:sp>
      <p:sp>
        <p:nvSpPr>
          <p:cNvPr id="6" name="threshold card body 1"/>
          <p:cNvSpPr txBox="1"/>
          <p:nvPr/>
        </p:nvSpPr>
        <p:spPr>
          <a:xfrm>
            <a:off x="5577840" y="16184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64 missed defaulters</a:t>
            </a:r>
            <a:endParaRPr lang="en-US" sz="1200" dirty="0"/>
          </a:p>
          <a:p>
            <a:pPr marL="177800" indent="-177800">
              <a:spcAft>
                <a:spcPts val="800"/>
              </a:spcAft>
              <a:buSzPct val="100000"/>
              <a:buChar char="•"/>
            </a:pPr>
            <a:r>
              <a:rPr lang="en-US" sz="1200" dirty="0">
                <a:solidFill>
                  <a:schemeClr val="tx1"/>
                </a:solidFill>
              </a:rPr>
              <a:t>28 good customers flagged</a:t>
            </a:r>
            <a:endParaRPr lang="en-US" sz="1200" dirty="0"/>
          </a:p>
          <a:p>
            <a:pPr marL="177800" indent="-177800">
              <a:spcAft>
                <a:spcPts val="800"/>
              </a:spcAft>
              <a:buSzPct val="100000"/>
              <a:buChar char="•"/>
            </a:pPr>
            <a:r>
              <a:rPr lang="en-US" sz="1200" dirty="0">
                <a:solidFill>
                  <a:schemeClr val="tx1"/>
                </a:solidFill>
              </a:rPr>
              <a:t>$635k indicative cost</a:t>
            </a:r>
            <a:endParaRPr lang="en-US" sz="1200" dirty="0"/>
          </a:p>
        </p:txBody>
      </p:sp>
      <p:sp>
        <p:nvSpPr>
          <p:cNvPr id="7" name="threshold card 2"/>
          <p:cNvSpPr/>
          <p:nvPr/>
        </p:nvSpPr>
        <p:spPr>
          <a:xfrm>
            <a:off x="5394960" y="2743200"/>
            <a:ext cx="3383280" cy="1463040"/>
          </a:xfrm>
          <a:prstGeom prst="roundRect">
            <a:avLst>
              <a:gd name="adj" fmla="val 5000"/>
            </a:avLst>
          </a:prstGeom>
          <a:solidFill>
            <a:schemeClr val="bg2"/>
          </a:solidFill>
          <a:ln w="9525">
            <a:solidFill>
              <a:schemeClr val="bg2"/>
            </a:solidFill>
            <a:prstDash val="solid"/>
          </a:ln>
        </p:spPr>
      </p:sp>
      <p:sp>
        <p:nvSpPr>
          <p:cNvPr id="8" name="threshold card title 2"/>
          <p:cNvSpPr txBox="1"/>
          <p:nvPr/>
        </p:nvSpPr>
        <p:spPr>
          <a:xfrm>
            <a:off x="5577840" y="2834640"/>
            <a:ext cx="3017520" cy="365760"/>
          </a:xfrm>
          <a:prstGeom prst="rect">
            <a:avLst/>
          </a:prstGeom>
          <a:noFill/>
          <a:ln/>
        </p:spPr>
        <p:txBody>
          <a:bodyPr wrap="square" lIns="0" tIns="0" rIns="0" bIns="0" rtlCol="0" anchor="ctr"/>
          <a:lstStyle/>
          <a:p>
            <a:pPr indent="0" marL="0">
              <a:buNone/>
            </a:pPr>
            <a:r>
              <a:rPr lang="en-US" sz="1400" b="1" dirty="0">
                <a:solidFill>
                  <a:schemeClr val="accent5"/>
                </a:solidFill>
              </a:rPr>
              <a:t>At 0.15 (proposed)</a:t>
            </a:r>
            <a:endParaRPr lang="en-US" sz="1400" dirty="0"/>
          </a:p>
        </p:txBody>
      </p:sp>
      <p:sp>
        <p:nvSpPr>
          <p:cNvPr id="9" name="threshold card body 2"/>
          <p:cNvSpPr txBox="1"/>
          <p:nvPr/>
        </p:nvSpPr>
        <p:spPr>
          <a:xfrm>
            <a:off x="5577840" y="32186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15 missed defaulters</a:t>
            </a:r>
            <a:endParaRPr lang="en-US" sz="1200" dirty="0"/>
          </a:p>
          <a:p>
            <a:pPr marL="177800" indent="-177800">
              <a:spcAft>
                <a:spcPts val="800"/>
              </a:spcAft>
              <a:buSzPct val="100000"/>
              <a:buChar char="•"/>
            </a:pPr>
            <a:r>
              <a:rPr lang="en-US" sz="1200" dirty="0">
                <a:solidFill>
                  <a:schemeClr val="tx1"/>
                </a:solidFill>
              </a:rPr>
              <a:t>90 good customers flagged</a:t>
            </a:r>
            <a:endParaRPr lang="en-US" sz="1200" dirty="0"/>
          </a:p>
          <a:p>
            <a:pPr marL="177800" indent="-177800">
              <a:spcAft>
                <a:spcPts val="800"/>
              </a:spcAft>
              <a:buSzPct val="100000"/>
              <a:buChar char="•"/>
            </a:pPr>
            <a:r>
              <a:rPr lang="en-US" sz="1200" dirty="0">
                <a:solidFill>
                  <a:schemeClr val="tx1"/>
                </a:solidFill>
              </a:rPr>
              <a:t>$310k indicative cost</a:t>
            </a:r>
            <a:endParaRPr lang="en-US" sz="1200" dirty="0"/>
          </a:p>
        </p:txBody>
      </p:sp>
      <p:sp>
        <p:nvSpPr>
          <p:cNvPr id="10" name="threshold footnote"/>
          <p:cNvSpPr txBox="1"/>
          <p:nvPr/>
        </p:nvSpPr>
        <p:spPr>
          <a:xfrm>
            <a:off x="457200" y="4370832"/>
            <a:ext cx="8229600" cy="329184"/>
          </a:xfrm>
          <a:prstGeom prst="rect">
            <a:avLst/>
          </a:prstGeom>
          <a:noFill/>
          <a:ln/>
        </p:spPr>
        <p:txBody>
          <a:bodyPr wrap="square" lIns="0" tIns="0" rIns="0" bIns="0" rtlCol="0" anchor="ctr"/>
          <a:lstStyle/>
          <a:p>
            <a:pPr indent="0" marL="0">
              <a:buNone/>
            </a:pPr>
            <a:r>
              <a:rPr lang="en-US" sz="900" dirty="0">
                <a:solidFill>
                  <a:schemeClr val="accent6"/>
                </a:solidFill>
              </a:rPr>
              <a:t>Curves: out-of-fold predictions on the training rows. Cards: test set, per 1,000 applicants, at $9,000 per missed defaulter and $2,000 per wrongly declined customer. The optimum stays at 0.15 for cost ratios 4.5:1 to 8:1 and on other splits.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Business impact: an indicative $9 million a year</a:t>
            </a:r>
            <a:endParaRPr lang="en-US" sz="2400" dirty="0"/>
          </a:p>
        </p:txBody>
      </p:sp>
      <p:graphicFrame>
        <p:nvGraphicFramePr>
          <p:cNvPr id="13" name="impact table"/>
          <p:cNvGraphicFramePr>
            <a:graphicFrameLocks noGrp="1"/>
          </p:cNvGraphicFramePr>
          <p:nvPr>
            <p:extLst>
              <p:ext uri="{D42A27DB-BD31-4B8C-83A1-F6EECF244321}">
                <p14:modId xmlns:p14="http://schemas.microsoft.com/office/powerpoint/2010/main" val="1579011935"/>
              </p:ext>
            </p:extLst>
          </p:nvPr>
        </p:nvGraphicFramePr>
        <p:xfrm>
          <a:off x="457200" y="1188720"/>
          <a:ext cx="5303520" cy="914400"/>
        </p:xfrm>
        <a:graphic>
          <a:graphicData uri="http://schemas.openxmlformats.org/drawingml/2006/table">
            <a:tbl>
              <a:tblPr/>
              <a:tblGrid>
                <a:gridCol w="2194560"/>
                <a:gridCol w="1371600"/>
                <a:gridCol w="173736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Per year, 6,000 applications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Current process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With the proposed model</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Loans that default</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1,200 (20%)</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90 missed</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Default-related losses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Good customers flagged at 0.15</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540, margin forgone about $1.1M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Total cost of credit errors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$1.9M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benefit card"/>
          <p:cNvSpPr/>
          <p:nvPr/>
        </p:nvSpPr>
        <p:spPr>
          <a:xfrm>
            <a:off x="6035040" y="1188720"/>
            <a:ext cx="2743200" cy="1920240"/>
          </a:xfrm>
          <a:prstGeom prst="roundRect">
            <a:avLst>
              <a:gd name="adj" fmla="val 3810"/>
            </a:avLst>
          </a:prstGeom>
          <a:solidFill>
            <a:schemeClr val="accent1"/>
          </a:solidFill>
          <a:ln w="9525">
            <a:solidFill>
              <a:schemeClr val="accent1"/>
            </a:solidFill>
            <a:prstDash val="solid"/>
          </a:ln>
        </p:spPr>
      </p:sp>
      <p:sp>
        <p:nvSpPr>
          <p:cNvPr id="5" name="benefit number"/>
          <p:cNvSpPr txBox="1"/>
          <p:nvPr/>
        </p:nvSpPr>
        <p:spPr>
          <a:xfrm>
            <a:off x="6126480" y="1280160"/>
            <a:ext cx="2560320" cy="868680"/>
          </a:xfrm>
          <a:prstGeom prst="rect">
            <a:avLst/>
          </a:prstGeom>
          <a:noFill/>
          <a:ln/>
        </p:spPr>
        <p:txBody>
          <a:bodyPr wrap="square" lIns="0" tIns="0" rIns="0" bIns="0" rtlCol="0" anchor="b"/>
          <a:lstStyle/>
          <a:p>
            <a:pPr algn="ctr" indent="0" marL="0">
              <a:buNone/>
            </a:pPr>
            <a:r>
              <a:rPr lang="en-US" sz="4000" b="1" dirty="0">
                <a:solidFill>
                  <a:schemeClr val="bg1"/>
                </a:solidFill>
              </a:rPr>
              <a:t>~$9M</a:t>
            </a:r>
            <a:endParaRPr lang="en-US" sz="4000" dirty="0"/>
          </a:p>
        </p:txBody>
      </p:sp>
      <p:sp>
        <p:nvSpPr>
          <p:cNvPr id="6" name="benefit label"/>
          <p:cNvSpPr txBox="1"/>
          <p:nvPr/>
        </p:nvSpPr>
        <p:spPr>
          <a:xfrm>
            <a:off x="6126480" y="2194560"/>
            <a:ext cx="2560320" cy="822960"/>
          </a:xfrm>
          <a:prstGeom prst="rect">
            <a:avLst/>
          </a:prstGeom>
          <a:noFill/>
          <a:ln/>
        </p:spPr>
        <p:txBody>
          <a:bodyPr wrap="square" lIns="0" tIns="0" rIns="0" bIns="0" rtlCol="0" anchor="t"/>
          <a:lstStyle/>
          <a:p>
            <a:pPr algn="ctr" indent="0" marL="0">
              <a:buNone/>
            </a:pPr>
            <a:r>
              <a:rPr lang="en-US" sz="1100" dirty="0">
                <a:solidFill>
                  <a:schemeClr val="bg2"/>
                </a:solidFill>
              </a:rPr>
              <a:t>indicative gross annual benefit. About $8.8M after running costs, $8.5M in year one</a:t>
            </a:r>
            <a:endParaRPr lang="en-US" sz="1100" dirty="0"/>
          </a:p>
        </p:txBody>
      </p:sp>
      <p:sp>
        <p:nvSpPr>
          <p:cNvPr id="7" name="impact bullets"/>
          <p:cNvSpPr txBox="1"/>
          <p:nvPr/>
        </p:nvSpPr>
        <p:spPr>
          <a:xfrm>
            <a:off x="457200" y="3291840"/>
            <a:ext cx="8321040" cy="141732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Assumptions: 6,000 applications a year. Defaulted loans average $16,900 with about half recovered ($9,000 per missed defaulter). Forgone margin about $2,000 per declined good customer. Production performance equal to test performance. Measured as an extra screen on the loans the bank approves today, before mandatory income verification.</a:t>
            </a:r>
            <a:endParaRPr lang="en-US" sz="1100" dirty="0"/>
          </a:p>
          <a:p>
            <a:pPr marL="177800" indent="-177800">
              <a:spcAft>
                <a:spcPts val="800"/>
              </a:spcAft>
              <a:buSzPct val="100000"/>
              <a:buChar char="•"/>
            </a:pPr>
            <a:r>
              <a:rPr lang="en-US" sz="1100" dirty="0">
                <a:solidFill>
                  <a:schemeClr val="tx1"/>
                </a:solidFill>
              </a:rPr>
              <a:t>Costs: roughly $300-400k one-off (pipeline, integration, validation, fairness review, training) and about $100k a year to run and monitor. It repays its cost within year one even if the bank gets only a quarter of the benefit.</a:t>
            </a:r>
            <a:endParaRPr lang="en-US" sz="1100" dirty="0"/>
          </a:p>
          <a:p>
            <a:pPr marL="177800" indent="-177800">
              <a:spcAft>
                <a:spcPts val="800"/>
              </a:spcAft>
              <a:buSzPct val="100000"/>
              <a:buChar char="•"/>
            </a:pPr>
            <a:r>
              <a:rPr lang="en-US" sz="1100" dirty="0">
                <a:solidFill>
                  <a:schemeClr val="tx1"/>
                </a:solidFill>
              </a:rPr>
              <a:t>Non-financial: faster decisions, consistent treatment, auditable reasons for every decline, verified income and valuation on every application.</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Recommendations and implementation roadmap</a:t>
            </a:r>
            <a:endParaRPr lang="en-US" sz="2400" dirty="0"/>
          </a:p>
        </p:txBody>
      </p:sp>
      <p:sp>
        <p:nvSpPr>
          <p:cNvPr id="3" name="phase card 1"/>
          <p:cNvSpPr/>
          <p:nvPr/>
        </p:nvSpPr>
        <p:spPr>
          <a:xfrm>
            <a:off x="457200" y="1188720"/>
            <a:ext cx="2651760" cy="2331720"/>
          </a:xfrm>
          <a:prstGeom prst="roundRect">
            <a:avLst>
              <a:gd name="adj" fmla="val 3137"/>
            </a:avLst>
          </a:prstGeom>
          <a:solidFill>
            <a:schemeClr val="bg2"/>
          </a:solidFill>
          <a:ln w="9525">
            <a:solidFill>
              <a:schemeClr val="bg2"/>
            </a:solidFill>
            <a:prstDash val="solid"/>
          </a:ln>
        </p:spPr>
      </p:sp>
      <p:sp>
        <p:nvSpPr>
          <p:cNvPr id="4" name="step 1"/>
          <p:cNvSpPr/>
          <p:nvPr/>
        </p:nvSpPr>
        <p:spPr>
          <a:xfrm>
            <a:off x="594360" y="1298448"/>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phase title 1"/>
          <p:cNvSpPr txBox="1"/>
          <p:nvPr/>
        </p:nvSpPr>
        <p:spPr>
          <a:xfrm>
            <a:off x="105156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0-2: prepare</a:t>
            </a:r>
            <a:endParaRPr lang="en-US" sz="1300" dirty="0"/>
          </a:p>
        </p:txBody>
      </p:sp>
      <p:sp>
        <p:nvSpPr>
          <p:cNvPr id="7" name="phase bullets 1"/>
          <p:cNvSpPr txBox="1"/>
          <p:nvPr/>
        </p:nvSpPr>
        <p:spPr>
          <a:xfrm>
            <a:off x="59436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Make income and valuation verification mandatory fields</a:t>
            </a:r>
            <a:endParaRPr lang="en-US" sz="1100" dirty="0"/>
          </a:p>
          <a:p>
            <a:pPr marL="177800" indent="-177800">
              <a:spcAft>
                <a:spcPts val="800"/>
              </a:spcAft>
              <a:buSzPct val="100000"/>
              <a:buChar char="•"/>
            </a:pPr>
            <a:r>
              <a:rPr lang="en-US" sz="1100" dirty="0">
                <a:solidFill>
                  <a:schemeClr val="tx1"/>
                </a:solidFill>
              </a:rPr>
              <a:t>Build the scoring pipeline and per-applicant risk drivers</a:t>
            </a:r>
            <a:endParaRPr lang="en-US" sz="1100" dirty="0"/>
          </a:p>
          <a:p>
            <a:pPr marL="177800" indent="-177800">
              <a:spcAft>
                <a:spcPts val="800"/>
              </a:spcAft>
              <a:buSzPct val="100000"/>
              <a:buChar char="•"/>
            </a:pPr>
            <a:r>
              <a:rPr lang="en-US" sz="1100" dirty="0">
                <a:solidFill>
                  <a:schemeClr val="tx1"/>
                </a:solidFill>
              </a:rPr>
              <a:t>Check the threshold with real loss and margin figures</a:t>
            </a:r>
            <a:endParaRPr lang="en-US" sz="1100" dirty="0"/>
          </a:p>
          <a:p>
            <a:pPr marL="177800" indent="-177800">
              <a:spcAft>
                <a:spcPts val="800"/>
              </a:spcAft>
              <a:buSzPct val="100000"/>
              <a:buChar char="•"/>
            </a:pPr>
            <a:r>
              <a:rPr lang="en-US" sz="1100" dirty="0">
                <a:solidFill>
                  <a:schemeClr val="tx1"/>
                </a:solidFill>
              </a:rPr>
              <a:t>Review fairness and model risk</a:t>
            </a:r>
            <a:endParaRPr lang="en-US" sz="1100" dirty="0"/>
          </a:p>
        </p:txBody>
      </p:sp>
      <p:sp>
        <p:nvSpPr>
          <p:cNvPr id="8" name="phase card 2"/>
          <p:cNvSpPr/>
          <p:nvPr/>
        </p:nvSpPr>
        <p:spPr>
          <a:xfrm>
            <a:off x="3246120" y="1188720"/>
            <a:ext cx="2651760" cy="2331720"/>
          </a:xfrm>
          <a:prstGeom prst="roundRect">
            <a:avLst>
              <a:gd name="adj" fmla="val 3137"/>
            </a:avLst>
          </a:prstGeom>
          <a:solidFill>
            <a:schemeClr val="bg2"/>
          </a:solidFill>
          <a:ln w="9525">
            <a:solidFill>
              <a:schemeClr val="bg2"/>
            </a:solidFill>
            <a:prstDash val="solid"/>
          </a:ln>
        </p:spPr>
      </p:sp>
      <p:sp>
        <p:nvSpPr>
          <p:cNvPr id="9" name="step 2"/>
          <p:cNvSpPr/>
          <p:nvPr/>
        </p:nvSpPr>
        <p:spPr>
          <a:xfrm>
            <a:off x="3383280" y="1298448"/>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338328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phase title 2"/>
          <p:cNvSpPr txBox="1"/>
          <p:nvPr/>
        </p:nvSpPr>
        <p:spPr>
          <a:xfrm>
            <a:off x="384048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2-4: shadow run</a:t>
            </a:r>
            <a:endParaRPr lang="en-US" sz="1300" dirty="0"/>
          </a:p>
        </p:txBody>
      </p:sp>
      <p:sp>
        <p:nvSpPr>
          <p:cNvPr id="12" name="phase bullets 2"/>
          <p:cNvSpPr txBox="1"/>
          <p:nvPr/>
        </p:nvSpPr>
        <p:spPr>
          <a:xfrm>
            <a:off x="338328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Score every application alongside the manual decision</a:t>
            </a:r>
            <a:endParaRPr lang="en-US" sz="1100" dirty="0"/>
          </a:p>
          <a:p>
            <a:pPr marL="177800" indent="-177800">
              <a:spcAft>
                <a:spcPts val="800"/>
              </a:spcAft>
              <a:buSzPct val="100000"/>
              <a:buChar char="•"/>
            </a:pPr>
            <a:r>
              <a:rPr lang="en-US" sz="1100" dirty="0">
                <a:solidFill>
                  <a:schemeClr val="tx1"/>
                </a:solidFill>
              </a:rPr>
              <a:t>Test on past applicants with a recorded ratio. Tune the approve / refer / decline bands</a:t>
            </a:r>
            <a:endParaRPr lang="en-US" sz="1100" dirty="0"/>
          </a:p>
          <a:p>
            <a:pPr marL="177800" indent="-177800">
              <a:spcAft>
                <a:spcPts val="800"/>
              </a:spcAft>
              <a:buSzPct val="100000"/>
              <a:buChar char="•"/>
            </a:pPr>
            <a:r>
              <a:rPr lang="en-US" sz="1100" dirty="0">
                <a:solidFill>
                  <a:schemeClr val="tx1"/>
                </a:solidFill>
              </a:rPr>
              <a:t>Train underwriters on risk drivers and referrals</a:t>
            </a:r>
            <a:endParaRPr lang="en-US" sz="1100" dirty="0"/>
          </a:p>
        </p:txBody>
      </p:sp>
      <p:sp>
        <p:nvSpPr>
          <p:cNvPr id="13" name="phase card 3"/>
          <p:cNvSpPr/>
          <p:nvPr/>
        </p:nvSpPr>
        <p:spPr>
          <a:xfrm>
            <a:off x="6035040" y="1188720"/>
            <a:ext cx="2651760" cy="2331720"/>
          </a:xfrm>
          <a:prstGeom prst="roundRect">
            <a:avLst>
              <a:gd name="adj" fmla="val 3137"/>
            </a:avLst>
          </a:prstGeom>
          <a:solidFill>
            <a:schemeClr val="bg2"/>
          </a:solidFill>
          <a:ln w="9525">
            <a:solidFill>
              <a:schemeClr val="bg2"/>
            </a:solidFill>
            <a:prstDash val="solid"/>
          </a:ln>
        </p:spPr>
      </p:sp>
      <p:sp>
        <p:nvSpPr>
          <p:cNvPr id="14" name="step 3"/>
          <p:cNvSpPr/>
          <p:nvPr/>
        </p:nvSpPr>
        <p:spPr>
          <a:xfrm>
            <a:off x="6172200" y="1298448"/>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617220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phase title 3"/>
          <p:cNvSpPr txBox="1"/>
          <p:nvPr/>
        </p:nvSpPr>
        <p:spPr>
          <a:xfrm>
            <a:off x="662940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 4 onwards: scale</a:t>
            </a:r>
            <a:endParaRPr lang="en-US" sz="1300" dirty="0"/>
          </a:p>
        </p:txBody>
      </p:sp>
      <p:sp>
        <p:nvSpPr>
          <p:cNvPr id="17" name="phase bullets 3"/>
          <p:cNvSpPr txBox="1"/>
          <p:nvPr/>
        </p:nvSpPr>
        <p:spPr>
          <a:xfrm>
            <a:off x="617220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Start automated approve / decline for clear cases</a:t>
            </a:r>
            <a:endParaRPr lang="en-US" sz="1100" dirty="0"/>
          </a:p>
          <a:p>
            <a:pPr marL="177800" indent="-177800">
              <a:spcAft>
                <a:spcPts val="800"/>
              </a:spcAft>
              <a:buSzPct val="100000"/>
              <a:buChar char="•"/>
            </a:pPr>
            <a:r>
              <a:rPr lang="en-US" sz="1100" dirty="0">
                <a:solidFill>
                  <a:schemeClr val="tx1"/>
                </a:solidFill>
              </a:rPr>
              <a:t>Monthly: approval rate, missing fields. As outcomes arrive: recall, precision</a:t>
            </a:r>
            <a:endParaRPr lang="en-US" sz="1100" dirty="0"/>
          </a:p>
          <a:p>
            <a:pPr marL="177800" indent="-177800">
              <a:spcAft>
                <a:spcPts val="800"/>
              </a:spcAft>
              <a:buSzPct val="100000"/>
              <a:buChar char="•"/>
            </a:pPr>
            <a:r>
              <a:rPr lang="en-US" sz="1100" dirty="0">
                <a:solidFill>
                  <a:schemeClr val="tx1"/>
                </a:solidFill>
              </a:rPr>
              <a:t>Re-train once 12+ months of verified outcomes exist, then yearly. Threshold review with finance</a:t>
            </a:r>
            <a:endParaRPr lang="en-US" sz="1100" dirty="0"/>
          </a:p>
        </p:txBody>
      </p:sp>
      <p:sp>
        <p:nvSpPr>
          <p:cNvPr id="18" name="rules title"/>
          <p:cNvSpPr txBox="1"/>
          <p:nvPr/>
        </p:nvSpPr>
        <p:spPr>
          <a:xfrm>
            <a:off x="457200" y="3657600"/>
            <a:ext cx="8229600" cy="320040"/>
          </a:xfrm>
          <a:prstGeom prst="rect">
            <a:avLst/>
          </a:prstGeom>
          <a:noFill/>
          <a:ln/>
        </p:spPr>
        <p:txBody>
          <a:bodyPr wrap="square" lIns="0" tIns="0" rIns="0" bIns="0" rtlCol="0" anchor="ctr"/>
          <a:lstStyle/>
          <a:p>
            <a:pPr indent="0" marL="0">
              <a:buNone/>
            </a:pPr>
            <a:r>
              <a:rPr lang="en-US" sz="1300" b="1" dirty="0">
                <a:solidFill>
                  <a:schemeClr val="accent2"/>
                </a:solidFill>
              </a:rPr>
              <a:t>Policy rules to adopt now, independent of the model</a:t>
            </a:r>
            <a:endParaRPr lang="en-US" sz="1300" dirty="0"/>
          </a:p>
        </p:txBody>
      </p:sp>
      <p:sp>
        <p:nvSpPr>
          <p:cNvPr id="19" name="rules bullets"/>
          <p:cNvSpPr txBox="1"/>
          <p:nvPr/>
        </p:nvSpPr>
        <p:spPr>
          <a:xfrm>
            <a:off x="457200" y="4005072"/>
            <a:ext cx="8229600" cy="73152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Decline or escalate above a 45% debt-to-income ratio. Refer to an underwriter with two or more delinquent credit lines or two or more major derogatory reports. Observed default: 45% and 51%+. Where a rule and the score disagree, the stricter outcome applies.</a:t>
            </a:r>
            <a:endParaRPr lang="en-US" sz="1150" dirty="0"/>
          </a:p>
          <a:p>
            <a:pPr marL="177800" indent="-177800">
              <a:spcAft>
                <a:spcPts val="800"/>
              </a:spcAft>
              <a:buSzPct val="100000"/>
              <a:buChar char="•"/>
            </a:pPr>
            <a:r>
              <a:rPr lang="en-US" sz="1150" dirty="0">
                <a:solidFill>
                  <a:schemeClr val="tx1"/>
                </a:solidFill>
              </a:rPr>
              <a:t>Treat an application with no verifiable income or property valuation as high risk, never as neutral.</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Risks, challenges and further analysis</a:t>
            </a:r>
            <a:endParaRPr lang="en-US" sz="2400" dirty="0"/>
          </a:p>
        </p:txBody>
      </p:sp>
      <p:sp>
        <p:nvSpPr>
          <p:cNvPr id="3" name="risks card"/>
          <p:cNvSpPr/>
          <p:nvPr/>
        </p:nvSpPr>
        <p:spPr>
          <a:xfrm>
            <a:off x="457200" y="1188720"/>
            <a:ext cx="4069080" cy="3520440"/>
          </a:xfrm>
          <a:prstGeom prst="roundRect">
            <a:avLst>
              <a:gd name="adj" fmla="val 2078"/>
            </a:avLst>
          </a:prstGeom>
          <a:solidFill>
            <a:schemeClr val="bg2"/>
          </a:solidFill>
          <a:ln w="9525">
            <a:solidFill>
              <a:schemeClr val="bg2"/>
            </a:solidFill>
            <a:prstDash val="solid"/>
          </a:ln>
        </p:spPr>
      </p:sp>
      <p:sp>
        <p:nvSpPr>
          <p:cNvPr id="4" name="risks title"/>
          <p:cNvSpPr txBox="1"/>
          <p:nvPr/>
        </p:nvSpPr>
        <p:spPr>
          <a:xfrm>
            <a:off x="640080" y="1280160"/>
            <a:ext cx="3749040" cy="365760"/>
          </a:xfrm>
          <a:prstGeom prst="rect">
            <a:avLst/>
          </a:prstGeom>
          <a:noFill/>
          <a:ln/>
        </p:spPr>
        <p:txBody>
          <a:bodyPr wrap="square" lIns="0" tIns="0" rIns="0" bIns="0" rtlCol="0" anchor="ctr"/>
          <a:lstStyle/>
          <a:p>
            <a:pPr indent="0" marL="0">
              <a:buNone/>
            </a:pPr>
            <a:r>
              <a:rPr lang="en-US" sz="1400" b="1" dirty="0">
                <a:solidFill>
                  <a:schemeClr val="accent2"/>
                </a:solidFill>
              </a:rPr>
              <a:t>Risks and mitigations</a:t>
            </a:r>
            <a:endParaRPr lang="en-US" sz="1400" dirty="0"/>
          </a:p>
        </p:txBody>
      </p:sp>
      <p:sp>
        <p:nvSpPr>
          <p:cNvPr id="5" name="risks bullets"/>
          <p:cNvSpPr txBox="1"/>
          <p:nvPr/>
        </p:nvSpPr>
        <p:spPr>
          <a:xfrm>
            <a:off x="64008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Selection bias: the data covers only loans the old process approved. Mitigate with a shadow period on all applications and reject inference.</a:t>
            </a:r>
            <a:endParaRPr lang="en-US" sz="1100" dirty="0"/>
          </a:p>
          <a:p>
            <a:pPr marL="177800" indent="-177800">
              <a:spcAft>
                <a:spcPts val="800"/>
              </a:spcAft>
              <a:buSzPct val="100000"/>
              <a:buChar char="•"/>
            </a:pPr>
            <a:r>
              <a:rPr lang="en-US" sz="1100" dirty="0">
                <a:solidFill>
                  <a:schemeClr val="tx1"/>
                </a:solidFill>
              </a:rPr>
              <a:t>The 'ratio missing' signal will change once verification is mandatory. Before go-live, test on past applicants with a recorded ratio (81% caught at 78% precision). Re-train after 12+ months of verified outcomes.</a:t>
            </a:r>
            <a:endParaRPr lang="en-US" sz="1100" dirty="0"/>
          </a:p>
          <a:p>
            <a:pPr marL="177800" indent="-177800">
              <a:spcAft>
                <a:spcPts val="800"/>
              </a:spcAft>
              <a:buSzPct val="100000"/>
              <a:buChar char="•"/>
            </a:pPr>
            <a:r>
              <a:rPr lang="en-US" sz="1100" dirty="0">
                <a:solidFill>
                  <a:schemeClr val="tx1"/>
                </a:solidFill>
              </a:rPr>
              <a:t>Economic drift: monitor monthly, re-train yearly, review the threshold.</a:t>
            </a:r>
            <a:endParaRPr lang="en-US" sz="1100" dirty="0"/>
          </a:p>
          <a:p>
            <a:pPr marL="177800" indent="-177800">
              <a:spcAft>
                <a:spcPts val="800"/>
              </a:spcAft>
              <a:buSzPct val="100000"/>
              <a:buChar char="•"/>
            </a:pPr>
            <a:r>
              <a:rPr lang="en-US" sz="1100" dirty="0">
                <a:solidFill>
                  <a:schemeClr val="tx1"/>
                </a:solidFill>
              </a:rPr>
              <a:t>Fair lending: the 0.15 threshold wrongly flags about 11% of creditworthy applicants (3% at 0.5). Test for disparate impact before go-live, yearly and at each threshold change. A fallback without occupation is ready (about 13% more cost).</a:t>
            </a:r>
            <a:endParaRPr lang="en-US" sz="1100" dirty="0"/>
          </a:p>
          <a:p>
            <a:pPr marL="177800" indent="-177800">
              <a:spcAft>
                <a:spcPts val="800"/>
              </a:spcAft>
              <a:buSzPct val="100000"/>
              <a:buChar char="•"/>
            </a:pPr>
            <a:r>
              <a:rPr lang="en-US" sz="1100" dirty="0">
                <a:solidFill>
                  <a:schemeClr val="tx1"/>
                </a:solidFill>
              </a:rPr>
              <a:t>Explainability and automation bias: per-applicant risk drivers, a referral band, documented overrides.</a:t>
            </a:r>
            <a:endParaRPr lang="en-US" sz="1100" dirty="0"/>
          </a:p>
        </p:txBody>
      </p:sp>
      <p:sp>
        <p:nvSpPr>
          <p:cNvPr id="6" name="next steps card"/>
          <p:cNvSpPr/>
          <p:nvPr/>
        </p:nvSpPr>
        <p:spPr>
          <a:xfrm>
            <a:off x="4709160" y="1188720"/>
            <a:ext cx="4069080" cy="3520440"/>
          </a:xfrm>
          <a:prstGeom prst="roundRect">
            <a:avLst>
              <a:gd name="adj" fmla="val 2078"/>
            </a:avLst>
          </a:prstGeom>
          <a:solidFill>
            <a:schemeClr val="bg2"/>
          </a:solidFill>
          <a:ln w="9525">
            <a:solidFill>
              <a:schemeClr val="bg2"/>
            </a:solidFill>
            <a:prstDash val="solid"/>
          </a:ln>
        </p:spPr>
      </p:sp>
      <p:sp>
        <p:nvSpPr>
          <p:cNvPr id="7" name="next title"/>
          <p:cNvSpPr txBox="1"/>
          <p:nvPr/>
        </p:nvSpPr>
        <p:spPr>
          <a:xfrm>
            <a:off x="4892040" y="1280160"/>
            <a:ext cx="3749040" cy="365760"/>
          </a:xfrm>
          <a:prstGeom prst="rect">
            <a:avLst/>
          </a:prstGeom>
          <a:noFill/>
          <a:ln/>
        </p:spPr>
        <p:txBody>
          <a:bodyPr wrap="square" lIns="0" tIns="0" rIns="0" bIns="0" rtlCol="0" anchor="ctr"/>
          <a:lstStyle/>
          <a:p>
            <a:pPr indent="0" marL="0">
              <a:buNone/>
            </a:pPr>
            <a:r>
              <a:rPr lang="en-US" sz="1400" b="1" dirty="0">
                <a:solidFill>
                  <a:schemeClr val="accent1"/>
                </a:solidFill>
              </a:rPr>
              <a:t>Further analysis</a:t>
            </a:r>
            <a:endParaRPr lang="en-US" sz="1400" dirty="0"/>
          </a:p>
        </p:txBody>
      </p:sp>
      <p:sp>
        <p:nvSpPr>
          <p:cNvPr id="8" name="next bullets"/>
          <p:cNvSpPr txBox="1"/>
          <p:nvPr/>
        </p:nvSpPr>
        <p:spPr>
          <a:xfrm>
            <a:off x="489204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Reject inference to cover applicants the old process declined (needs 12+ months of data).</a:t>
            </a:r>
            <a:endParaRPr lang="en-US" sz="1100" dirty="0"/>
          </a:p>
          <a:p>
            <a:pPr marL="177800" indent="-177800">
              <a:spcAft>
                <a:spcPts val="800"/>
              </a:spcAft>
              <a:buSzPct val="100000"/>
              <a:buChar char="•"/>
            </a:pPr>
            <a:r>
              <a:rPr lang="en-US" sz="1100" dirty="0">
                <a:solidFill>
                  <a:schemeClr val="tx1"/>
                </a:solidFill>
              </a:rPr>
              <a:t>Engineered features: combined loan-to-value ratio, debt-to-income bands, interaction terms.</a:t>
            </a:r>
            <a:endParaRPr lang="en-US" sz="1100" dirty="0"/>
          </a:p>
          <a:p>
            <a:pPr marL="177800" indent="-177800">
              <a:spcAft>
                <a:spcPts val="800"/>
              </a:spcAft>
              <a:buSzPct val="100000"/>
              <a:buChar char="•"/>
            </a:pPr>
            <a:r>
              <a:rPr lang="en-US" sz="1100" dirty="0">
                <a:solidFill>
                  <a:schemeClr val="tx1"/>
                </a:solidFill>
              </a:rPr>
              <a:t>Gradient boosting and probability calibration, so a score of 0.15 means exactly a 15% chance of default.</a:t>
            </a:r>
            <a:endParaRPr lang="en-US" sz="1100" dirty="0"/>
          </a:p>
          <a:p>
            <a:pPr marL="177800" indent="-177800">
              <a:spcAft>
                <a:spcPts val="800"/>
              </a:spcAft>
              <a:buSzPct val="100000"/>
              <a:buChar char="•"/>
            </a:pPr>
            <a:r>
              <a:rPr lang="en-US" sz="1100" dirty="0">
                <a:solidFill>
                  <a:schemeClr val="tx1"/>
                </a:solidFill>
              </a:rPr>
              <a:t>Time-based validation once application dates are available.</a:t>
            </a:r>
            <a:endParaRPr lang="en-US" sz="1100" dirty="0"/>
          </a:p>
          <a:p>
            <a:pPr marL="177800" indent="-177800">
              <a:spcAft>
                <a:spcPts val="800"/>
              </a:spcAft>
              <a:buSzPct val="100000"/>
              <a:buChar char="•"/>
            </a:pPr>
            <a:r>
              <a:rPr lang="en-US" sz="1100" dirty="0">
                <a:solidFill>
                  <a:schemeClr val="tx1"/>
                </a:solidFill>
              </a:rPr>
              <a:t>Risk-based pricing for the referral band. Early-warning scoring on existing loans.</a:t>
            </a:r>
            <a:endParaRPr lang="en-US" sz="1100" dirty="0"/>
          </a:p>
          <a:p>
            <a:pPr marL="177800" indent="-177800">
              <a:spcAft>
                <a:spcPts val="800"/>
              </a:spcAft>
              <a:buSzPct val="100000"/>
              <a:buChar char="•"/>
            </a:pPr>
            <a:r>
              <a:rPr lang="en-US" sz="1100" dirty="0">
                <a:solidFill>
                  <a:schemeClr val="tx1"/>
                </a:solidFill>
              </a:rPr>
              <a:t>Applicant-friendly wording for the per-applicant risk drivers, tested with compliance staff.</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Questions and discussion</a:t>
            </a:r>
            <a:endParaRPr lang="en-US" sz="1800" dirty="0"/>
          </a:p>
          <a:p>
            <a:pPr algn="l" indent="0" marL="0">
              <a:buNone/>
            </a:pPr>
            <a:r>
              <a:rPr lang="en-US" sz="1300" dirty="0">
                <a:solidFill>
                  <a:schemeClr val="accent4"/>
                </a:solidFill>
              </a:rPr>
              <a:t>Catch 93% of defaulters. Explain every decision. Save an indicative $9M a year.</a:t>
            </a:r>
            <a:endParaRPr lang="en-US" sz="1800" dirty="0"/>
          </a:p>
        </p:txBody>
      </p:sp>
      <p:sp>
        <p:nvSpPr>
          <p:cNvPr id="4" name="clos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A: all models on the held-out test set</a:t>
            </a:r>
            <a:endParaRPr lang="en-US" sz="2400" dirty="0"/>
          </a:p>
        </p:txBody>
      </p:sp>
      <p:graphicFrame>
        <p:nvGraphicFramePr>
          <p:cNvPr id="17" name="full comparis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017520"/>
                <a:gridCol w="868680"/>
                <a:gridCol w="868680"/>
                <a:gridCol w="868680"/>
                <a:gridCol w="868680"/>
                <a:gridCol w="868680"/>
                <a:gridCol w="868680"/>
              </a:tblGrid>
              <a:tr h="24688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ROC-AUC</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Train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(plain)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0.566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0.635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(balanced, C tuned)</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0.857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(default)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(class weights)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(tuned: balanced, min 20 per leaf)</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0.531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(200 fully grown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0.748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(class-weighted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0.597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0.891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(default, 200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0.842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(class weights 0.2/0.8)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0.769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0.959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for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0.932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12 inputs)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0.784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Proposed: RF unweighted, 22 inputs, threshold 0.15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0.674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0.781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0.896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0.961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table footnote"/>
          <p:cNvSpPr txBox="1"/>
          <p:nvPr/>
        </p:nvSpPr>
        <p:spPr>
          <a:xfrm>
            <a:off x="457200" y="4407408"/>
            <a:ext cx="8229600" cy="301752"/>
          </a:xfrm>
          <a:prstGeom prst="rect">
            <a:avLst/>
          </a:prstGeom>
          <a:noFill/>
          <a:ln/>
        </p:spPr>
        <p:txBody>
          <a:bodyPr wrap="square" lIns="0" tIns="0" rIns="0" bIns="0" rtlCol="0" anchor="ctr"/>
          <a:lstStyle/>
          <a:p>
            <a:pPr indent="0" marL="0">
              <a:buNone/>
            </a:pPr>
            <a:r>
              <a:rPr lang="en-US" sz="900" dirty="0">
                <a:solidFill>
                  <a:schemeClr val="accent6"/>
                </a:solidFill>
              </a:rPr>
              <a:t>Test set of 1,788 applicants at the 0.5 threshold except the proposed model. Train recall of 1.000 marks un-pruned models that memorised the training rows. We chose the proposed model, its 22 inputs and its threshold on repeated out-of-fold expected cost (training rows only).</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B: what the Random Forest relies on</a:t>
            </a:r>
            <a:endParaRPr lang="en-US" sz="2400" dirty="0"/>
          </a:p>
        </p:txBody>
      </p:sp>
      <p:graphicFrame>
        <p:nvGraphicFramePr>
          <p:cNvPr id="3" name="feature importance chart" descr=""/>
          <p:cNvGraphicFramePr/>
          <p:nvPr/>
        </p:nvGraphicFramePr>
        <p:xfrm>
          <a:off x="365760" y="1097280"/>
          <a:ext cx="5303520" cy="3566160"/>
        </p:xfrm>
        <a:graphic xmlns:a="http://schemas.openxmlformats.org/drawingml/2006/main">
          <a:graphicData uri="http://schemas.openxmlformats.org/drawingml/2006/chart">
            <c:chart xmlns:c="http://schemas.openxmlformats.org/drawingml/2006/chart" r:id="rId1"/>
          </a:graphicData>
        </a:graphic>
      </p:graphicFrame>
      <p:sp>
        <p:nvSpPr>
          <p:cNvPr id="4" name="importance bullets"/>
          <p:cNvSpPr txBox="1"/>
          <p:nvPr/>
        </p:nvSpPr>
        <p:spPr>
          <a:xfrm>
            <a:off x="5852160" y="1143000"/>
            <a:ext cx="2926080" cy="356616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The debt-to-income ratio and its missing flag carry a third of the final forest's decision power. With delinquent lines and credit-history length, about half.</a:t>
            </a:r>
            <a:endParaRPr lang="en-US" sz="1100" dirty="0"/>
          </a:p>
          <a:p>
            <a:pPr marL="177800" indent="-177800">
              <a:spcAft>
                <a:spcPts val="800"/>
              </a:spcAft>
              <a:buSzPct val="100000"/>
              <a:buChar char="•"/>
            </a:pPr>
            <a:r>
              <a:rPr lang="en-US" sz="1100" dirty="0">
                <a:solidFill>
                  <a:schemeClr val="tx1"/>
                </a:solidFill>
              </a:rPr>
              <a:t>Permutation importance (drop in ranking quality when we shuffle a column) ranks the same four at the top, delinquent credit lines first.</a:t>
            </a:r>
            <a:endParaRPr lang="en-US" sz="1100" dirty="0"/>
          </a:p>
          <a:p>
            <a:pPr marL="177800" indent="-177800">
              <a:spcAft>
                <a:spcPts val="800"/>
              </a:spcAft>
              <a:buSzPct val="100000"/>
              <a:buChar char="•"/>
            </a:pPr>
            <a:r>
              <a:rPr lang="en-US" sz="1100" dirty="0">
                <a:solidFill>
                  <a:schemeClr val="tx1"/>
                </a:solidFill>
              </a:rPr>
              <a:t>Loan, property and mortgage amounts matter in combination, little on their own.</a:t>
            </a:r>
            <a:endParaRPr lang="en-US" sz="1100" dirty="0"/>
          </a:p>
          <a:p>
            <a:pPr marL="177800" indent="-177800">
              <a:spcAft>
                <a:spcPts val="800"/>
              </a:spcAft>
              <a:buSzPct val="100000"/>
              <a:buChar char="•"/>
            </a:pPr>
            <a:r>
              <a:rPr lang="en-US" sz="1100" dirty="0">
                <a:solidFill>
                  <a:schemeClr val="tx1"/>
                </a:solidFill>
              </a:rPr>
              <a:t>Stage 2 removed five weak missing flags (about 2% of the decision power). The cost stayed within one standard error. Removing occupation as well adds about 13%, so it stays subject to the fair-lending review.</a:t>
            </a:r>
            <a:endParaRPr lang="en-US" sz="1100" dirty="0"/>
          </a:p>
          <a:p>
            <a:pPr marL="177800" indent="-177800">
              <a:spcAft>
                <a:spcPts val="800"/>
              </a:spcAft>
              <a:buSzPct val="100000"/>
              <a:buChar char="•"/>
            </a:pPr>
            <a:r>
              <a:rPr lang="en-US" sz="1100" dirty="0">
                <a:solidFill>
                  <a:schemeClr val="tx1"/>
                </a:solidFill>
              </a:rPr>
              <a:t>Logistic-regression coefficients, tree rules and the surrogate tree all point to the same drivers.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C: the explanation layer, rules of the surrogate tree that follows the forest</a:t>
            </a:r>
            <a:endParaRPr lang="en-US" sz="2400" dirty="0"/>
          </a:p>
        </p:txBody>
      </p:sp>
      <p:sp>
        <p:nvSpPr>
          <p:cNvPr id="3" name="step 1"/>
          <p:cNvSpPr/>
          <p:nvPr/>
        </p:nvSpPr>
        <p:spPr>
          <a:xfrm>
            <a:off x="457200" y="1280160"/>
            <a:ext cx="384048" cy="384048"/>
          </a:xfrm>
          <a:prstGeom prst="ellipse">
            <a:avLst/>
          </a:prstGeom>
          <a:solidFill>
            <a:schemeClr val="accent1"/>
          </a:solidFill>
          <a:ln w="12700">
            <a:solidFill>
              <a:schemeClr val="accent1"/>
            </a:solidFill>
            <a:prstDash val="solid"/>
          </a:ln>
        </p:spPr>
      </p:sp>
      <p:sp>
        <p:nvSpPr>
          <p:cNvPr id="4" name="step number 1"/>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rule question 1"/>
          <p:cNvSpPr txBox="1"/>
          <p:nvPr/>
        </p:nvSpPr>
        <p:spPr>
          <a:xfrm>
            <a:off x="1005840" y="1188720"/>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Is the debt-to-income ratio missing?</a:t>
            </a:r>
            <a:endParaRPr lang="en-US" sz="1250" dirty="0"/>
          </a:p>
        </p:txBody>
      </p:sp>
      <p:sp>
        <p:nvSpPr>
          <p:cNvPr id="6" name="rule answer 1"/>
          <p:cNvSpPr txBox="1"/>
          <p:nvPr/>
        </p:nvSpPr>
        <p:spPr>
          <a:xfrm>
            <a:off x="4389120" y="1188720"/>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whatever the credit history (62% of these applicants defaulted). Check income before approving.</a:t>
            </a:r>
            <a:endParaRPr lang="en-US" sz="1200" dirty="0"/>
          </a:p>
        </p:txBody>
      </p:sp>
      <p:sp>
        <p:nvSpPr>
          <p:cNvPr id="7" name="rule divider 1"/>
          <p:cNvSpPr/>
          <p:nvPr/>
        </p:nvSpPr>
        <p:spPr>
          <a:xfrm>
            <a:off x="1005840" y="1819656"/>
            <a:ext cx="7772400" cy="0"/>
          </a:xfrm>
          <a:prstGeom prst="line">
            <a:avLst/>
          </a:prstGeom>
          <a:noFill/>
          <a:ln w="9525">
            <a:solidFill>
              <a:srgbClr val="E3E3E3"/>
            </a:solidFill>
            <a:prstDash val="solid"/>
          </a:ln>
        </p:spPr>
      </p:sp>
      <p:sp>
        <p:nvSpPr>
          <p:cNvPr id="8" name="step 2"/>
          <p:cNvSpPr/>
          <p:nvPr/>
        </p:nvSpPr>
        <p:spPr>
          <a:xfrm>
            <a:off x="457200" y="1938528"/>
            <a:ext cx="384048" cy="384048"/>
          </a:xfrm>
          <a:prstGeom prst="ellipse">
            <a:avLst/>
          </a:prstGeom>
          <a:solidFill>
            <a:schemeClr val="accent1"/>
          </a:solidFill>
          <a:ln w="12700">
            <a:solidFill>
              <a:schemeClr val="accent1"/>
            </a:solidFill>
            <a:prstDash val="solid"/>
          </a:ln>
        </p:spPr>
      </p:sp>
      <p:sp>
        <p:nvSpPr>
          <p:cNvPr id="9" name="step number 2"/>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rule question 2"/>
          <p:cNvSpPr txBox="1"/>
          <p:nvPr/>
        </p:nvSpPr>
        <p:spPr>
          <a:xfrm>
            <a:off x="1005840" y="1847088"/>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If recorded, is the ratio above about 44%?</a:t>
            </a:r>
            <a:endParaRPr lang="en-US" sz="1250" dirty="0"/>
          </a:p>
        </p:txBody>
      </p:sp>
      <p:sp>
        <p:nvSpPr>
          <p:cNvPr id="11" name="rule answer 2"/>
          <p:cNvSpPr txBox="1"/>
          <p:nvPr/>
        </p:nvSpPr>
        <p:spPr>
          <a:xfrm>
            <a:off x="4389120" y="1847088"/>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(87-100% of applicants above 45% defaulted).</a:t>
            </a:r>
            <a:endParaRPr lang="en-US" sz="1200" dirty="0"/>
          </a:p>
        </p:txBody>
      </p:sp>
      <p:sp>
        <p:nvSpPr>
          <p:cNvPr id="12" name="rule divider 2"/>
          <p:cNvSpPr/>
          <p:nvPr/>
        </p:nvSpPr>
        <p:spPr>
          <a:xfrm>
            <a:off x="1005840" y="2478024"/>
            <a:ext cx="7772400" cy="0"/>
          </a:xfrm>
          <a:prstGeom prst="line">
            <a:avLst/>
          </a:prstGeom>
          <a:noFill/>
          <a:ln w="9525">
            <a:solidFill>
              <a:srgbClr val="E3E3E3"/>
            </a:solidFill>
            <a:prstDash val="solid"/>
          </a:ln>
        </p:spPr>
      </p:sp>
      <p:sp>
        <p:nvSpPr>
          <p:cNvPr id="13" name="step 3"/>
          <p:cNvSpPr/>
          <p:nvPr/>
        </p:nvSpPr>
        <p:spPr>
          <a:xfrm>
            <a:off x="457200" y="2596896"/>
            <a:ext cx="384048" cy="384048"/>
          </a:xfrm>
          <a:prstGeom prst="ellipse">
            <a:avLst/>
          </a:prstGeom>
          <a:solidFill>
            <a:schemeClr val="accent1"/>
          </a:solidFill>
          <a:ln w="12700">
            <a:solidFill>
              <a:schemeClr val="accent1"/>
            </a:solidFill>
            <a:prstDash val="solid"/>
          </a:ln>
        </p:spPr>
      </p:sp>
      <p:sp>
        <p:nvSpPr>
          <p:cNvPr id="14" name="step number 3"/>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rule question 3"/>
          <p:cNvSpPr txBox="1"/>
          <p:nvPr/>
        </p:nvSpPr>
        <p:spPr>
          <a:xfrm>
            <a:off x="1005840" y="2505456"/>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Ratio at or below 44%: a delinquent credit line and a credit history of 93 months or less?</a:t>
            </a:r>
            <a:endParaRPr lang="en-US" sz="1250" dirty="0"/>
          </a:p>
        </p:txBody>
      </p:sp>
      <p:sp>
        <p:nvSpPr>
          <p:cNvPr id="16" name="rule answer 3"/>
          <p:cNvSpPr txBox="1"/>
          <p:nvPr/>
        </p:nvSpPr>
        <p:spPr>
          <a:xfrm>
            <a:off x="4389120" y="2505456"/>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Otherwise clear. Applicants with no delinquent line default only about 4-5% of the time.</a:t>
            </a:r>
            <a:endParaRPr lang="en-US" sz="1200" dirty="0"/>
          </a:p>
        </p:txBody>
      </p:sp>
      <p:sp>
        <p:nvSpPr>
          <p:cNvPr id="17" name="rule divider 3"/>
          <p:cNvSpPr/>
          <p:nvPr/>
        </p:nvSpPr>
        <p:spPr>
          <a:xfrm>
            <a:off x="1005840" y="3136392"/>
            <a:ext cx="7772400" cy="0"/>
          </a:xfrm>
          <a:prstGeom prst="line">
            <a:avLst/>
          </a:prstGeom>
          <a:noFill/>
          <a:ln w="9525">
            <a:solidFill>
              <a:srgbClr val="E3E3E3"/>
            </a:solidFill>
            <a:prstDash val="solid"/>
          </a:ln>
        </p:spPr>
      </p:sp>
      <p:sp>
        <p:nvSpPr>
          <p:cNvPr id="18" name="step 4"/>
          <p:cNvSpPr/>
          <p:nvPr/>
        </p:nvSpPr>
        <p:spPr>
          <a:xfrm>
            <a:off x="457200" y="3255264"/>
            <a:ext cx="384048" cy="384048"/>
          </a:xfrm>
          <a:prstGeom prst="ellipse">
            <a:avLst/>
          </a:prstGeom>
          <a:solidFill>
            <a:schemeClr val="accent1"/>
          </a:solidFill>
          <a:ln w="12700">
            <a:solidFill>
              <a:schemeClr val="accent1"/>
            </a:solidFill>
            <a:prstDash val="solid"/>
          </a:ln>
        </p:spPr>
      </p:sp>
      <p:sp>
        <p:nvSpPr>
          <p:cNvPr id="19" name="step number 4"/>
          <p:cNvSpPr txBox="1"/>
          <p:nvPr/>
        </p:nvSpPr>
        <p:spPr>
          <a:xfrm>
            <a:off x="457200" y="32552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rule question 4"/>
          <p:cNvSpPr txBox="1"/>
          <p:nvPr/>
        </p:nvSpPr>
        <p:spPr>
          <a:xfrm>
            <a:off x="1005840" y="3163824"/>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How faithful are these rules?</a:t>
            </a:r>
            <a:endParaRPr lang="en-US" sz="1250" dirty="0"/>
          </a:p>
        </p:txBody>
      </p:sp>
      <p:sp>
        <p:nvSpPr>
          <p:cNvPr id="21" name="rule answer 4"/>
          <p:cNvSpPr txBox="1"/>
          <p:nvPr/>
        </p:nvSpPr>
        <p:spPr>
          <a:xfrm>
            <a:off x="4389120" y="3163824"/>
            <a:ext cx="4389120" cy="603504"/>
          </a:xfrm>
          <a:prstGeom prst="rect">
            <a:avLst/>
          </a:prstGeom>
          <a:noFill/>
          <a:ln/>
        </p:spPr>
        <p:txBody>
          <a:bodyPr wrap="square" lIns="0" tIns="0" rIns="0" bIns="0" rtlCol="0" anchor="ctr"/>
          <a:lstStyle/>
          <a:p>
            <a:pPr indent="0" marL="0">
              <a:buNone/>
            </a:pPr>
            <a:r>
              <a:rPr lang="en-US" sz="1200" dirty="0">
                <a:solidFill>
                  <a:schemeClr val="tx1"/>
                </a:solidFill>
              </a:rPr>
              <a:t>They reproduce 93% of the forest's decisions on unseen applicants (73% for never flagging, kappa 0.82). Per-applicant risk drivers from the forest give each decline its own reason.</a:t>
            </a:r>
            <a:endParaRPr lang="en-US" sz="1200" dirty="0"/>
          </a:p>
        </p:txBody>
      </p:sp>
      <p:sp>
        <p:nvSpPr>
          <p:cNvPr id="22" name="rule divider 4"/>
          <p:cNvSpPr/>
          <p:nvPr/>
        </p:nvSpPr>
        <p:spPr>
          <a:xfrm>
            <a:off x="1005840" y="3794760"/>
            <a:ext cx="7772400" cy="0"/>
          </a:xfrm>
          <a:prstGeom prst="line">
            <a:avLst/>
          </a:prstGeom>
          <a:noFill/>
          <a:ln w="9525">
            <a:solidFill>
              <a:srgbClr val="E3E3E3"/>
            </a:solidFill>
            <a:prstDash val="solid"/>
          </a:ln>
        </p:spPr>
      </p:sp>
      <p:sp>
        <p:nvSpPr>
          <p:cNvPr id="23" name="step 5"/>
          <p:cNvSpPr/>
          <p:nvPr/>
        </p:nvSpPr>
        <p:spPr>
          <a:xfrm>
            <a:off x="457200" y="3913632"/>
            <a:ext cx="384048" cy="384048"/>
          </a:xfrm>
          <a:prstGeom prst="ellipse">
            <a:avLst/>
          </a:prstGeom>
          <a:solidFill>
            <a:schemeClr val="accent1"/>
          </a:solidFill>
          <a:ln w="12700">
            <a:solidFill>
              <a:schemeClr val="accent1"/>
            </a:solidFill>
            <a:prstDash val="solid"/>
          </a:ln>
        </p:spPr>
      </p:sp>
      <p:sp>
        <p:nvSpPr>
          <p:cNvPr id="24" name="step number 5"/>
          <p:cNvSpPr txBox="1"/>
          <p:nvPr/>
        </p:nvSpPr>
        <p:spPr>
          <a:xfrm>
            <a:off x="457200" y="391363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rule question 5"/>
          <p:cNvSpPr txBox="1"/>
          <p:nvPr/>
        </p:nvSpPr>
        <p:spPr>
          <a:xfrm>
            <a:off x="1005840" y="3822192"/>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What the rules do not use</a:t>
            </a:r>
            <a:endParaRPr lang="en-US" sz="1250" dirty="0"/>
          </a:p>
        </p:txBody>
      </p:sp>
      <p:sp>
        <p:nvSpPr>
          <p:cNvPr id="26" name="rule answer 5"/>
          <p:cNvSpPr txBox="1"/>
          <p:nvPr/>
        </p:nvSpPr>
        <p:spPr>
          <a:xfrm>
            <a:off x="4389120" y="3822192"/>
            <a:ext cx="4389120" cy="603504"/>
          </a:xfrm>
          <a:prstGeom prst="rect">
            <a:avLst/>
          </a:prstGeom>
          <a:noFill/>
          <a:ln/>
        </p:spPr>
        <p:txBody>
          <a:bodyPr wrap="square" lIns="0" tIns="0" rIns="0" bIns="0" rtlCol="0" anchor="ctr"/>
          <a:lstStyle/>
          <a:p>
            <a:pPr indent="0" marL="0">
              <a:buNone/>
            </a:pPr>
            <a:r>
              <a:rPr lang="en-US" sz="1200" dirty="0">
                <a:solidFill>
                  <a:schemeClr val="tx1"/>
                </a:solidFill>
              </a:rPr>
              <a:t>Loan size, derogatory reports, occupation and loan purpose do not change the surrogate's outcome. They matter only in combination inside the forest.</a:t>
            </a:r>
            <a:endParaRPr lang="en-US" sz="1200" dirty="0"/>
          </a:p>
        </p:txBody>
      </p:sp>
      <p:sp>
        <p:nvSpPr>
          <p:cNvPr id="27" name="tree footnote"/>
          <p:cNvSpPr txBox="1"/>
          <p:nvPr/>
        </p:nvSpPr>
        <p:spPr>
          <a:xfrm>
            <a:off x="457200" y="4462272"/>
            <a:ext cx="8229600" cy="274320"/>
          </a:xfrm>
          <a:prstGeom prst="rect">
            <a:avLst/>
          </a:prstGeom>
          <a:noFill/>
          <a:ln/>
        </p:spPr>
        <p:txBody>
          <a:bodyPr wrap="square" lIns="0" tIns="0" rIns="0" bIns="0" rtlCol="0" anchor="ctr"/>
          <a:lstStyle/>
          <a:p>
            <a:pPr indent="0" marL="0">
              <a:buNone/>
            </a:pPr>
            <a:r>
              <a:rPr lang="en-US" sz="900" dirty="0">
                <a:solidFill>
                  <a:schemeClr val="accent6"/>
                </a:solidFill>
              </a:rPr>
              <a:t>Surrogate: depth-4 tree, at least 20 applicants per leaf, fitted to the forest's out-of-fold flag/clear decisions at threshold 0.15 on the training rows. The stand-alone tuned tree (test recall 82%, precision 53%) found the same drivers.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D: data treatment and pre-processing</a:t>
            </a:r>
            <a:endParaRPr lang="en-US" sz="2400" dirty="0"/>
          </a:p>
        </p:txBody>
      </p:sp>
      <p:graphicFrame>
        <p:nvGraphicFramePr>
          <p:cNvPr id="20" name="preprocessing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371600"/>
                <a:gridCol w="3474720"/>
                <a:gridCol w="3383280"/>
              </a:tblGrid>
              <a:tr h="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we did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Duplicates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None found. No rows removed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5,960 loans retained, including 2 with only the loan amount recorded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 0/1 'was missing' flag per column, then median (numeric) or mode (categorical) imputation learned on the training rows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Missingness of debt-to-income and property value is the strongest default signal. Removing rows would lose 44% of the data</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Outliers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IQR capping for the linear model only. DEROG and DELINQ capped at the 99th percentile. Tree models use raw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Extreme values pull linear models (debt-to-income 203%, credit history 97 years). Trees split on rank order, so extreme values do not distort them</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Encoding and scaling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One-hot encoding of REASON and JOB (drop first). Standard scaling of the continuous inputs for the linear model only, flags left as 0/1</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Comparable coefficients, odds ratios for flags read as the effect of the flag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Split</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70% train / 30% test, stratified on the target, fixed seed, reserved before we fitted any statistic. Identical applicants in both data versions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 leakage from test rows into fences, medians or scaling. Results comparable across models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Imbalance</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Class weights (balanced or 0.2/0.8) inside the individual models, then the decision threshold for the final model. No resampling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Keeps each real applicant. Class weights lifted recall by 23 points for logistic regression and 9 for the forest at the 0.5 threshold. They added nothing once we chose the threshold on cost, so the final forest is unweighted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Model inputs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22 of 27 columns: the 10 attributes, 6 missing flags (VALUE, REASON, JOB, YOJ, DEROG, DEBTINC) and 6 one-hot REASON/JOB indicators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Stage 2 removed five flags (MORTDUE, DELINQ, CLAGE, NINQ, CLNO): smallest set within one standard error of the lowest cost. Stage 3 checked it against all 27</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Loan Default Navy">
  <a:themeElements>
    <a:clrScheme name="Loan Default Navy">
      <a:dk1>
        <a:srgbClr val="1F1F1F"/>
      </a:dk1>
      <a:lt1>
        <a:srgbClr val="FFFFFF"/>
      </a:lt1>
      <a:dk2>
        <a:srgbClr val="1E2761"/>
      </a:dk2>
      <a:lt2>
        <a:srgbClr val="EEF2FA"/>
      </a:lt2>
      <a:accent1>
        <a:srgbClr val="1E2761"/>
      </a:accent1>
      <a:accent2>
        <a:srgbClr val="C44E52"/>
      </a:accent2>
      <a:accent3>
        <a:srgbClr val="4C72B0"/>
      </a:accent3>
      <a:accent4>
        <a:srgbClr val="9DB4DE"/>
      </a:accent4>
      <a:accent5>
        <a:srgbClr val="3C8D5A"/>
      </a:accent5>
      <a:accent6>
        <a:srgbClr val="8C8C8C"/>
      </a:accent6>
      <a:hlink>
        <a:srgbClr val="1E2761"/>
      </a:hlink>
      <a:folHlink>
        <a:srgbClr val="4C72B0"/>
      </a:folHlink>
    </a:clrScheme>
    <a:fontScheme name="Loan Defaul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Default Prediction - Capstone Presentation</dc:title>
  <dc:subject>PptxGenJS Presentation</dc:subject>
  <dc:creator>Shubham Garg</dc:creator>
  <cp:lastModifiedBy>Shubham Garg</cp:lastModifiedBy>
  <cp:revision>1</cp:revision>
  <dcterms:created xsi:type="dcterms:W3CDTF">2026-10-29T16:46:08Z</dcterms:created>
  <dcterms:modified xsi:type="dcterms:W3CDTF">2026-10-29T16:46:08Z</dcterms:modified>
</cp:coreProperties>
</file>