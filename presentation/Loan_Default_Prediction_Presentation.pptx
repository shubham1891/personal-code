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39a6423-f61b-2f1b-9f56-2226631a42d8}">
          <p14:sldIdLst>
            <p14:sldId id="256"/>
            <p14:sldId id="257"/>
          </p14:sldIdLst>
        </p14:section>
        <p14:section name="Problem and approach" id="{77b64ded-e811-a58f-bf76-166cf9d2f683}">
          <p14:sldIdLst>
            <p14:sldId id="258"/>
            <p14:sldId id="259"/>
          </p14:sldIdLst>
        </p14:section>
        <p14:section name="Key insights" id="{7eb9c2c9-21a1-2229-d92a-33ba2c93ae2f}">
          <p14:sldIdLst>
            <p14:sldId id="260"/>
            <p14:sldId id="261"/>
            <p14:sldId id="262"/>
          </p14:sldIdLst>
        </p14:section>
        <p14:section name="Modelling" id="{a045cb2a-956b-3451-05f8-1a774b70ae48}">
          <p14:sldIdLst>
            <p14:sldId id="263"/>
            <p14:sldId id="264"/>
            <p14:sldId id="265"/>
            <p14:sldId id="266"/>
          </p14:sldIdLst>
        </p14:section>
        <p14:section name="Recommendations" id="{428c9c33-a703-851a-233b-a0878122dc10}">
          <p14:sldIdLst>
            <p14:sldId id="267"/>
            <p14:sldId id="268"/>
            <p14:sldId id="269"/>
            <p14:sldId id="270"/>
          </p14:sldIdLst>
        </p14:section>
        <p14:section name="Appendix" id="{b711a5d9-0451-47b8-367e-dadbb94a660c}">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number of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20.5</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missing</c:v>
                  </c:pt>
                  <c:pt idx="1">
                    <c:v>Debt-to-income ratio</c:v>
                  </c:pt>
                  <c:pt idx="2">
                    <c:v>Age of oldest credit line</c:v>
                  </c:pt>
                  <c:pt idx="3">
                    <c:v>Delinquent credit lines</c:v>
                  </c:pt>
                  <c:pt idx="4">
                    <c:v>Property value</c:v>
                  </c:pt>
                  <c:pt idx="5">
                    <c:v>Loan amount</c:v>
                  </c:pt>
                  <c:pt idx="6">
                    <c:v>Number of credit lines</c:v>
                  </c:pt>
                  <c:pt idx="7">
                    <c:v>Mortgage due</c:v>
                  </c:pt>
                  <c:pt idx="8">
                    <c:v>Years at job</c:v>
                  </c:pt>
                  <c:pt idx="9">
                    <c:v>Derogatory reports</c:v>
                  </c:pt>
                  <c:pt idx="10">
                    <c:v>Recent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its home-equity loan losses by more than three quarters with a model it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goes bad. The biggest red flag is income the bank could not verify. The proposed model catches 93 percent of defaulters before the money leaves the bank. And under reasonable assumptions that is worth about nine million dollars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losses come from defaulters, and the current manual process is slow and inconsistent. The data is 5,960 recent home equity loans with 12 attributes and a 20 percent default rate. Almost half the applications have at least one blank field, which turns out to matter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and turn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And repayment history repeats: each delinquent credit line roughly doubles the default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at the usual threshold removing it changes performance by about a point, and the fair-lending review decides whether it stays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most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model variants were built; these six tell the story. At the usual cut-off the forest with class weights has the best balance and ranks applicants among the best. The final configuration and its threshold were then selected together on repeated out-of-fold expected cost using training data only. Class weights turned out to add nothing once the cut-off is tuned, so the plain forest at a 0.15 cut-off was chosen; on the test set it catches 93 percent of defaulters while two thirds of the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does the scoring; a surrogate decision tree fitted to the forest's own decisions, which reproduces ninety percent of them, provides the plain-language reasons for every decline. On unseen applicants the forest catches 93 percent of defaulters and two out of three flagged applicants really would have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The cut-off was chosen on out-of-fold predictions of the training data, so the test set played no part. Moving it to 0.15 cuts missed defaulters from 63 to 15 per thousand applicants on the test set, at the price of declining 87 instead of 26 good customers. It is the cheapest operating point for any cost ratio between three and six to one, and it matches the textbook break-even for the stated costs, which tells us the forest's probabilities are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together with round-number assumptions, the bank's default-related cost falls from about 10.8 million to about 1.8 million a year on 6,000 applications. Even if the real benefit were a quarter of that, the project pays back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in three phases: prepare, shadow and pilot, then scale. And two policy rules the bank can adopt immediately, with or without the model: a debt-to-income limit of 45 percent and a hard look at anyone with two or more delinquencies or derogatory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because the data only covers approved loans, drift in the missing-value signal once verification becomes mandatory, and fair-lending exposure.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for home equity loan approvals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home equity loans in the data ended in default. Accuracy alone is a misleading yardstick.</a:t>
            </a:r>
            <a:endParaRPr lang="en-US" sz="1250" dirty="0"/>
          </a:p>
        </p:txBody>
      </p:sp>
      <p:sp>
        <p:nvSpPr>
          <p:cNvPr id="6" name="takeaway card 2"/>
          <p:cNvSpPr/>
          <p:nvPr/>
        </p:nvSpPr>
        <p:spPr>
          <a:xfrm>
            <a:off x="256032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default rate when the applicant's debt-to-income ratio is missing, versus 8.6% when it is recorded. Unverified income is the strongest warning sign.</a:t>
            </a:r>
            <a:endParaRPr lang="en-US" sz="1250" dirty="0"/>
          </a:p>
        </p:txBody>
      </p:sp>
      <p:sp>
        <p:nvSpPr>
          <p:cNvPr id="9" name="takeaway card 3"/>
          <p:cNvSpPr/>
          <p:nvPr/>
        </p:nvSpPr>
        <p:spPr>
          <a:xfrm>
            <a:off x="466344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of future defaulters are caught by the proposed Random Forest model on unseen applicants, while 2 of every 3 applicants it flags really would have defaulted.</a:t>
            </a:r>
            <a:endParaRPr lang="en-US" sz="1250" dirty="0"/>
          </a:p>
        </p:txBody>
      </p:sp>
      <p:sp>
        <p:nvSpPr>
          <p:cNvPr id="12" name="takeaway card 4"/>
          <p:cNvSpPr/>
          <p:nvPr/>
        </p:nvSpPr>
        <p:spPr>
          <a:xfrm>
            <a:off x="6766560" y="1188720"/>
            <a:ext cx="1965960" cy="329184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86000"/>
            <a:ext cx="1691640" cy="2011680"/>
          </a:xfrm>
          <a:prstGeom prst="rect">
            <a:avLst/>
          </a:prstGeom>
          <a:noFill/>
          <a:ln/>
        </p:spPr>
        <p:txBody>
          <a:bodyPr wrap="square" lIns="0" tIns="0" rIns="0" bIns="0" rtlCol="0" anchor="t"/>
          <a:lstStyle/>
          <a:p>
            <a:pPr algn="l" indent="0" marL="0">
              <a:buNone/>
            </a:pPr>
            <a:r>
              <a:rPr lang="en-US" sz="1250" dirty="0">
                <a:solidFill>
                  <a:schemeClr val="tx1"/>
                </a:solidFill>
              </a:rPr>
              <a:t>indicative annual benefit on 6,000 applications, from roughly $10.8M of default-related cost down to about $1.8M.</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bad loans eat it up.</a:t>
            </a:r>
            <a:endParaRPr lang="en-US" sz="1350" dirty="0"/>
          </a:p>
          <a:p>
            <a:pPr marL="177800" indent="-177800">
              <a:spcAft>
                <a:spcPts val="800"/>
              </a:spcAft>
              <a:buSzPct val="100000"/>
              <a:buChar char="•"/>
            </a:pPr>
            <a:r>
              <a:rPr lang="en-US" sz="1350" dirty="0">
                <a:solidFill>
                  <a:schemeClr val="tx1"/>
                </a:solidFill>
              </a:rPr>
              <a:t>Today each application is judged manually: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and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Hold out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Overall default rate is 20%, so these gaps multiply risk three to five times.</a:t>
            </a:r>
            <a:endParaRPr lang="en-US" sz="1250" dirty="0"/>
          </a:p>
          <a:p>
            <a:pPr marL="177800" indent="-177800">
              <a:spcAft>
                <a:spcPts val="800"/>
              </a:spcAft>
              <a:buSzPct val="100000"/>
              <a:buChar char="•"/>
            </a:pPr>
            <a:r>
              <a:rPr lang="en-US" sz="1250" dirty="0">
                <a:solidFill>
                  <a:schemeClr val="tx1"/>
                </a:solidFill>
              </a:rPr>
              <a:t>Interpretation: income or collateral that could not be verified, or that the applicant chose not to supply.</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and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Each delinquent line or derogatory report roughly doubles the risk (0 reports: 17%, 1: 39%, 2: 51%, 3+: about 75%). Both are plain-language rules an applicant can be given.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200" dirty="0">
                <a:solidFill>
                  <a:schemeClr val="tx1"/>
                </a:solidFill>
              </a:rPr>
              <a:t>Default rate (%) by group. Applicants with under five years of credit history default four times as often as those with twenty-plus years. Loans under $5,000 default 57% of the time. Occupation shifts risk moderately; on its own it adds little once financial behaviour is known, and it stays in the model only subject to the fair-lending review.</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loses most of the principal plus collection cost: about $9,000 on a typical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would have repaid.</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Bank forgoes the interest margin on one good customer: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of the flagged applicants really default) and F1, so the model does not simply decline everyone. ROC-AUC measures how well applicants are ranked by risk, which matters when the threshold moves.</a:t>
            </a:r>
            <a:endParaRPr lang="en-US" sz="1250" dirty="0"/>
          </a:p>
          <a:p>
            <a:pPr marL="177800" indent="-177800">
              <a:spcAft>
                <a:spcPts val="800"/>
              </a:spcAft>
              <a:buSzPct val="100000"/>
              <a:buChar char="•"/>
            </a:pPr>
            <a:r>
              <a:rPr lang="en-US" sz="1250" dirty="0">
                <a:solidFill>
                  <a:schemeClr val="tx1"/>
                </a:solidFill>
              </a:rPr>
              <a:t>Individual models are tuned by cross-validated grid search on recall; the final model and its threshold are chosen on out-of-fold expected cost, training data only; the held-out 30% is scored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thresholds,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catches 77% at 77% precision with a ROC-AUC of 0.96: among the best at ranking applicants by risk.</a:t>
            </a:r>
            <a:endParaRPr lang="en-US" sz="1200" dirty="0"/>
          </a:p>
          <a:p>
            <a:pPr marL="177800" indent="-177800">
              <a:spcAft>
                <a:spcPts val="800"/>
              </a:spcAft>
              <a:buSzPct val="100000"/>
              <a:buChar char="•"/>
            </a:pPr>
            <a:r>
              <a:rPr lang="en-US" sz="1200" dirty="0">
                <a:solidFill>
                  <a:schemeClr val="tx1"/>
                </a:solidFill>
              </a:rPr>
              <a:t>The final choice was made on repeated out-of-fold expected cost (training data only): once the threshold is tuned, class weights add nothing, and the plain forest at a 0.15 cut-off catches 93% at 68% precision on the test set, the lowest cost of any option.</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Scoring engine: Random Forest, 200 fully grown trees, no class weights: the decision threshold handles the imbalance.</a:t>
            </a:r>
            <a:endParaRPr lang="en-US" sz="1150" dirty="0"/>
          </a:p>
          <a:p>
            <a:pPr marL="177800" indent="-177800">
              <a:spcAft>
                <a:spcPts val="800"/>
              </a:spcAft>
              <a:buSzPct val="100000"/>
              <a:buChar char="•"/>
            </a:pPr>
            <a:r>
              <a:rPr lang="en-US" sz="1150" dirty="0">
                <a:solidFill>
                  <a:schemeClr val="tx1"/>
                </a:solidFill>
              </a:rPr>
              <a:t>Inputs: all 27 (10 financial attributes, 11 missing-value flags, occupation and loan purpose). Fallback without occupation and purpose: 12 inputs, about a fifth more credit-error cost.</a:t>
            </a:r>
            <a:endParaRPr lang="en-US" sz="1150" dirty="0"/>
          </a:p>
          <a:p>
            <a:pPr marL="177800" indent="-177800">
              <a:spcAft>
                <a:spcPts val="800"/>
              </a:spcAft>
              <a:buSzPct val="100000"/>
              <a:buChar char="•"/>
            </a:pPr>
            <a:r>
              <a:rPr lang="en-US" sz="1150" dirty="0">
                <a:solidFill>
                  <a:schemeClr val="tx1"/>
                </a:solidFill>
              </a:rPr>
              <a:t>Decision threshold 0.15, chosen together with the configuration by minimising expected cost on repeated out-of-fold predictions of the training rows (stable for cost ratios 3:1 to 6:1; matches the 0.18 break-even for the stated costs); approve / refer / decline bands keep an underwriter in the loop.</a:t>
            </a:r>
            <a:endParaRPr lang="en-US" sz="1150" dirty="0"/>
          </a:p>
          <a:p>
            <a:pPr marL="177800" indent="-177800">
              <a:spcAft>
                <a:spcPts val="800"/>
              </a:spcAft>
              <a:buSzPct val="100000"/>
              <a:buChar char="•"/>
            </a:pPr>
            <a:r>
              <a:rPr lang="en-US" sz="1150" dirty="0">
                <a:solidFill>
                  <a:schemeClr val="tx1"/>
                </a:solidFill>
              </a:rPr>
              <a:t>Explanation layer: a depth-4 surrogate tree fitted to the forest's own decisions reproduces 90% of them; its rules (ratio missing or above 45%, two or more delinquent lines, credit-history length, derogatory reports) supply the ECOA adverse-action reasons.</a:t>
            </a:r>
            <a:endParaRPr lang="en-US" sz="1150" dirty="0"/>
          </a:p>
          <a:p>
            <a:pPr marL="177800" indent="-177800">
              <a:spcAft>
                <a:spcPts val="800"/>
              </a:spcAft>
              <a:buSzPct val="100000"/>
              <a:buChar char="•"/>
            </a:pPr>
            <a:r>
              <a:rPr lang="en-US" sz="1150" dirty="0">
                <a:solidFill>
                  <a:schemeClr val="tx1"/>
                </a:solidFill>
              </a:rPr>
              <a:t>Test set held out before any pre-processing; scored once, after all choices were made on training data.</a:t>
            </a:r>
            <a:endParaRPr lang="en-US" sz="115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about 185 of 200 defaulters flagged in advance, 15 missed, 87 good customers referred or declined.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the decision cut-off is a business dial, not a constant</a:t>
            </a:r>
            <a:endParaRPr lang="en-US" sz="2400" dirty="0"/>
          </a:p>
        </p:txBody>
      </p:sp>
      <p:graphicFrame>
        <p:nvGraphicFramePr>
          <p:cNvPr id="3" name="threshold chart" descr=""/>
          <p:cNvGraphicFramePr/>
          <p:nvPr/>
        </p:nvGraphicFramePr>
        <p:xfrm>
          <a:off x="365760" y="1097280"/>
          <a:ext cx="4846320" cy="333756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88720"/>
            <a:ext cx="3383280" cy="1645920"/>
          </a:xfrm>
          <a:prstGeom prst="roundRect">
            <a:avLst>
              <a:gd name="adj" fmla="val 4444"/>
            </a:avLst>
          </a:prstGeom>
          <a:solidFill>
            <a:schemeClr val="bg2"/>
          </a:solidFill>
          <a:ln w="9525">
            <a:solidFill>
              <a:schemeClr val="bg2"/>
            </a:solidFill>
            <a:prstDash val="solid"/>
          </a:ln>
        </p:spPr>
      </p:sp>
      <p:sp>
        <p:nvSpPr>
          <p:cNvPr id="5" name="threshold card title 1"/>
          <p:cNvSpPr txBox="1"/>
          <p:nvPr/>
        </p:nvSpPr>
        <p:spPr>
          <a:xfrm>
            <a:off x="5577840" y="128016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9164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declined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971800"/>
            <a:ext cx="3383280" cy="1645920"/>
          </a:xfrm>
          <a:prstGeom prst="roundRect">
            <a:avLst>
              <a:gd name="adj" fmla="val 4444"/>
            </a:avLst>
          </a:prstGeom>
          <a:solidFill>
            <a:schemeClr val="bg2"/>
          </a:solidFill>
          <a:ln w="9525">
            <a:solidFill>
              <a:schemeClr val="bg2"/>
            </a:solidFill>
            <a:prstDash val="solid"/>
          </a:ln>
        </p:spPr>
      </p:sp>
      <p:sp>
        <p:nvSpPr>
          <p:cNvPr id="8" name="threshold card title 2"/>
          <p:cNvSpPr txBox="1"/>
          <p:nvPr/>
        </p:nvSpPr>
        <p:spPr>
          <a:xfrm>
            <a:off x="5577840" y="30632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474720"/>
            <a:ext cx="3017520" cy="10972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declined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498848"/>
            <a:ext cx="7680960" cy="256032"/>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which is where the threshold was chosen. Cards: test set, per 1,000 applicants; cost assumes $9,000 per missed defaulter and $2,000 per wrongly declined customer. The optimum stays at 0.15 for cost ratios from 3:1 to 6:1 and matches the textbook break-even (0.18) for these costs.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slip through</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declined or referred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200" dirty="0">
                <a:solidFill>
                  <a:schemeClr val="bg2"/>
                </a:solidFill>
              </a:rPr>
              <a:t>indicative gross annual benefit; about $8.9M after running costs, $8.5M in year one</a:t>
            </a:r>
            <a:endParaRPr lang="en-US" sz="12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Pays back within the first year even if only a quarter of the benefit is realised.</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reason codes</a:t>
            </a:r>
            <a:endParaRPr lang="en-US" sz="1100" dirty="0"/>
          </a:p>
          <a:p>
            <a:pPr marL="177800" indent="-177800">
              <a:spcAft>
                <a:spcPts val="800"/>
              </a:spcAft>
              <a:buSzPct val="100000"/>
              <a:buChar char="•"/>
            </a:pPr>
            <a:r>
              <a:rPr lang="en-US" sz="1100" dirty="0">
                <a:solidFill>
                  <a:schemeClr val="tx1"/>
                </a:solidFill>
              </a:rPr>
              <a:t>Calibrate the threshold with real loss and margin figures</a:t>
            </a:r>
            <a:endParaRPr lang="en-US" sz="1100" dirty="0"/>
          </a:p>
          <a:p>
            <a:pPr marL="177800" indent="-177800">
              <a:spcAft>
                <a:spcPts val="800"/>
              </a:spcAft>
              <a:buSzPct val="100000"/>
              <a:buChar char="•"/>
            </a:pPr>
            <a:r>
              <a:rPr lang="en-US" sz="1100" dirty="0">
                <a:solidFill>
                  <a:schemeClr val="tx1"/>
                </a:solidFill>
              </a:rPr>
              <a:t>Fairness and model-risk review</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and pilot</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Compare outcomes,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reason codes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Switch on automated approve / decline for clear cases</a:t>
            </a:r>
            <a:endParaRPr lang="en-US" sz="1100" dirty="0"/>
          </a:p>
          <a:p>
            <a:pPr marL="177800" indent="-177800">
              <a:spcAft>
                <a:spcPts val="800"/>
              </a:spcAft>
              <a:buSzPct val="100000"/>
              <a:buChar char="•"/>
            </a:pPr>
            <a:r>
              <a:rPr lang="en-US" sz="1100" dirty="0">
                <a:solidFill>
                  <a:schemeClr val="tx1"/>
                </a:solidFill>
              </a:rPr>
              <a:t>Monthly monitoring of recall, precision, approval rate, missing fields</a:t>
            </a:r>
            <a:endParaRPr lang="en-US" sz="1100" dirty="0"/>
          </a:p>
          <a:p>
            <a:pPr marL="177800" indent="-177800">
              <a:spcAft>
                <a:spcPts val="800"/>
              </a:spcAft>
              <a:buSzPct val="100000"/>
              <a:buChar char="•"/>
            </a:pPr>
            <a:r>
              <a:rPr lang="en-US" sz="1100" dirty="0">
                <a:solidFill>
                  <a:schemeClr val="tx1"/>
                </a:solidFill>
              </a:rPr>
              <a:t>Yearly re-training;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when the debt-to-income ratio is above 45%, when there are two or more delinquent credit lines, or two or more major derogatory reports.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Re-train after the rule is in place.</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disparate-impact testing before launch and annually; a 12-input fallback without occupation and loan purpose is ready if required.</a:t>
            </a:r>
            <a:endParaRPr lang="en-US" sz="1100" dirty="0"/>
          </a:p>
          <a:p>
            <a:pPr marL="177800" indent="-177800">
              <a:spcAft>
                <a:spcPts val="800"/>
              </a:spcAft>
              <a:buSzPct val="100000"/>
              <a:buChar char="•"/>
            </a:pPr>
            <a:r>
              <a:rPr lang="en-US" sz="1100" dirty="0">
                <a:solidFill>
                  <a:schemeClr val="tx1"/>
                </a:solidFill>
              </a:rPr>
              <a:t>Explainability and automation bias: tree-based reason codes,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a:t>
            </a:r>
            <a:endParaRPr lang="en-US" sz="1100" dirty="0"/>
          </a:p>
          <a:p>
            <a:pPr marL="177800" indent="-177800">
              <a:spcAft>
                <a:spcPts val="800"/>
              </a:spcAft>
              <a:buSzPct val="100000"/>
              <a:buChar char="•"/>
            </a:pPr>
            <a:r>
              <a:rPr lang="en-US" sz="1100" dirty="0">
                <a:solidFill>
                  <a:schemeClr val="tx1"/>
                </a:solidFill>
              </a:rPr>
              <a:t>Engineered features: loan-to-value and payment-to-income ratios.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Per-applicant SHAP-style reason codes in applicant-friendly language.</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and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data. The proposed model (the default forest with its threshold moved) and its threshold were selected on repeated out-of-fold expected cost (training rows only); its mean out-of-fold ROC-AUC was 0.961 against 0.963 on test.</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a column is shuffled)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dropping them raised out-of-fold expected cost by about a fifth,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high-risk branch (62% defaulted). Flag, unless there is no delinquent line, no derogatory report and more than about 15 years of credit history.</a:t>
            </a:r>
            <a:endParaRPr lang="en-US" sz="1200" dirty="0"/>
          </a:p>
        </p:txBody>
      </p:sp>
      <p:sp>
        <p:nvSpPr>
          <p:cNvPr id="7" name="rule divider 1"/>
          <p:cNvSpPr/>
          <p:nvPr/>
        </p:nvSpPr>
        <p:spPr>
          <a:xfrm>
            <a:off x="1005840" y="1847088"/>
            <a:ext cx="7772400" cy="0"/>
          </a:xfrm>
          <a:prstGeom prst="line">
            <a:avLst/>
          </a:prstGeom>
          <a:noFill/>
          <a:ln w="9525">
            <a:solidFill>
              <a:srgbClr val="E3E3E3"/>
            </a:solidFill>
            <a:prstDash val="solid"/>
          </a:ln>
        </p:spPr>
      </p:sp>
      <p:sp>
        <p:nvSpPr>
          <p:cNvPr id="8" name="step 2"/>
          <p:cNvSpPr/>
          <p:nvPr/>
        </p:nvSpPr>
        <p:spPr>
          <a:xfrm>
            <a:off x="457200" y="1975104"/>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7510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8366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45%?</a:t>
            </a:r>
            <a:endParaRPr lang="en-US" sz="1250" dirty="0"/>
          </a:p>
        </p:txBody>
      </p:sp>
      <p:sp>
        <p:nvSpPr>
          <p:cNvPr id="11" name="rule answer 2"/>
          <p:cNvSpPr txBox="1"/>
          <p:nvPr/>
        </p:nvSpPr>
        <p:spPr>
          <a:xfrm>
            <a:off x="4389120" y="1883664"/>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(87-100% of these applicants defaulted).</a:t>
            </a:r>
            <a:endParaRPr lang="en-US" sz="1200" dirty="0"/>
          </a:p>
        </p:txBody>
      </p:sp>
      <p:sp>
        <p:nvSpPr>
          <p:cNvPr id="12" name="rule divider 2"/>
          <p:cNvSpPr/>
          <p:nvPr/>
        </p:nvSpPr>
        <p:spPr>
          <a:xfrm>
            <a:off x="1005840" y="2542032"/>
            <a:ext cx="7772400" cy="0"/>
          </a:xfrm>
          <a:prstGeom prst="line">
            <a:avLst/>
          </a:prstGeom>
          <a:noFill/>
          <a:ln w="9525">
            <a:solidFill>
              <a:srgbClr val="E3E3E3"/>
            </a:solidFill>
            <a:prstDash val="solid"/>
          </a:ln>
        </p:spPr>
      </p:sp>
      <p:sp>
        <p:nvSpPr>
          <p:cNvPr id="13" name="step 3"/>
          <p:cNvSpPr/>
          <p:nvPr/>
        </p:nvSpPr>
        <p:spPr>
          <a:xfrm>
            <a:off x="457200" y="2670048"/>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670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7860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45%: two or more delinquent credit lines?</a:t>
            </a:r>
            <a:endParaRPr lang="en-US" sz="1250" dirty="0"/>
          </a:p>
        </p:txBody>
      </p:sp>
      <p:sp>
        <p:nvSpPr>
          <p:cNvPr id="16" name="rule answer 3"/>
          <p:cNvSpPr txBox="1"/>
          <p:nvPr/>
        </p:nvSpPr>
        <p:spPr>
          <a:xfrm>
            <a:off x="4389120" y="257860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with a mortgage balance below about $45,500: flag. None or one: clear; applicants with no delinquent line default only about 4-5% of the time.</a:t>
            </a:r>
            <a:endParaRPr lang="en-US" sz="1200" dirty="0"/>
          </a:p>
        </p:txBody>
      </p:sp>
      <p:sp>
        <p:nvSpPr>
          <p:cNvPr id="17" name="rule divider 3"/>
          <p:cNvSpPr/>
          <p:nvPr/>
        </p:nvSpPr>
        <p:spPr>
          <a:xfrm>
            <a:off x="1005840" y="3236976"/>
            <a:ext cx="7772400" cy="0"/>
          </a:xfrm>
          <a:prstGeom prst="line">
            <a:avLst/>
          </a:prstGeom>
          <a:noFill/>
          <a:ln w="9525">
            <a:solidFill>
              <a:srgbClr val="E3E3E3"/>
            </a:solidFill>
            <a:prstDash val="solid"/>
          </a:ln>
        </p:spPr>
      </p:sp>
      <p:sp>
        <p:nvSpPr>
          <p:cNvPr id="18" name="step 4"/>
          <p:cNvSpPr/>
          <p:nvPr/>
        </p:nvSpPr>
        <p:spPr>
          <a:xfrm>
            <a:off x="457200" y="3364992"/>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36499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27355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Unverified ratio: how long is the credit history, any derogatory report?</a:t>
            </a:r>
            <a:endParaRPr lang="en-US" sz="1250" dirty="0"/>
          </a:p>
        </p:txBody>
      </p:sp>
      <p:sp>
        <p:nvSpPr>
          <p:cNvPr id="21" name="rule answer 4"/>
          <p:cNvSpPr txBox="1"/>
          <p:nvPr/>
        </p:nvSpPr>
        <p:spPr>
          <a:xfrm>
            <a:off x="4389120" y="3273552"/>
            <a:ext cx="4389120" cy="603504"/>
          </a:xfrm>
          <a:prstGeom prst="rect">
            <a:avLst/>
          </a:prstGeom>
          <a:noFill/>
          <a:ln/>
        </p:spPr>
        <p:txBody>
          <a:bodyPr wrap="square" lIns="0" tIns="0" rIns="0" bIns="0" rtlCol="0" anchor="ctr"/>
          <a:lstStyle/>
          <a:p>
            <a:pPr indent="0" marL="0">
              <a:buNone/>
            </a:pPr>
            <a:r>
              <a:rPr lang="en-US" sz="1200" dirty="0">
                <a:solidFill>
                  <a:schemeClr val="tx1"/>
                </a:solidFill>
              </a:rPr>
              <a:t>A history under about 15 years, or any derogatory report with a longer history, tips an unverified-ratio applicant to flag.</a:t>
            </a:r>
            <a:endParaRPr lang="en-US" sz="1200" dirty="0"/>
          </a:p>
        </p:txBody>
      </p:sp>
      <p:sp>
        <p:nvSpPr>
          <p:cNvPr id="22" name="rule divider 4"/>
          <p:cNvSpPr/>
          <p:nvPr/>
        </p:nvSpPr>
        <p:spPr>
          <a:xfrm>
            <a:off x="1005840" y="3931920"/>
            <a:ext cx="7772400" cy="0"/>
          </a:xfrm>
          <a:prstGeom prst="line">
            <a:avLst/>
          </a:prstGeom>
          <a:noFill/>
          <a:ln w="9525">
            <a:solidFill>
              <a:srgbClr val="E3E3E3"/>
            </a:solidFill>
            <a:prstDash val="solid"/>
          </a:ln>
        </p:spPr>
      </p:sp>
      <p:sp>
        <p:nvSpPr>
          <p:cNvPr id="23" name="step 5"/>
          <p:cNvSpPr/>
          <p:nvPr/>
        </p:nvSpPr>
        <p:spPr>
          <a:xfrm>
            <a:off x="457200" y="4059936"/>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96849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968496"/>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occupation and loan purpose do not appear: they matter only in combination inside the forest, which supplies the per-applicant reason codes.</a:t>
            </a:r>
            <a:endParaRPr lang="en-US" sz="1200" dirty="0"/>
          </a:p>
        </p:txBody>
      </p:sp>
      <p:sp>
        <p:nvSpPr>
          <p:cNvPr id="27" name="tree footnote"/>
          <p:cNvSpPr txBox="1"/>
          <p:nvPr/>
        </p:nvSpPr>
        <p:spPr>
          <a:xfrm>
            <a:off x="457200" y="4572000"/>
            <a:ext cx="8229600" cy="228600"/>
          </a:xfrm>
          <a:prstGeom prst="rect">
            <a:avLst/>
          </a:prstGeom>
          <a:noFill/>
          <a:ln/>
        </p:spPr>
        <p:txBody>
          <a:bodyPr wrap="square" lIns="0" tIns="0" rIns="0" bIns="0" rtlCol="0" anchor="ctr"/>
          <a:lstStyle/>
          <a:p>
            <a:pPr indent="0" marL="0">
              <a:buNone/>
            </a:pPr>
            <a:r>
              <a:rPr lang="en-US" sz="900" dirty="0">
                <a:solidFill>
                  <a:schemeClr val="accent6"/>
                </a:solidFill>
              </a:rPr>
              <a:t>Surrogate: depth-4 tree, minimum 20 applicants per leaf, fitted to the forest's flag/clear decisions at threshold 0.15 on the training rows; it agrees with the forest on 90% of test decisions.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was done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dropped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dropping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Linear models are pulled by extremes (debt-to-income 203%, credit history 97 years); trees split on rank order and keep the 'above 50% always defaults' signal</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held out before any statistic was fitted;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every real applicant; class weights lifted recall by 23 points for logistic regression and 9 for the forest at the 0.5 cut-off, but added nothing once the threshold was chosen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 Other, ProfExe, Sales, 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Every input to the final model is named in the notebook's final-pipeline cell, with the imputation values and model settings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2026-10-25T23:22:26Z</dcterms:created>
  <dcterms:modified xsi:type="dcterms:W3CDTF">2026-10-25T23:22:26Z</dcterms:modified>
</cp:coreProperties>
</file>