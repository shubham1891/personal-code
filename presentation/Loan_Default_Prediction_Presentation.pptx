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0fd71e-f313-a676-6eae-468d4deb3d06}">
          <p14:sldIdLst>
            <p14:sldId id="256"/>
            <p14:sldId id="257"/>
          </p14:sldIdLst>
        </p14:section>
        <p14:section name="Problem and approach" id="{d4965090-96e4-2995-e04b-0be61a68496c}">
          <p14:sldIdLst>
            <p14:sldId id="258"/>
            <p14:sldId id="259"/>
          </p14:sldIdLst>
        </p14:section>
        <p14:section name="Key insights" id="{9bf446a5-6f47-dd97-5a11-d880afca0b8a}">
          <p14:sldIdLst>
            <p14:sldId id="260"/>
            <p14:sldId id="261"/>
            <p14:sldId id="262"/>
          </p14:sldIdLst>
        </p14:section>
        <p14:section name="Modelling" id="{ae499c8a-c989-4f16-1976-d3aea65c27d0}">
          <p14:sldIdLst>
            <p14:sldId id="263"/>
            <p14:sldId id="264"/>
            <p14:sldId id="265"/>
            <p14:sldId id="266"/>
          </p14:sldIdLst>
        </p14:section>
        <p14:section name="Recommendations" id="{ad930b30-243a-2648-756a-abd734ce40dd}">
          <p14:sldIdLst>
            <p14:sldId id="267"/>
            <p14:sldId id="268"/>
            <p14:sldId id="269"/>
            <p14:sldId id="270"/>
          </p14:sldIdLst>
        </p14:section>
        <p14:section name="Appendix" id="{63bb47e9-56a9-e499-9a6a-58286cbaeb55}">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20.48</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(proposed model at 0.5)</c:v>
                  </c:pt>
                  <c:pt idx="4">
                    <c:v>Random Forest (class weights)</c:v>
                  </c:pt>
                  <c:pt idx="5">
                    <c:v>Random Forest, threshold 0.15</c:v>
                  </c:pt>
                </c:lvl>
              </c:multiLvlStrCache>
            </c:multiLvlStrRef>
          </c:cat>
          <c:val>
            <c:numRef>
              <c:f>Sheet1!$B$2:$B$7</c:f>
              <c:numCache>
                <c:formatCode>General</c:formatCode>
                <c:ptCount val="6"/>
                <c:pt idx="0">
                  <c:v>79.6</c:v>
                </c:pt>
                <c:pt idx="1">
                  <c:v>82.1</c:v>
                </c:pt>
                <c:pt idx="2">
                  <c:v>68.3</c:v>
                </c:pt>
                <c:pt idx="3">
                  <c:v>67.8</c:v>
                </c:pt>
                <c:pt idx="4">
                  <c:v>77.3</c:v>
                </c:pt>
                <c:pt idx="5">
                  <c:v>92.7</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(proposed model at 0.5)</c:v>
                  </c:pt>
                  <c:pt idx="4">
                    <c:v>Random Forest (class weights)</c:v>
                  </c:pt>
                  <c:pt idx="5">
                    <c:v>Random Forest, threshold 0.15</c:v>
                  </c:pt>
                </c:lvl>
              </c:multiLvlStrCache>
            </c:multiLvlStrRef>
          </c:cat>
          <c:val>
            <c:numRef>
              <c:f>Sheet1!$C$2:$C$7</c:f>
              <c:numCache>
                <c:formatCode>General</c:formatCode>
                <c:ptCount val="6"/>
                <c:pt idx="0">
                  <c:v>60.8</c:v>
                </c:pt>
                <c:pt idx="1">
                  <c:v>53.1</c:v>
                </c:pt>
                <c:pt idx="2">
                  <c:v>82.7</c:v>
                </c:pt>
                <c:pt idx="3">
                  <c:v>82.9</c:v>
                </c:pt>
                <c:pt idx="4">
                  <c:v>76.9</c:v>
                </c:pt>
                <c:pt idx="5">
                  <c:v>67.4</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Selected Random Forest, out-of-fold on training rows</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Sheet1!$B$2:$B$15</c:f>
              <c:numCache>
                <c:formatCode>General</c:formatCode>
                <c:ptCount val="14"/>
                <c:pt idx="0">
                  <c:v>98.4</c:v>
                </c:pt>
                <c:pt idx="1">
                  <c:v>96.2</c:v>
                </c:pt>
                <c:pt idx="2">
                  <c:v>93.7</c:v>
                </c:pt>
                <c:pt idx="3">
                  <c:v>90.2</c:v>
                </c:pt>
                <c:pt idx="4">
                  <c:v>86.7</c:v>
                </c:pt>
                <c:pt idx="5">
                  <c:v>83.9</c:v>
                </c:pt>
                <c:pt idx="6">
                  <c:v>81.2</c:v>
                </c:pt>
                <c:pt idx="7">
                  <c:v>78.2</c:v>
                </c:pt>
                <c:pt idx="8">
                  <c:v>75.1</c:v>
                </c:pt>
                <c:pt idx="9">
                  <c:v>71</c:v>
                </c:pt>
                <c:pt idx="10">
                  <c:v>66.7</c:v>
                </c:pt>
                <c:pt idx="11">
                  <c:v>61.3</c:v>
                </c:pt>
                <c:pt idx="12">
                  <c:v>53</c:v>
                </c:pt>
                <c:pt idx="13">
                  <c:v>45.4</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Sheet1!$C$2:$C$15</c:f>
              <c:numCache>
                <c:formatCode>General</c:formatCode>
                <c:ptCount val="14"/>
                <c:pt idx="0">
                  <c:v>43.8</c:v>
                </c:pt>
                <c:pt idx="1">
                  <c:v>56.6</c:v>
                </c:pt>
                <c:pt idx="2">
                  <c:v>63.9</c:v>
                </c:pt>
                <c:pt idx="3">
                  <c:v>68</c:v>
                </c:pt>
                <c:pt idx="4">
                  <c:v>70.7</c:v>
                </c:pt>
                <c:pt idx="5">
                  <c:v>73</c:v>
                </c:pt>
                <c:pt idx="6">
                  <c:v>75.4</c:v>
                </c:pt>
                <c:pt idx="7">
                  <c:v>77.8</c:v>
                </c:pt>
                <c:pt idx="8">
                  <c:v>80.2</c:v>
                </c:pt>
                <c:pt idx="9">
                  <c:v>82.7</c:v>
                </c:pt>
                <c:pt idx="10">
                  <c:v>85.5</c:v>
                </c:pt>
                <c:pt idx="11">
                  <c:v>87.8</c:v>
                </c:pt>
                <c:pt idx="12">
                  <c:v>89.4</c:v>
                </c:pt>
                <c:pt idx="13">
                  <c:v>91</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4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Impurity-based importance (%), final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ratio missing</c:v>
                  </c:pt>
                  <c:pt idx="1">
                    <c:v>Debt-to-income ratio</c:v>
                  </c:pt>
                  <c:pt idx="2">
                    <c:v>Age of oldest credit line</c:v>
                  </c:pt>
                  <c:pt idx="3">
                    <c:v>Delinquent credit lines</c:v>
                  </c:pt>
                  <c:pt idx="4">
                    <c:v>Property value</c:v>
                  </c:pt>
                  <c:pt idx="5">
                    <c:v>Loan amount</c:v>
                  </c:pt>
                  <c:pt idx="6">
                    <c:v>Number of credit lines</c:v>
                  </c:pt>
                  <c:pt idx="7">
                    <c:v>Mortgage balance</c:v>
                  </c:pt>
                  <c:pt idx="8">
                    <c:v>Years at current job</c:v>
                  </c:pt>
                  <c:pt idx="9">
                    <c:v>Major derogatory reports</c:v>
                  </c:pt>
                  <c:pt idx="10">
                    <c:v>Recent credit inquiries</c:v>
                  </c:pt>
                  <c:pt idx="11">
                    <c:v>Property value missing</c:v>
                  </c:pt>
                </c:lvl>
              </c:multiLvlStrCache>
            </c:multiLvlStrRef>
          </c:cat>
          <c:val>
            <c:numRef>
              <c:f>Sheet1!$B$2:$B$13</c:f>
              <c:numCache>
                <c:formatCode>General</c:formatCode>
                <c:ptCount val="12"/>
                <c:pt idx="0">
                  <c:v>17.2</c:v>
                </c:pt>
                <c:pt idx="1">
                  <c:v>14.4</c:v>
                </c:pt>
                <c:pt idx="2">
                  <c:v>8.7</c:v>
                </c:pt>
                <c:pt idx="3">
                  <c:v>8</c:v>
                </c:pt>
                <c:pt idx="4">
                  <c:v>7.5</c:v>
                </c:pt>
                <c:pt idx="5">
                  <c:v>7.2</c:v>
                </c:pt>
                <c:pt idx="6">
                  <c:v>6.8</c:v>
                </c:pt>
                <c:pt idx="7">
                  <c:v>6.7</c:v>
                </c:pt>
                <c:pt idx="8">
                  <c:v>5.3</c:v>
                </c:pt>
                <c:pt idx="9">
                  <c:v>4.7</c:v>
                </c:pt>
                <c:pt idx="10">
                  <c:v>3.6</c:v>
                </c:pt>
                <c:pt idx="11">
                  <c:v>2.9</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24"/>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eight minutes I will show how a bank can cut the cost of credit errors on the home equity loans it approves today. The cut is about four fifths, with a model the bank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ends in default. The biggest red flag is income the bank could not check. The proposed model catches 93 percent of defaulters before the money leaves the bank. And under reasonable assumptions that is worth about nine million dollars a year. We recommend mandatory income and valuation checks first. Then deploy the forest at a 0.15 threshold with approve, refer and decline bands, after a two-month shadow run and a fairness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and losses come from defaulters. The current manual process is slow and inconsistent. The data is 5,960 recent home equity loans with 12 attributes and a 20 percent default rate. Almost half the applications have at least one blank field. That matters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Convert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 The final model keeps six of these flags, because the input-set reduction removed five weak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between 20 and 40 percent, 4 to 7 percent default. Above 45 percent, 87 to 100 percent default. And repayment history repeats: the first delinquent credit line more than doubles the default rate, and each further one raises it again. Both are plain-language rules to give an applicant.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removing it raises the expected cost of credit errors by about 13 percent. The fair-lending review decides whether it stays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a large part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eleven model variants. These six tell the story. At the usual threshold the forest with class weights has the best balance and ranks applicants among the best. We then chose the final configuration and its threshold together on repeated out-of-fold expected cost, using training rows only. We fixed the rule beforehand: lowest mean cost of mistakes, and the simplest set-up when several are within run-to-run noise. Three forests tied within that noise, so class weights added nothing once we chose the threshold on cost. We chose the plain forest at a 0.15 threshold. The same rule then removed five weak missing flags, so the forest uses 22 of the 27 inputs. On the test set it catches 93 percent of defaulters, and two thirds of the flagged applicants really defaulted. At their own best thresholds the bagged trees, the logistic regression and the tree cost 390, 550 and 607 thousand dollars per thousand applicants. The selected forest costs 324 thousand, so it also wins on the cost yardstick.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on 22 inputs scores the applicants. Stage 2 of the selection removed five weak missing flags, those of mortgage balance, delinquent lines, credit-line age, inquiries and number of credit lines. The rule kept the smallest input set within one standard error of the lowest cost. Stage 3 checked the 22-input forest against all 27 inputs and kept it. The fallback without occupation uses 16 inputs and costs about 13 percent more. A surrogate decision tree, fitted to the forest's out-of-fold decisions, reproduces ninety-three percent of the forest's decisions on unseen applicants. It gives the plain-language summary of the rules. Per-applicant risk drivers, built before the shadow run, give each decline its own reason. On unseen applicants the forest catches 93 percent of defaulters. On the same applicants, two out of three flagged applicants really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We chose the threshold on out-of-fold predictions of the training rows, so the test set played no part. Moving it to 0.15 cuts missed defaulters from 64 to 15 per thousand applicants on the test set. The price is flagging 90 instead of 28 good customers. It is the cheapest operating point for any cost ratio between four and a half and eight to one. Our assumed ratio of four and a half to one sits at the lower edge of that range. It held on a finer grid. On two other train/test splits, the 27-input forest also chose 0.15. It sits just below the textbook break-even of 0.18 for a perfectly calibrated score, because the forest's scores understate risk in the decision range. Applicants scored fifteen to twenty percent defaulted about twenty-eight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round-number assumptions, the bank's cost of credit errors falls from about 10.8 million to about 1.9 million a year on 6,000 applications. Even if the real benefit were a quarter of that, the project repays its cost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has three phases: prepare, shadow run, then scale. There are three policy rules the bank can adopt immediately, with or without the model. First, set a debt-to-income limit of 45 percent. Second, refer anyone with two or more delinquencies or derogatory reports to an underwriter. Third, treat a missing income or valuation as high risk and require verification. We read the first two thresholds straight from the observed default rates. Where a rule and the score disagree, the stricter outcome applies. The slide 10 band shares exclude these referrals.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drift in the missing-value signal, and fair-lending exposure. Selection bias comes from data that covers only approved loans. The drift starts once verification becomes mandatory.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models on the test set. We fixed the selection rule beforehand: lowest mean cost, and the simplest set-up among those within one standard error, about 10,500 dollars per thousand applicants. On the seed-averaged input curve one standard error is about 9,700 dollars, and the same rule kept 22 inputs. The mean out-of-fold ROC-AUC of the proposed model is 0.960, against 0.961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to approve home equity loans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home equity loans in the data ended in default. Accuracy alone is a misleading yardstick.</a:t>
            </a:r>
            <a:endParaRPr lang="en-US" sz="1200" dirty="0"/>
          </a:p>
        </p:txBody>
      </p:sp>
      <p:sp>
        <p:nvSpPr>
          <p:cNvPr id="6" name="takeaway card 2"/>
          <p:cNvSpPr/>
          <p:nvPr/>
        </p:nvSpPr>
        <p:spPr>
          <a:xfrm>
            <a:off x="256032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default rate when the applicant's debt-to-income ratio is missing, versus 8.6% when it is present. Unverified income is the strongest warning sign.</a:t>
            </a:r>
            <a:endParaRPr lang="en-US" sz="1200" dirty="0"/>
          </a:p>
        </p:txBody>
      </p:sp>
      <p:sp>
        <p:nvSpPr>
          <p:cNvPr id="9" name="takeaway card 3"/>
          <p:cNvSpPr/>
          <p:nvPr/>
        </p:nvSpPr>
        <p:spPr>
          <a:xfrm>
            <a:off x="466344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of future defaulters among unseen applicants. The proposed Random Forest model catches them. 2 of every 3 applicants it flagged really defaulted.</a:t>
            </a:r>
            <a:endParaRPr lang="en-US" sz="1200" dirty="0"/>
          </a:p>
        </p:txBody>
      </p:sp>
      <p:sp>
        <p:nvSpPr>
          <p:cNvPr id="12" name="takeaway card 4"/>
          <p:cNvSpPr/>
          <p:nvPr/>
        </p:nvSpPr>
        <p:spPr>
          <a:xfrm>
            <a:off x="676656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indicative annual benefit on 6,000 applications, from roughly $10.8M of credit-error cost down to about $1.9M.</a:t>
            </a:r>
            <a:endParaRPr lang="en-US" sz="1200" dirty="0"/>
          </a:p>
        </p:txBody>
      </p:sp>
      <p:sp>
        <p:nvSpPr>
          <p:cNvPr id="15" name="recommendation line"/>
          <p:cNvSpPr txBox="1"/>
          <p:nvPr/>
        </p:nvSpPr>
        <p:spPr>
          <a:xfrm>
            <a:off x="457200" y="4069080"/>
            <a:ext cx="8229600" cy="594360"/>
          </a:xfrm>
          <a:prstGeom prst="rect">
            <a:avLst/>
          </a:prstGeom>
          <a:noFill/>
          <a:ln/>
        </p:spPr>
        <p:txBody>
          <a:bodyPr wrap="square" lIns="0" tIns="0" rIns="0" bIns="0" rtlCol="0" anchor="t"/>
          <a:lstStyle/>
          <a:p>
            <a:pPr indent="0" marL="0">
              <a:buNone/>
            </a:pPr>
            <a:r>
              <a:rPr lang="en-US" sz="1250" b="1" dirty="0">
                <a:solidFill>
                  <a:schemeClr val="accent2"/>
                </a:solidFill>
              </a:rPr>
              <a:t>Recommendation: </a:t>
            </a:r>
            <a:pPr indent="0" marL="0">
              <a:buNone/>
            </a:pPr>
            <a:r>
              <a:rPr lang="en-US" sz="1250" dirty="0">
                <a:solidFill>
                  <a:schemeClr val="accent1"/>
                </a:solidFill>
              </a:rPr>
              <a:t>make income and valuation checks mandatory. Deploy the forest at a 0.15 threshold with approve / refer / decline bands, after a two-month shadow run and a fairness review.</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Defaults consume it.</a:t>
            </a:r>
            <a:endParaRPr lang="en-US" sz="1350" dirty="0"/>
          </a:p>
          <a:p>
            <a:pPr marL="177800" indent="-177800">
              <a:spcAft>
                <a:spcPts val="800"/>
              </a:spcAft>
              <a:buSzPct val="100000"/>
              <a:buChar char="•"/>
            </a:pPr>
            <a:r>
              <a:rPr lang="en-US" sz="1350" dirty="0">
                <a:solidFill>
                  <a:schemeClr val="tx1"/>
                </a:solidFill>
              </a:rPr>
              <a:t>Today each decision is manual: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Reserve a stratified 30% test set first. Flag every missing field. Impute median/mode learned on training rows. Cap outliers for the linear model only. One-hot encode</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Final model, inputs and threshold chosen on out-of-fold expected cost</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The overall default rate is 20%, so these gaps multiply risk 3 to 5 times.</a:t>
            </a:r>
            <a:endParaRPr lang="en-US" sz="1250" dirty="0"/>
          </a:p>
          <a:p>
            <a:pPr marL="177800" indent="-177800">
              <a:spcAft>
                <a:spcPts val="800"/>
              </a:spcAft>
              <a:buSzPct val="100000"/>
              <a:buChar char="•"/>
            </a:pPr>
            <a:r>
              <a:rPr lang="en-US" sz="1250" dirty="0">
                <a:solidFill>
                  <a:schemeClr val="tx1"/>
                </a:solidFill>
              </a:rPr>
              <a:t>Interpretation: the bank could not check the income or collateral, or the applicant chose not to supply it.</a:t>
            </a:r>
            <a:endParaRPr lang="en-US" sz="1250" dirty="0"/>
          </a:p>
          <a:p>
            <a:pPr marL="177800" indent="-177800">
              <a:spcAft>
                <a:spcPts val="800"/>
              </a:spcAft>
              <a:buSzPct val="100000"/>
              <a:buChar char="•"/>
            </a:pPr>
            <a:r>
              <a:rPr lang="en-US" sz="1250" dirty="0">
                <a:solidFill>
                  <a:schemeClr val="tx1"/>
                </a:solidFill>
              </a:rPr>
              <a:t>Action: every imputed field gets a 'was missing' flag for the models.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Between a 20% and a 40% ratio only 4-7% default. Above 45% almost everyone does. The first delinquent line or derogatory report more than doubles the risk. Each further one raises it again (delinquent lines: 14% at zero, 34% at one, 100% at six or more).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150" dirty="0">
                <a:solidFill>
                  <a:schemeClr val="tx1"/>
                </a:solidFill>
              </a:rPr>
              <a:t>Default rate (%) by group. Applicants with under five years of credit history default four times as often as those with twenty-plus years. Loans under $5,000 default 57% of the time. Occupation shifts risk moderately and adds little on its own at the usual threshold. But removing it from the final model raises the expected cost of credit errors by about 13%. So it stays, subject to the fair-lending review.</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loses a large part of the principal plus collection cost: about $9,000 on an average $16,900 defaulted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is creditworthy.</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forgoes the interest margin on one good applicant: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flagged applicants really default) and F1, so the model does not simply decline everyone. ROC-AUC measures how well the model ranks applicants by risk, which matters when the threshold moves.</a:t>
            </a:r>
            <a:endParaRPr lang="en-US" sz="1250" dirty="0"/>
          </a:p>
          <a:p>
            <a:pPr marL="177800" indent="-177800">
              <a:spcAft>
                <a:spcPts val="800"/>
              </a:spcAft>
              <a:buSzPct val="100000"/>
              <a:buChar char="•"/>
            </a:pPr>
            <a:r>
              <a:rPr lang="en-US" sz="1250" dirty="0">
                <a:solidFill>
                  <a:schemeClr val="tx1"/>
                </a:solidFill>
              </a:rPr>
              <a:t>We tune individual models by cross-validated grid search on recall. We choose the final model and its threshold on out-of-fold expected cost, training rows only. We score the 30% test set once.</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steps,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77% recall at 77% precision, ROC-AUC 0.96, among the best at ranking applicants by risk.</a:t>
            </a:r>
            <a:endParaRPr lang="en-US" sz="1200" dirty="0"/>
          </a:p>
          <a:p>
            <a:pPr marL="177800" indent="-177800">
              <a:spcAft>
                <a:spcPts val="800"/>
              </a:spcAft>
              <a:buSzPct val="100000"/>
              <a:buChar char="•"/>
            </a:pPr>
            <a:r>
              <a:rPr lang="en-US" sz="1200" dirty="0">
                <a:solidFill>
                  <a:schemeClr val="tx1"/>
                </a:solidFill>
              </a:rPr>
              <a:t>Final choice on the expected cost of mistakes (training rows only), by a rule fixed beforehand: lowest mean cost, simplest if within noise. The plain forest on 22 inputs at 0.15 catches 93% at 67% precision on test.</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explained by a surrogate decision tree</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Scoring engine: Random Forest, 200 fully grown trees, no class weights (the threshold handles the imbalance).</a:t>
            </a:r>
            <a:endParaRPr lang="en-US" sz="1100" dirty="0"/>
          </a:p>
          <a:p>
            <a:pPr marL="177800" indent="-177800">
              <a:spcAft>
                <a:spcPts val="800"/>
              </a:spcAft>
              <a:buSzPct val="100000"/>
              <a:buChar char="•"/>
            </a:pPr>
            <a:r>
              <a:rPr lang="en-US" sz="1100" dirty="0">
                <a:solidFill>
                  <a:schemeClr val="tx1"/>
                </a:solidFill>
              </a:rPr>
              <a:t>Inputs: 22 of 27 (10 attributes, 6 missing-value flags, occupation and loan purpose). Fallback without occupation: 16 inputs, about 13% more cost.</a:t>
            </a:r>
            <a:endParaRPr lang="en-US" sz="1100" dirty="0"/>
          </a:p>
          <a:p>
            <a:pPr marL="177800" indent="-177800">
              <a:spcAft>
                <a:spcPts val="800"/>
              </a:spcAft>
              <a:buSzPct val="100000"/>
              <a:buChar char="•"/>
            </a:pPr>
            <a:r>
              <a:rPr lang="en-US" sz="1100" dirty="0">
                <a:solidFill>
                  <a:schemeClr val="tx1"/>
                </a:solidFill>
              </a:rPr>
              <a:t>Threshold 0.15, chosen with the configuration on repeated out-of-fold expected cost (training rows). It holds for cost ratios 4.5:1 to 8:1 and on a finer grid. Approve / refer / decline bands (69% / 7% / 24%) keep an underwriter in the loop.</a:t>
            </a:r>
            <a:endParaRPr lang="en-US" sz="1100" dirty="0"/>
          </a:p>
          <a:p>
            <a:pPr marL="177800" indent="-177800">
              <a:spcAft>
                <a:spcPts val="800"/>
              </a:spcAft>
              <a:buSzPct val="100000"/>
              <a:buChar char="•"/>
            </a:pPr>
            <a:r>
              <a:rPr lang="en-US" sz="1100" dirty="0">
                <a:solidFill>
                  <a:schemeClr val="tx1"/>
                </a:solidFill>
              </a:rPr>
              <a:t>Explanation layer: a depth-4 surrogate tree reproduces 93% of the forest's test decisions and gives the plain-language summary. Per-applicant risk drivers (built before the shadow run) give each decline its ECOA reason.</a:t>
            </a:r>
            <a:endParaRPr lang="en-US" sz="1100" dirty="0"/>
          </a:p>
          <a:p>
            <a:pPr marL="177800" indent="-177800">
              <a:spcAft>
                <a:spcPts val="800"/>
              </a:spcAft>
              <a:buSzPct val="100000"/>
              <a:buChar char="•"/>
            </a:pPr>
            <a:r>
              <a:rPr lang="en-US" sz="1100" dirty="0">
                <a:solidFill>
                  <a:schemeClr val="tx1"/>
                </a:solidFill>
              </a:rPr>
              <a:t>We scored the reserved test set once, after all choices.</a:t>
            </a:r>
            <a:endParaRPr lang="en-US" sz="110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7%"/>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67%</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at 0.15: 185 of 200 defaulters flagged in advance, 15 missed, 90 good customers flagged. 27% of applicants flagged, 73% approved.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0.15 threshold: it is a business dial, not a constant</a:t>
            </a:r>
            <a:endParaRPr lang="en-US" sz="2400" dirty="0"/>
          </a:p>
        </p:txBody>
      </p:sp>
      <p:graphicFrame>
        <p:nvGraphicFramePr>
          <p:cNvPr id="3" name="threshold chart" descr=""/>
          <p:cNvGraphicFramePr/>
          <p:nvPr/>
        </p:nvGraphicFramePr>
        <p:xfrm>
          <a:off x="365760" y="1097280"/>
          <a:ext cx="4846320" cy="320040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43000"/>
            <a:ext cx="3383280" cy="1463040"/>
          </a:xfrm>
          <a:prstGeom prst="roundRect">
            <a:avLst>
              <a:gd name="adj" fmla="val 5000"/>
            </a:avLst>
          </a:prstGeom>
          <a:solidFill>
            <a:schemeClr val="bg2"/>
          </a:solidFill>
          <a:ln w="9525">
            <a:solidFill>
              <a:schemeClr val="bg2"/>
            </a:solidFill>
            <a:prstDash val="solid"/>
          </a:ln>
        </p:spPr>
      </p:sp>
      <p:sp>
        <p:nvSpPr>
          <p:cNvPr id="5" name="threshold card title 1"/>
          <p:cNvSpPr txBox="1"/>
          <p:nvPr/>
        </p:nvSpPr>
        <p:spPr>
          <a:xfrm>
            <a:off x="5577840" y="123444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184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64 missed defaulters</a:t>
            </a:r>
            <a:endParaRPr lang="en-US" sz="1200" dirty="0"/>
          </a:p>
          <a:p>
            <a:pPr marL="177800" indent="-177800">
              <a:spcAft>
                <a:spcPts val="800"/>
              </a:spcAft>
              <a:buSzPct val="100000"/>
              <a:buChar char="•"/>
            </a:pPr>
            <a:r>
              <a:rPr lang="en-US" sz="1200" dirty="0">
                <a:solidFill>
                  <a:schemeClr val="tx1"/>
                </a:solidFill>
              </a:rPr>
              <a:t>28 good customers flagged</a:t>
            </a:r>
            <a:endParaRPr lang="en-US" sz="1200" dirty="0"/>
          </a:p>
          <a:p>
            <a:pPr marL="177800" indent="-177800">
              <a:spcAft>
                <a:spcPts val="800"/>
              </a:spcAft>
              <a:buSzPct val="100000"/>
              <a:buChar char="•"/>
            </a:pPr>
            <a:r>
              <a:rPr lang="en-US" sz="1200" dirty="0">
                <a:solidFill>
                  <a:schemeClr val="tx1"/>
                </a:solidFill>
              </a:rPr>
              <a:t>$635k indicative cost</a:t>
            </a:r>
            <a:endParaRPr lang="en-US" sz="1200" dirty="0"/>
          </a:p>
        </p:txBody>
      </p:sp>
      <p:sp>
        <p:nvSpPr>
          <p:cNvPr id="7" name="threshold card 2"/>
          <p:cNvSpPr/>
          <p:nvPr/>
        </p:nvSpPr>
        <p:spPr>
          <a:xfrm>
            <a:off x="5394960" y="2743200"/>
            <a:ext cx="3383280" cy="1463040"/>
          </a:xfrm>
          <a:prstGeom prst="roundRect">
            <a:avLst>
              <a:gd name="adj" fmla="val 5000"/>
            </a:avLst>
          </a:prstGeom>
          <a:solidFill>
            <a:schemeClr val="bg2"/>
          </a:solidFill>
          <a:ln w="9525">
            <a:solidFill>
              <a:schemeClr val="bg2"/>
            </a:solidFill>
            <a:prstDash val="solid"/>
          </a:ln>
        </p:spPr>
      </p:sp>
      <p:sp>
        <p:nvSpPr>
          <p:cNvPr id="8" name="threshold card title 2"/>
          <p:cNvSpPr txBox="1"/>
          <p:nvPr/>
        </p:nvSpPr>
        <p:spPr>
          <a:xfrm>
            <a:off x="5577840" y="28346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0.15 (proposed)</a:t>
            </a:r>
            <a:endParaRPr lang="en-US" sz="1400" dirty="0"/>
          </a:p>
        </p:txBody>
      </p:sp>
      <p:sp>
        <p:nvSpPr>
          <p:cNvPr id="9" name="threshold card body 2"/>
          <p:cNvSpPr txBox="1"/>
          <p:nvPr/>
        </p:nvSpPr>
        <p:spPr>
          <a:xfrm>
            <a:off x="5577840" y="32186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15 missed defaulters</a:t>
            </a:r>
            <a:endParaRPr lang="en-US" sz="1200" dirty="0"/>
          </a:p>
          <a:p>
            <a:pPr marL="177800" indent="-177800">
              <a:spcAft>
                <a:spcPts val="800"/>
              </a:spcAft>
              <a:buSzPct val="100000"/>
              <a:buChar char="•"/>
            </a:pPr>
            <a:r>
              <a:rPr lang="en-US" sz="1200" dirty="0">
                <a:solidFill>
                  <a:schemeClr val="tx1"/>
                </a:solidFill>
              </a:rPr>
              <a:t>90 good customers flagged</a:t>
            </a:r>
            <a:endParaRPr lang="en-US" sz="1200" dirty="0"/>
          </a:p>
          <a:p>
            <a:pPr marL="177800" indent="-177800">
              <a:spcAft>
                <a:spcPts val="800"/>
              </a:spcAft>
              <a:buSzPct val="100000"/>
              <a:buChar char="•"/>
            </a:pPr>
            <a:r>
              <a:rPr lang="en-US" sz="1200" dirty="0">
                <a:solidFill>
                  <a:schemeClr val="tx1"/>
                </a:solidFill>
              </a:rPr>
              <a:t>$310k indicative cost</a:t>
            </a:r>
            <a:endParaRPr lang="en-US" sz="1200" dirty="0"/>
          </a:p>
        </p:txBody>
      </p:sp>
      <p:sp>
        <p:nvSpPr>
          <p:cNvPr id="10" name="threshold footnote"/>
          <p:cNvSpPr txBox="1"/>
          <p:nvPr/>
        </p:nvSpPr>
        <p:spPr>
          <a:xfrm>
            <a:off x="457200" y="4370832"/>
            <a:ext cx="8229600" cy="329184"/>
          </a:xfrm>
          <a:prstGeom prst="rect">
            <a:avLst/>
          </a:prstGeom>
          <a:noFill/>
          <a:ln/>
        </p:spPr>
        <p:txBody>
          <a:bodyPr wrap="square" lIns="0" tIns="0" rIns="0" bIns="0" rtlCol="0" anchor="ctr"/>
          <a:lstStyle/>
          <a:p>
            <a:pPr indent="0" marL="0">
              <a:buNone/>
            </a:pPr>
            <a:r>
              <a:rPr lang="en-US" sz="900" dirty="0">
                <a:solidFill>
                  <a:schemeClr val="accent6"/>
                </a:solidFill>
              </a:rPr>
              <a:t>Curves: out-of-fold predictions on the training rows. Cards: test set, per 1,000 applicants, at $9,000 per missed defaulter and $2,000 per wrongly declined customer. The optimum stays at 0.15 for cost ratios 4.5:1 to 8:1 and on a finer grid.</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90 missed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flagged at 0.15</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540, margin forgone about $1.1M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$1.9M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100" dirty="0">
                <a:solidFill>
                  <a:schemeClr val="bg2"/>
                </a:solidFill>
              </a:rPr>
              <a:t>indicative gross annual benefit. About $8.8M after running costs, $8.5M in year one</a:t>
            </a:r>
            <a:endParaRPr lang="en-US" sz="11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Defaulted loans average $16,900 with about half recovered ($9,000 per missed defaulter). Forgone margin about $2,000 per declined good customer. Production performance equal to test performance. Measured as an extra screen on the loans the bank approves today, before mandatory income verification.</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It repays its cost within year one even if the bank gets only a quarter of the benefit.</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per-applicant risk drivers</a:t>
            </a:r>
            <a:endParaRPr lang="en-US" sz="1100" dirty="0"/>
          </a:p>
          <a:p>
            <a:pPr marL="177800" indent="-177800">
              <a:spcAft>
                <a:spcPts val="800"/>
              </a:spcAft>
              <a:buSzPct val="100000"/>
              <a:buChar char="•"/>
            </a:pPr>
            <a:r>
              <a:rPr lang="en-US" sz="1100" dirty="0">
                <a:solidFill>
                  <a:schemeClr val="tx1"/>
                </a:solidFill>
              </a:rPr>
              <a:t>Check the threshold with real loss and margin figures</a:t>
            </a:r>
            <a:endParaRPr lang="en-US" sz="1100" dirty="0"/>
          </a:p>
          <a:p>
            <a:pPr marL="177800" indent="-177800">
              <a:spcAft>
                <a:spcPts val="800"/>
              </a:spcAft>
              <a:buSzPct val="100000"/>
              <a:buChar char="•"/>
            </a:pPr>
            <a:r>
              <a:rPr lang="en-US" sz="1100" dirty="0">
                <a:solidFill>
                  <a:schemeClr val="tx1"/>
                </a:solidFill>
              </a:rPr>
              <a:t>Review fairness and model risk</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run</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Test on past applicants with a recorded ratio.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risk drivers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Start automated approve / decline for clear cases</a:t>
            </a:r>
            <a:endParaRPr lang="en-US" sz="1100" dirty="0"/>
          </a:p>
          <a:p>
            <a:pPr marL="177800" indent="-177800">
              <a:spcAft>
                <a:spcPts val="800"/>
              </a:spcAft>
              <a:buSzPct val="100000"/>
              <a:buChar char="•"/>
            </a:pPr>
            <a:r>
              <a:rPr lang="en-US" sz="1100" dirty="0">
                <a:solidFill>
                  <a:schemeClr val="tx1"/>
                </a:solidFill>
              </a:rPr>
              <a:t>Monthly: approval rate, missing fields. As outcomes arrive: recall, precision</a:t>
            </a:r>
            <a:endParaRPr lang="en-US" sz="1100" dirty="0"/>
          </a:p>
          <a:p>
            <a:pPr marL="177800" indent="-177800">
              <a:spcAft>
                <a:spcPts val="800"/>
              </a:spcAft>
              <a:buSzPct val="100000"/>
              <a:buChar char="•"/>
            </a:pPr>
            <a:r>
              <a:rPr lang="en-US" sz="1100" dirty="0">
                <a:solidFill>
                  <a:schemeClr val="tx1"/>
                </a:solidFill>
              </a:rPr>
              <a:t>Re-train once 12+ months of verified outcomes exist, then yearly.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above a 45% debt-to-income ratio. Refer to an underwriter with two or more delinquent credit lines or two or more major derogatory reports. Observed default: 45% and 51%+. Where a rule and the score disagree, the stricter outcome applies.</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the data covers only loans the old process approved.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Before go-live, test on past applicants with a recorded ratio (81% caught at 78% precision). Re-train after 12+ months of verified outcomes.</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the 0.15 threshold wrongly flags about 11% of creditworthy applicants (3% at 0.5). Test for disparate impact before go-live, yearly and at each threshold change. A fallback without occupation is ready (about 13% more cost).</a:t>
            </a:r>
            <a:endParaRPr lang="en-US" sz="1100" dirty="0"/>
          </a:p>
          <a:p>
            <a:pPr marL="177800" indent="-177800">
              <a:spcAft>
                <a:spcPts val="800"/>
              </a:spcAft>
              <a:buSzPct val="100000"/>
              <a:buChar char="•"/>
            </a:pPr>
            <a:r>
              <a:rPr lang="en-US" sz="1100" dirty="0">
                <a:solidFill>
                  <a:schemeClr val="tx1"/>
                </a:solidFill>
              </a:rPr>
              <a:t>Explainability and automation bias: per-applicant risk drivers,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 (needs 12+ months of data).</a:t>
            </a:r>
            <a:endParaRPr lang="en-US" sz="1100" dirty="0"/>
          </a:p>
          <a:p>
            <a:pPr marL="177800" indent="-177800">
              <a:spcAft>
                <a:spcPts val="800"/>
              </a:spcAft>
              <a:buSzPct val="100000"/>
              <a:buChar char="•"/>
            </a:pPr>
            <a:r>
              <a:rPr lang="en-US" sz="1100" dirty="0">
                <a:solidFill>
                  <a:schemeClr val="tx1"/>
                </a:solidFill>
              </a:rPr>
              <a:t>Engineered features: combined loan-to-value ratio, debt-to-income bands, interaction terms.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0.15 means exactly a 15%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Applicant-friendly wording for the per-applicant risk drivers, tested with compliance staff.</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4688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Train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(plain)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0.566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0.635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(balanced, C tuned)</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0.857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(default)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(class weights)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(tuned: balanced, min 20 per leaf)</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0.531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(200 fully grown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0.748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(class-weighted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0.597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0.891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(default, 200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0.842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(class weights 0.2/0.8)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for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0.932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12 inputs)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0.784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Proposed: RF unweighted, 22 inputs, threshold 0.15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0.674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0.781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0.896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0.961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407408"/>
            <a:ext cx="8229600" cy="301752"/>
          </a:xfrm>
          <a:prstGeom prst="rect">
            <a:avLst/>
          </a:prstGeom>
          <a:noFill/>
          <a:ln/>
        </p:spPr>
        <p:txBody>
          <a:bodyPr wrap="square" lIns="0" tIns="0" rIns="0" bIns="0" rtlCol="0" anchor="ctr"/>
          <a:lstStyle/>
          <a:p>
            <a:pPr indent="0" marL="0">
              <a:buNone/>
            </a:pPr>
            <a:r>
              <a:rPr lang="en-US" sz="900" dirty="0">
                <a:solidFill>
                  <a:schemeClr val="accent6"/>
                </a:solidFill>
              </a:rPr>
              <a:t>Test set of 1,788 applicants at the 0.5 threshold except the proposed model. Train recall of 1.000 marks un-pruned models that memorised the training rows. We chose the proposed model, its 22 inputs and its threshold on repeated out-of-fold expected cost (training rows only).</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The debt-to-income ratio and its missing flag carry a third of the final forest's decision power. With delinquent lines and credit-history length, about half.</a:t>
            </a:r>
            <a:endParaRPr lang="en-US" sz="1100" dirty="0"/>
          </a:p>
          <a:p>
            <a:pPr marL="177800" indent="-177800">
              <a:spcAft>
                <a:spcPts val="800"/>
              </a:spcAft>
              <a:buSzPct val="100000"/>
              <a:buChar char="•"/>
            </a:pPr>
            <a:r>
              <a:rPr lang="en-US" sz="1100" dirty="0">
                <a:solidFill>
                  <a:schemeClr val="tx1"/>
                </a:solidFill>
              </a:rPr>
              <a:t>Permutation importance (drop in ranking quality when we shuffle a column) ranks the same four at the top, delinquent credit lines first.</a:t>
            </a:r>
            <a:endParaRPr lang="en-US" sz="1100" dirty="0"/>
          </a:p>
          <a:p>
            <a:pPr marL="177800" indent="-177800">
              <a:spcAft>
                <a:spcPts val="800"/>
              </a:spcAft>
              <a:buSzPct val="100000"/>
              <a:buChar char="•"/>
            </a:pPr>
            <a:r>
              <a:rPr lang="en-US" sz="1100" dirty="0">
                <a:solidFill>
                  <a:schemeClr val="tx1"/>
                </a:solidFill>
              </a:rPr>
              <a:t>Loan, property and mortgage amounts matter in combination, little on their own.</a:t>
            </a:r>
            <a:endParaRPr lang="en-US" sz="1100" dirty="0"/>
          </a:p>
          <a:p>
            <a:pPr marL="177800" indent="-177800">
              <a:spcAft>
                <a:spcPts val="800"/>
              </a:spcAft>
              <a:buSzPct val="100000"/>
              <a:buChar char="•"/>
            </a:pPr>
            <a:r>
              <a:rPr lang="en-US" sz="1100" dirty="0">
                <a:solidFill>
                  <a:schemeClr val="tx1"/>
                </a:solidFill>
              </a:rPr>
              <a:t>Stage 2 removed five weak missing flags (about 2% of the decision power). The cost stayed within one standard error. Removing occupation as well adds about 13%, so it stays subject to the fair-lending review.</a:t>
            </a:r>
            <a:endParaRPr lang="en-US" sz="1100" dirty="0"/>
          </a:p>
          <a:p>
            <a:pPr marL="177800" indent="-177800">
              <a:spcAft>
                <a:spcPts val="800"/>
              </a:spcAft>
              <a:buSzPct val="100000"/>
              <a:buChar char="•"/>
            </a:pPr>
            <a:r>
              <a:rPr lang="en-US" sz="1100" dirty="0">
                <a:solidFill>
                  <a:schemeClr val="tx1"/>
                </a:solidFill>
              </a:rPr>
              <a:t>Logistic-regression coefficients, tree rules and the surrogate tree all point to the same drivers.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of the surrogate tree that follows the forest</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whatever the credit history (62% of these applicants defaulted). Check income before approving.</a:t>
            </a:r>
            <a:endParaRPr lang="en-US" sz="1200" dirty="0"/>
          </a:p>
        </p:txBody>
      </p:sp>
      <p:sp>
        <p:nvSpPr>
          <p:cNvPr id="7" name="rule divider 1"/>
          <p:cNvSpPr/>
          <p:nvPr/>
        </p:nvSpPr>
        <p:spPr>
          <a:xfrm>
            <a:off x="1005840" y="1819656"/>
            <a:ext cx="7772400" cy="0"/>
          </a:xfrm>
          <a:prstGeom prst="line">
            <a:avLst/>
          </a:prstGeom>
          <a:noFill/>
          <a:ln w="9525">
            <a:solidFill>
              <a:srgbClr val="E3E3E3"/>
            </a:solidFill>
            <a:prstDash val="solid"/>
          </a:ln>
        </p:spPr>
      </p:sp>
      <p:sp>
        <p:nvSpPr>
          <p:cNvPr id="8" name="step 2"/>
          <p:cNvSpPr/>
          <p:nvPr/>
        </p:nvSpPr>
        <p:spPr>
          <a:xfrm>
            <a:off x="457200" y="1938528"/>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4708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47088"/>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(87-100% of applicants above 45% defaulted).</a:t>
            </a:r>
            <a:endParaRPr lang="en-US" sz="1200" dirty="0"/>
          </a:p>
        </p:txBody>
      </p:sp>
      <p:sp>
        <p:nvSpPr>
          <p:cNvPr id="12" name="rule divider 2"/>
          <p:cNvSpPr/>
          <p:nvPr/>
        </p:nvSpPr>
        <p:spPr>
          <a:xfrm>
            <a:off x="1005840" y="2478024"/>
            <a:ext cx="7772400" cy="0"/>
          </a:xfrm>
          <a:prstGeom prst="line">
            <a:avLst/>
          </a:prstGeom>
          <a:noFill/>
          <a:ln w="9525">
            <a:solidFill>
              <a:srgbClr val="E3E3E3"/>
            </a:solidFill>
            <a:prstDash val="solid"/>
          </a:ln>
        </p:spPr>
      </p:sp>
      <p:sp>
        <p:nvSpPr>
          <p:cNvPr id="13" name="step 3"/>
          <p:cNvSpPr/>
          <p:nvPr/>
        </p:nvSpPr>
        <p:spPr>
          <a:xfrm>
            <a:off x="457200" y="2596896"/>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0545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Ratio at or below 44%: a delinquent credit line and a credit history of 93 months or less?</a:t>
            </a:r>
            <a:endParaRPr lang="en-US" sz="1250" dirty="0"/>
          </a:p>
        </p:txBody>
      </p:sp>
      <p:sp>
        <p:nvSpPr>
          <p:cNvPr id="16" name="rule answer 3"/>
          <p:cNvSpPr txBox="1"/>
          <p:nvPr/>
        </p:nvSpPr>
        <p:spPr>
          <a:xfrm>
            <a:off x="4389120" y="2505456"/>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Otherwise clear. Applicants with no delinquent line default only about 4-5% of the time.</a:t>
            </a:r>
            <a:endParaRPr lang="en-US" sz="1200" dirty="0"/>
          </a:p>
        </p:txBody>
      </p:sp>
      <p:sp>
        <p:nvSpPr>
          <p:cNvPr id="17" name="rule divider 3"/>
          <p:cNvSpPr/>
          <p:nvPr/>
        </p:nvSpPr>
        <p:spPr>
          <a:xfrm>
            <a:off x="1005840" y="3136392"/>
            <a:ext cx="7772400" cy="0"/>
          </a:xfrm>
          <a:prstGeom prst="line">
            <a:avLst/>
          </a:prstGeom>
          <a:noFill/>
          <a:ln w="9525">
            <a:solidFill>
              <a:srgbClr val="E3E3E3"/>
            </a:solidFill>
            <a:prstDash val="solid"/>
          </a:ln>
        </p:spPr>
      </p:sp>
      <p:sp>
        <p:nvSpPr>
          <p:cNvPr id="18" name="step 4"/>
          <p:cNvSpPr/>
          <p:nvPr/>
        </p:nvSpPr>
        <p:spPr>
          <a:xfrm>
            <a:off x="457200" y="3255264"/>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16382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faithful are these rules?</a:t>
            </a:r>
            <a:endParaRPr lang="en-US" sz="1250" dirty="0"/>
          </a:p>
        </p:txBody>
      </p:sp>
      <p:sp>
        <p:nvSpPr>
          <p:cNvPr id="21" name="rule answer 4"/>
          <p:cNvSpPr txBox="1"/>
          <p:nvPr/>
        </p:nvSpPr>
        <p:spPr>
          <a:xfrm>
            <a:off x="4389120" y="3163824"/>
            <a:ext cx="4389120" cy="603504"/>
          </a:xfrm>
          <a:prstGeom prst="rect">
            <a:avLst/>
          </a:prstGeom>
          <a:noFill/>
          <a:ln/>
        </p:spPr>
        <p:txBody>
          <a:bodyPr wrap="square" lIns="0" tIns="0" rIns="0" bIns="0" rtlCol="0" anchor="ctr"/>
          <a:lstStyle/>
          <a:p>
            <a:pPr indent="0" marL="0">
              <a:buNone/>
            </a:pPr>
            <a:r>
              <a:rPr lang="en-US" sz="1200" dirty="0">
                <a:solidFill>
                  <a:schemeClr val="tx1"/>
                </a:solidFill>
              </a:rPr>
              <a:t>They reproduce 93% of the forest's decisions on unseen applicants (73% for never flagging, kappa 0.82). Per-applicant risk drivers from the forest give each decline its own reason.</a:t>
            </a:r>
            <a:endParaRPr lang="en-US" sz="1200" dirty="0"/>
          </a:p>
        </p:txBody>
      </p:sp>
      <p:sp>
        <p:nvSpPr>
          <p:cNvPr id="22" name="rule divider 4"/>
          <p:cNvSpPr/>
          <p:nvPr/>
        </p:nvSpPr>
        <p:spPr>
          <a:xfrm>
            <a:off x="1005840" y="3794760"/>
            <a:ext cx="7772400" cy="0"/>
          </a:xfrm>
          <a:prstGeom prst="line">
            <a:avLst/>
          </a:prstGeom>
          <a:noFill/>
          <a:ln w="9525">
            <a:solidFill>
              <a:srgbClr val="E3E3E3"/>
            </a:solidFill>
            <a:prstDash val="solid"/>
          </a:ln>
        </p:spPr>
      </p:sp>
      <p:sp>
        <p:nvSpPr>
          <p:cNvPr id="23" name="step 5"/>
          <p:cNvSpPr/>
          <p:nvPr/>
        </p:nvSpPr>
        <p:spPr>
          <a:xfrm>
            <a:off x="457200" y="3913632"/>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82219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What the rules do not use</a:t>
            </a:r>
            <a:endParaRPr lang="en-US" sz="1250" dirty="0"/>
          </a:p>
        </p:txBody>
      </p:sp>
      <p:sp>
        <p:nvSpPr>
          <p:cNvPr id="26" name="rule answer 5"/>
          <p:cNvSpPr txBox="1"/>
          <p:nvPr/>
        </p:nvSpPr>
        <p:spPr>
          <a:xfrm>
            <a:off x="4389120" y="3822192"/>
            <a:ext cx="4389120" cy="603504"/>
          </a:xfrm>
          <a:prstGeom prst="rect">
            <a:avLst/>
          </a:prstGeom>
          <a:noFill/>
          <a:ln/>
        </p:spPr>
        <p:txBody>
          <a:bodyPr wrap="square" lIns="0" tIns="0" rIns="0" bIns="0" rtlCol="0" anchor="ctr"/>
          <a:lstStyle/>
          <a:p>
            <a:pPr indent="0" marL="0">
              <a:buNone/>
            </a:pPr>
            <a:r>
              <a:rPr lang="en-US" sz="1200" dirty="0">
                <a:solidFill>
                  <a:schemeClr val="tx1"/>
                </a:solidFill>
              </a:rPr>
              <a:t>Loan size, derogatory reports, occupation and loan purpose do not change the surrogate's outcome. They matter only in combination inside the forest.</a:t>
            </a:r>
            <a:endParaRPr lang="en-US" sz="1200" dirty="0"/>
          </a:p>
        </p:txBody>
      </p:sp>
      <p:sp>
        <p:nvSpPr>
          <p:cNvPr id="27" name="tree footnote"/>
          <p:cNvSpPr txBox="1"/>
          <p:nvPr/>
        </p:nvSpPr>
        <p:spPr>
          <a:xfrm>
            <a:off x="457200" y="4462272"/>
            <a:ext cx="8229600" cy="274320"/>
          </a:xfrm>
          <a:prstGeom prst="rect">
            <a:avLst/>
          </a:prstGeom>
          <a:noFill/>
          <a:ln/>
        </p:spPr>
        <p:txBody>
          <a:bodyPr wrap="square" lIns="0" tIns="0" rIns="0" bIns="0" rtlCol="0" anchor="ctr"/>
          <a:lstStyle/>
          <a:p>
            <a:pPr indent="0" marL="0">
              <a:buNone/>
            </a:pPr>
            <a:r>
              <a:rPr lang="en-US" sz="900" dirty="0">
                <a:solidFill>
                  <a:schemeClr val="accent6"/>
                </a:solidFill>
              </a:rPr>
              <a:t>Surrogate: depth-4 tree, at least 20 applicants per leaf, fitted to the forest's out-of-fold flag/clear decisions at threshold 0.15 on the training rows. The stand-alone tuned tree (test recall 82%, precision 53%) found the same drivers.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we did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Duplicates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None found. No rows removed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 0/1 'was missing' flag per column, then median (numeric) or mode (categorical) imputation learned on the training rows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Missingness of debt-to-income and property value is the strongest default signal. Removing rows would lose 44% of the data</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Outliers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Extreme values pull linear models (debt-to-income 203%, credit history 97 years). Trees split on rank order, so extreme values do not distort them</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Encoding and scaling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One-hot encoding of REASON and JOB (drop first). Standard scaling of the continuous inputs for the linear model only, flags left as 0/1</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Comparable coefficients, odds ratios for flags read as the effect of the flag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Split</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70% train / 30% test, stratified on the target, fixed seed, reserved before we fitted any statistic. Identical applicants in both data versions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 leakage from test rows into fences, medians or scaling. Results comparable across models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Imbalance</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Class weights (balanced or 0.2/0.8) inside the individual models, then the decision threshold for the final model. No resampling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Keeps each real applicant. Class weights lifted recall by 23 points for logistic regression and 9 for the forest at the 0.5 threshold. They added nothing once we chose the threshold on cost, so the final forest is unweighted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Model inputs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22 of 27 columns: the 10 attributes, 6 missing flags (VALUE, REASON, JOB, YOJ, DEROG, DEBTINC) and 6 one-hot REASON/JOB indicators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Stage 2 removed five flags (MORTDUE, DELINQ, CLAGE, NINQ, CLNO): smallest set within one standard error of the lowest cost. Stage 3 checked it against all 27</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2026-10-30T06:03:27Z</dcterms:created>
  <dcterms:modified xsi:type="dcterms:W3CDTF">2026-10-30T06:03:27Z</dcterms:modified>
</cp:coreProperties>
</file>