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922af18-7460-52ec-e2f5-8842d22753ab}">
          <p14:sldIdLst>
            <p14:sldId id="256"/>
            <p14:sldId id="257"/>
          </p14:sldIdLst>
        </p14:section>
        <p14:section name="Problem and approach" id="{470d4d38-3160-30fc-ef66-4b6ba58a3557}">
          <p14:sldIdLst>
            <p14:sldId id="258"/>
            <p14:sldId id="259"/>
          </p14:sldIdLst>
        </p14:section>
        <p14:section name="Key insights" id="{99d947e4-360e-897a-752c-5804141b3078}">
          <p14:sldIdLst>
            <p14:sldId id="260"/>
            <p14:sldId id="261"/>
            <p14:sldId id="262"/>
          </p14:sldIdLst>
        </p14:section>
        <p14:section name="Modelling" id="{b99e9f6c-109c-3ca0-34d3-0c7201ae9aab}">
          <p14:sldIdLst>
            <p14:sldId id="263"/>
            <p14:sldId id="264"/>
            <p14:sldId id="265"/>
            <p14:sldId id="266"/>
          </p14:sldIdLst>
        </p14:section>
        <p14:section name="Recommendations" id="{4c47a976-82db-155e-284f-b6ced5cec472}">
          <p14:sldIdLst>
            <p14:sldId id="267"/>
            <p14:sldId id="268"/>
            <p14:sldId id="269"/>
            <p14:sldId id="270"/>
          </p14:sldIdLst>
        </p14:section>
        <p14:section name="Appendix" id="{4755cd83-9f89-c594-0753-28bc657bd757}">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Age of oldest credit line</c:v>
                  </c:pt>
                  <c:pt idx="3">
                    <c:v>Delinquent credit lines</c:v>
                  </c:pt>
                  <c:pt idx="4">
                    <c:v>Property value</c:v>
                  </c:pt>
                  <c:pt idx="5">
                    <c:v>Loan amount</c:v>
                  </c:pt>
                  <c:pt idx="6">
                    <c:v>Number of credit lines</c:v>
                  </c:pt>
                  <c:pt idx="7">
                    <c:v>Mortgage due</c:v>
                  </c:pt>
                  <c:pt idx="8">
                    <c:v>Years at job</c:v>
                  </c:pt>
                  <c:pt idx="9">
                    <c:v>Derogatory reports</c:v>
                  </c:pt>
                  <c:pt idx="10">
                    <c:v>Recent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made no measurable difference once we tune the threshold. We chose the plain forest at a 0.15 threshold. On the test set it catches 93 percent of defaulters, and two thirds of the flagged applicants really would have defaulted. At their own best thresholds the logistic regression and the tree cost 550 and 607 thousand dollars per thousand applicants. The forest costs 317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scores the applicants. A surrogate decision tree fitted to the forest's out-of-fold decisions reproduces ninety-three percent of them and provides the plain-language reasons for every decline. On unseen applicants the forest catches 93 percent of defaulters. On the same applicants,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63 to 15 per thousand applicants on the test set. The price is declining 87 instead of 26 good customers. It is the cheapest operating point for any cost ratio between three and six to one.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1.8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and pilot, then scale. There are two policy rules the bank can adopt immediately, with or without the model. First, set a debt-to-income limit of 45 percent. Second, refer anyone with two or more delinquencies or derogatory reports to an underwriter. We read both thresholds straight from the observed default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present.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among unseen applicants. The proposed Random Forest model catches them.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$1.8M.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Each delinquent line or derogatory report roughly doubles the risk (0 reports: 17%, 1: 39%, 2: 51%, 3+: about 75%). Both are plain-language rules to give an applicant.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On its own it adds little at the usual threshold. But removing it from the final model raises the expected cost of credit errors by about 10%. So it stays, subject to the fair-lending review.</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most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fully grown trees, no class weights: the decision threshold handles the imbalance.</a:t>
            </a:r>
            <a:endParaRPr lang="en-US" sz="1150" dirty="0"/>
          </a:p>
          <a:p>
            <a:pPr marL="177800" indent="-177800">
              <a:spcAft>
                <a:spcPts val="800"/>
              </a:spcAft>
              <a:buSzPct val="100000"/>
              <a:buChar char="•"/>
            </a:pPr>
            <a:r>
              <a:rPr lang="en-US" sz="1150" dirty="0">
                <a:solidFill>
                  <a:schemeClr val="tx1"/>
                </a:solidFill>
              </a:rPr>
              <a:t>Inputs: all 27 (10 financial attributes, 11 missing-value flags, occupation and loan purpose). Fallback without occupation: 21 inputs, about 10% more expected cost.</a:t>
            </a:r>
            <a:endParaRPr lang="en-US" sz="1150" dirty="0"/>
          </a:p>
          <a:p>
            <a:pPr marL="177800" indent="-177800">
              <a:spcAft>
                <a:spcPts val="800"/>
              </a:spcAft>
              <a:buSzPct val="100000"/>
              <a:buChar char="•"/>
            </a:pPr>
            <a:r>
              <a:rPr lang="en-US" sz="1150" dirty="0">
                <a:solidFill>
                  <a:schemeClr val="tx1"/>
                </a:solidFill>
              </a:rPr>
              <a:t>We chose decision threshold 0.15 together with the configuration to minimise expected cost on repeated out-of-fold predictions of the training rows. It holds for cost ratios 3:1 to 6:1 and across train/test splits. Approve / refer / decline bands (about 69% / 7% / 24% of applicants) keep an underwriter in the loop.</a:t>
            </a:r>
            <a:endParaRPr lang="en-US" sz="1150" dirty="0"/>
          </a:p>
          <a:p>
            <a:pPr marL="177800" indent="-177800">
              <a:spcAft>
                <a:spcPts val="800"/>
              </a:spcAft>
              <a:buSzPct val="100000"/>
              <a:buChar char="•"/>
            </a:pPr>
            <a:r>
              <a:rPr lang="en-US" sz="1150" dirty="0">
                <a:solidFill>
                  <a:schemeClr val="tx1"/>
                </a:solidFill>
              </a:rPr>
              <a:t>Explanation layer: a depth-4 surrogate tree fitted to the forest's out-of-fold decisions reproduces 93% of them. Its rules (ratio missing, ratio above 44%, a delinquent line together with a derogatory report) supply the ECOA adverse-action reasons.</a:t>
            </a:r>
            <a:endParaRPr lang="en-US" sz="1150" dirty="0"/>
          </a:p>
          <a:p>
            <a:pPr marL="177800" indent="-177800">
              <a:spcAft>
                <a:spcPts val="800"/>
              </a:spcAft>
              <a:buSzPct val="100000"/>
              <a:buChar char="•"/>
            </a:pPr>
            <a:r>
              <a:rPr lang="en-US" sz="1150" dirty="0">
                <a:solidFill>
                  <a:schemeClr val="tx1"/>
                </a:solidFill>
              </a:rPr>
              <a:t>We scored the reserved test set only once, after all choices.</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185 of 200 defaulters flagged in advance, 15 missed, 87 good customers referred or declined.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declined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declined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where we chose the threshold. Cards: test set, per 1,000 applicants. Cost assumes $9,000 per missed defaulter and $2,000 per wrongly declined customer. The optimum stays at 0.15 for cost ratios from 3:1 to 6:1, on a finer grid and on other train/test splits. It sits just below the textbook break-even (0.18) because the scores understate risk.</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$8.9M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Repays its cost within year one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Re-train once verified ratios arrive.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Monitor monthly: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Hard rules take precedence over the score.</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on the verified population before go-live. On applicants with a recorded ratio the model already catches 83% at 80% precision.</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10% more cost).</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SHAP-style reason codes per applicant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(the default forest with its threshold moved) and its threshold on repeated out-of-fold expected cost (training rows only). We fixed the rule beforehand: lowest mean cost, simplest set-up among those within one standard error (about $10,500). Mean out-of-fold ROC-AUC 0.961 against 0.963 on test.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removing them raised out-of-fold expected cost by about a fifth, and removing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The forest's own top risk drivers explain the remaining 7%.</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outcome in the surrogate. They matter only in combination inside the forest, which supplies the per-applicant reason codes.</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Surrogate: depth-4 tree, minimum 20 applicants per leaf, fitted to the forest's out-of-fold flag/clear decisions at threshold 0.15 on the training rows. It agrees with the forest on 93% of test decisions (73% for a rule that never flags).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and keep the 'above 50% always defaults' signal</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made no measurable difference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Office/Other/ProfExe/Sales/Self)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The notebook's final-pipeline cell names every input to the final model,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2026-10-26T02:21:04Z</dcterms:created>
  <dcterms:modified xsi:type="dcterms:W3CDTF">2026-10-26T02:21:04Z</dcterms:modified>
</cp:coreProperties>
</file>