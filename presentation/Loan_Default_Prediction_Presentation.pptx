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f32e46-5cce-d3e0-1a47-1e9b4d1efeea}">
          <p14:sldIdLst>
            <p14:sldId id="256"/>
            <p14:sldId id="257"/>
          </p14:sldIdLst>
        </p14:section>
        <p14:section name="Problem and approach" id="{9d38b4db-6c16-6d52-c047-ea45597019ed}">
          <p14:sldIdLst>
            <p14:sldId id="258"/>
            <p14:sldId id="259"/>
          </p14:sldIdLst>
        </p14:section>
        <p14:section name="Key insights" id="{d688c42a-1a10-07e5-d541-edfb80ce9baf}">
          <p14:sldIdLst>
            <p14:sldId id="260"/>
            <p14:sldId id="261"/>
            <p14:sldId id="262"/>
          </p14:sldIdLst>
        </p14:section>
        <p14:section name="Modelling" id="{bbe3d4e1-4dfa-02e6-e325-602865790267}">
          <p14:sldIdLst>
            <p14:sldId id="263"/>
            <p14:sldId id="264"/>
            <p14:sldId id="265"/>
            <p14:sldId id="266"/>
          </p14:sldIdLst>
        </p14:section>
        <p14:section name="Recommendations" id="{21924011-da29-d5e4-21b5-4fa2a1e783a6}">
          <p14:sldIdLst>
            <p14:sldId id="267"/>
            <p14:sldId id="268"/>
            <p14:sldId id="269"/>
            <p14:sldId id="270"/>
          </p14:sldIdLst>
        </p14:section>
        <p14:section name="Appendix" id="{4c3f13bf-1fec-2ba4-4d08-2a8210c80d34}">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0.25</c:v>
                  </c:pt>
                </c:lvl>
              </c:multiLvlStrCache>
            </c:multiLvlStrRef>
          </c:cat>
          <c:val>
            <c:numRef>
              <c:f>Sheet1!$C$2:$C$7</c:f>
              <c:numCache>
                <c:formatCode>General</c:formatCode>
                <c:ptCount val="6"/>
                <c:pt idx="0">
                  <c:v>60.8</c:v>
                </c:pt>
                <c:pt idx="1">
                  <c:v>53.1</c:v>
                </c:pt>
                <c:pt idx="2">
                  <c:v>82.7</c:v>
                </c:pt>
                <c:pt idx="3">
                  <c:v>84.2</c:v>
                </c:pt>
                <c:pt idx="4">
                  <c:v>76.9</c:v>
                </c:pt>
                <c:pt idx="5">
                  <c:v>66.9</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Class-weighted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Sheet1!$B$2:$B$12</c:f>
              <c:numCache>
                <c:formatCode>General</c:formatCode>
                <c:ptCount val="11"/>
                <c:pt idx="0">
                  <c:v>95.6</c:v>
                </c:pt>
                <c:pt idx="1">
                  <c:v>93.5</c:v>
                </c:pt>
                <c:pt idx="2">
                  <c:v>90.3</c:v>
                </c:pt>
                <c:pt idx="3">
                  <c:v>87.6</c:v>
                </c:pt>
                <c:pt idx="4">
                  <c:v>84.7</c:v>
                </c:pt>
                <c:pt idx="5">
                  <c:v>82.6</c:v>
                </c:pt>
                <c:pt idx="6">
                  <c:v>80.2</c:v>
                </c:pt>
                <c:pt idx="7">
                  <c:v>76.7</c:v>
                </c:pt>
                <c:pt idx="8">
                  <c:v>72.1</c:v>
                </c:pt>
                <c:pt idx="9">
                  <c:v>68</c:v>
                </c:pt>
                <c:pt idx="10">
                  <c:v>62.3</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Sheet1!$A$2:$A$12</c:f>
              <c:multiLvlStrCache>
                <c:ptCount val="11"/>
                <c:lvl>
                  <c:pt idx="0">
                    <c:v>0.20</c:v>
                  </c:pt>
                  <c:pt idx="1">
                    <c:v>0.25</c:v>
                  </c:pt>
                  <c:pt idx="2">
                    <c:v>0.30</c:v>
                  </c:pt>
                  <c:pt idx="3">
                    <c:v>0.35</c:v>
                  </c:pt>
                  <c:pt idx="4">
                    <c:v>0.40</c:v>
                  </c:pt>
                  <c:pt idx="5">
                    <c:v>0.45</c:v>
                  </c:pt>
                  <c:pt idx="6">
                    <c:v>0.50</c:v>
                  </c:pt>
                  <c:pt idx="7">
                    <c:v>0.55</c:v>
                  </c:pt>
                  <c:pt idx="8">
                    <c:v>0.60</c:v>
                  </c:pt>
                  <c:pt idx="9">
                    <c:v>0.65</c:v>
                  </c:pt>
                  <c:pt idx="10">
                    <c:v>0.70</c:v>
                  </c:pt>
                </c:lvl>
              </c:multiLvlStrCache>
            </c:multiLvlStrRef>
          </c:cat>
          <c:val>
            <c:numRef>
              <c:f>Sheet1!$C$2:$C$12</c:f>
              <c:numCache>
                <c:formatCode>General</c:formatCode>
                <c:ptCount val="11"/>
                <c:pt idx="0">
                  <c:v>60.3</c:v>
                </c:pt>
                <c:pt idx="1">
                  <c:v>65.2</c:v>
                </c:pt>
                <c:pt idx="2">
                  <c:v>67.8</c:v>
                </c:pt>
                <c:pt idx="3">
                  <c:v>69.9</c:v>
                </c:pt>
                <c:pt idx="4">
                  <c:v>71.5</c:v>
                </c:pt>
                <c:pt idx="5">
                  <c:v>73.3</c:v>
                </c:pt>
                <c:pt idx="6">
                  <c:v>75.9</c:v>
                </c:pt>
                <c:pt idx="7">
                  <c:v>78.2</c:v>
                </c:pt>
                <c:pt idx="8">
                  <c:v>80.9</c:v>
                </c:pt>
                <c:pt idx="9">
                  <c:v>83.2</c:v>
                </c:pt>
                <c:pt idx="10">
                  <c:v>84.5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5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Age of oldest credit line</c:v>
                  </c:pt>
                  <c:pt idx="3">
                    <c:v>Delinquent credit lines</c:v>
                  </c:pt>
                  <c:pt idx="4">
                    <c:v>Property value</c:v>
                  </c:pt>
                  <c:pt idx="5">
                    <c:v>Loan amount</c:v>
                  </c:pt>
                  <c:pt idx="6">
                    <c:v>Mortgage due</c:v>
                  </c:pt>
                  <c:pt idx="7">
                    <c:v>Number of credit lines</c:v>
                  </c:pt>
                  <c:pt idx="8">
                    <c:v>Years at job</c:v>
                  </c:pt>
                  <c:pt idx="9">
                    <c:v>Derogatory reports</c:v>
                  </c:pt>
                  <c:pt idx="10">
                    <c:v>Recent inquiries</c:v>
                  </c:pt>
                  <c:pt idx="11">
                    <c:v>Property value missing</c:v>
                  </c:pt>
                </c:lvl>
              </c:multiLvlStrCache>
            </c:multiLvlStrRef>
          </c:cat>
          <c:val>
            <c:numRef>
              <c:f>Sheet1!$B$2:$B$13</c:f>
              <c:numCache>
                <c:formatCode>General</c:formatCode>
                <c:ptCount val="12"/>
                <c:pt idx="0">
                  <c:v>18.7</c:v>
                </c:pt>
                <c:pt idx="1">
                  <c:v>17.8</c:v>
                </c:pt>
                <c:pt idx="2">
                  <c:v>8.4</c:v>
                </c:pt>
                <c:pt idx="3">
                  <c:v>7.2</c:v>
                </c:pt>
                <c:pt idx="4">
                  <c:v>6.8</c:v>
                </c:pt>
                <c:pt idx="5">
                  <c:v>6.4</c:v>
                </c:pt>
                <c:pt idx="6">
                  <c:v>6.2</c:v>
                </c:pt>
                <c:pt idx="7">
                  <c:v>5.9</c:v>
                </c:pt>
                <c:pt idx="8">
                  <c:v>5.1</c:v>
                </c:pt>
                <c:pt idx="9">
                  <c:v>3.7</c:v>
                </c:pt>
                <c:pt idx="10">
                  <c:v>3.1</c:v>
                </c:pt>
                <c:pt idx="11">
                  <c:v>1.9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its home-equity loan losses by more than three quarters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at the usual threshold removing it changes performance by about a point, and the fair-lending review decides whether it stays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model variants were built; these six tell the story. The forest with class weights has the best balance and ranks applicants among the best. It was selected, together with its threshold, on out-of-fold expected cost using training data only; on the test set it then catches 93 percent of defaulters while two thirds of the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surrogate decision tree fitted to the forest's own decisions, which reproduces ninety percent of them, provides the plain-language reasons for every decline. On unseen applicants the forest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The cut-off was chosen on out-of-fold predictions of the training data, so the test set played no part. Moving it to 0.25 cuts missed defaulters from 45 to 15 per thousand applicants on the test set, at the price of declining 92 instead of 46 good customers. It is the cheapest operating point for any cost ratio between three and six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1.9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hard look at anyone with two or more delinquencies or derogatory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on unseen applicants,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$1.9M.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Hold out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Each delinquent line or derogatory report roughly doubles the risk (0 reports: 17%, 1: 39%, 2: 51%, 3+: about 73%).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on its own it adds little once financial behaviour is known, and it stays in the model only subject to the fair-lending review.</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$18,600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Individual models are tuned by cross-validated grid search on recall; the final model and its threshold are chosen on out-of-fold expected cost, training data only; the held-out 30% is scored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catches 77% at 77% precision with a ROC-AUC of 0.96: among the best at ranking applicants by risk.</a:t>
            </a:r>
            <a:endParaRPr lang="en-US" sz="1200" dirty="0"/>
          </a:p>
          <a:p>
            <a:pPr marL="177800" indent="-177800">
              <a:spcAft>
                <a:spcPts val="800"/>
              </a:spcAft>
              <a:buSzPct val="100000"/>
              <a:buChar char="•"/>
            </a:pPr>
            <a:r>
              <a:rPr lang="en-US" sz="1200" dirty="0">
                <a:solidFill>
                  <a:schemeClr val="tx1"/>
                </a:solidFill>
              </a:rPr>
              <a:t>Chosen on out-of-fold expected cost (training data only), with its threshold moved to 0.25, it catches 93% at 67% precision on the test set: the lowest cost of any option.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with a Decision Tree explanation layer</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trees, class weights 0.2 (repaid) / 0.8 (default).</a:t>
            </a:r>
            <a:endParaRPr lang="en-US" sz="1150" dirty="0"/>
          </a:p>
          <a:p>
            <a:pPr marL="177800" indent="-177800">
              <a:spcAft>
                <a:spcPts val="800"/>
              </a:spcAft>
              <a:buSzPct val="100000"/>
              <a:buChar char="•"/>
            </a:pPr>
            <a:r>
              <a:rPr lang="en-US" sz="1150" dirty="0">
                <a:solidFill>
                  <a:schemeClr val="tx1"/>
                </a:solidFill>
              </a:rPr>
              <a:t>Inputs: all 27 (10 financial attributes, 11 missing-value flags, occupation and loan purpose). Fallback without occupation and purpose: 12 inputs, about a sixth more credit-error cost.</a:t>
            </a:r>
            <a:endParaRPr lang="en-US" sz="1150" dirty="0"/>
          </a:p>
          <a:p>
            <a:pPr marL="177800" indent="-177800">
              <a:spcAft>
                <a:spcPts val="800"/>
              </a:spcAft>
              <a:buSzPct val="100000"/>
              <a:buChar char="•"/>
            </a:pPr>
            <a:r>
              <a:rPr lang="en-US" sz="1150" dirty="0">
                <a:solidFill>
                  <a:schemeClr val="tx1"/>
                </a:solidFill>
              </a:rPr>
              <a:t>Decision threshold 0.25, chosen by minimising expected cost on out-of-fold predictions of the training rows (stable for cost ratios 3:1 to 6:1); approve / refer / decline bands keep an underwriter in the loop.</a:t>
            </a:r>
            <a:endParaRPr lang="en-US" sz="1150" dirty="0"/>
          </a:p>
          <a:p>
            <a:pPr marL="177800" indent="-177800">
              <a:spcAft>
                <a:spcPts val="800"/>
              </a:spcAft>
              <a:buSzPct val="100000"/>
              <a:buChar char="•"/>
            </a:pPr>
            <a:r>
              <a:rPr lang="en-US" sz="1150" dirty="0">
                <a:solidFill>
                  <a:schemeClr val="tx1"/>
                </a:solidFill>
              </a:rPr>
              <a:t>Explanation layer: a depth-4 surrogate tree fitted to the forest's own decisions reproduces 90% of them; its rules (ratio missing or above 44%, delinquent lines, credit-history length, loan size, job tenure) supply the ECOA adverse-action reasons.</a:t>
            </a:r>
            <a:endParaRPr lang="en-US" sz="1150" dirty="0"/>
          </a:p>
          <a:p>
            <a:pPr marL="177800" indent="-177800">
              <a:spcAft>
                <a:spcPts val="800"/>
              </a:spcAft>
              <a:buSzPct val="100000"/>
              <a:buChar char="•"/>
            </a:pPr>
            <a:r>
              <a:rPr lang="en-US" sz="1150" dirty="0">
                <a:solidFill>
                  <a:schemeClr val="tx1"/>
                </a:solidFill>
              </a:rPr>
              <a:t>Test set held out before any pre-processing; scored once, after all choices were made on training data.</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about 185 of 200 defaulters flagged in advance, 15 missed, 92 good customers referred or declined.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0.25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45 missed defaulters</a:t>
            </a:r>
            <a:endParaRPr lang="en-US" sz="1200" dirty="0"/>
          </a:p>
          <a:p>
            <a:pPr marL="177800" indent="-177800">
              <a:spcAft>
                <a:spcPts val="800"/>
              </a:spcAft>
              <a:buSzPct val="100000"/>
              <a:buChar char="•"/>
            </a:pPr>
            <a:r>
              <a:rPr lang="en-US" sz="1200" dirty="0">
                <a:solidFill>
                  <a:schemeClr val="tx1"/>
                </a:solidFill>
              </a:rPr>
              <a:t>46 good customers declined</a:t>
            </a:r>
            <a:endParaRPr lang="en-US" sz="1200" dirty="0"/>
          </a:p>
          <a:p>
            <a:pPr marL="177800" indent="-177800">
              <a:spcAft>
                <a:spcPts val="800"/>
              </a:spcAft>
              <a:buSzPct val="100000"/>
              <a:buChar char="•"/>
            </a:pPr>
            <a:r>
              <a:rPr lang="en-US" sz="1200" dirty="0">
                <a:solidFill>
                  <a:schemeClr val="tx1"/>
                </a:solidFill>
              </a:rPr>
              <a:t>$501k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0.25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92 good customers declined</a:t>
            </a:r>
            <a:endParaRPr lang="en-US" sz="1200" dirty="0"/>
          </a:p>
          <a:p>
            <a:pPr marL="177800" indent="-177800">
              <a:spcAft>
                <a:spcPts val="800"/>
              </a:spcAft>
              <a:buSzPct val="100000"/>
              <a:buChar char="•"/>
            </a:pPr>
            <a:r>
              <a:rPr lang="en-US" sz="1200" dirty="0">
                <a:solidFill>
                  <a:schemeClr val="tx1"/>
                </a:solidFill>
              </a:rPr>
              <a:t>$314k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which is where the threshold was chosen. Cards: test set, per 1,000 applicants; cost assumes $9,000 per missed defaulter and $2,000 per wrongly declined customer. The optimum stays at 0.25 for cost ratios from 3:1 to 6:1.</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550,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$8.8M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Calibrate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Compare outcomes,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when the debt-to-income ratio is above 45%, when there are two or more delinquent credit lines, or two or more major derogatory reports.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after the rule is in place.</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disparate-impact testing before launch and annually; a 12-input fallback without occupation and loan purpose is ready if required.</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0.25 means a 25%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class weights, 27 inputs, threshold 0.25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data. The proposed model and its threshold were selected on out-of-fold expected cost (training rows only); its out-of-fold ROC-AUC was 0.959, the same as on test.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The debt-to-income ratio and its missing flag carry more than a third (36%) of the final forest's decision power; with delinquent lines and credit-history length, about half.</a:t>
            </a:r>
            <a:endParaRPr lang="en-US" sz="1200" dirty="0"/>
          </a:p>
          <a:p>
            <a:pPr marL="177800" indent="-177800">
              <a:spcAft>
                <a:spcPts val="800"/>
              </a:spcAft>
              <a:buSzPct val="100000"/>
              <a:buChar char="•"/>
            </a:pPr>
            <a:r>
              <a:rPr lang="en-US" sz="1200" dirty="0">
                <a:solidFill>
                  <a:schemeClr val="tx1"/>
                </a:solidFill>
              </a:rPr>
              <a:t>Permutation importance (drop in ranking quality when a column is shuffled) ranks the same four at the top, with delinquent credit lines first.</a:t>
            </a:r>
            <a:endParaRPr lang="en-US" sz="1200" dirty="0"/>
          </a:p>
          <a:p>
            <a:pPr marL="177800" indent="-177800">
              <a:spcAft>
                <a:spcPts val="800"/>
              </a:spcAft>
              <a:buSzPct val="100000"/>
              <a:buChar char="•"/>
            </a:pPr>
            <a:r>
              <a:rPr lang="en-US" sz="1200" dirty="0">
                <a:solidFill>
                  <a:schemeClr val="tx1"/>
                </a:solidFill>
              </a:rPr>
              <a:t>Loan, property and mortgage amounts matter in combination but are weak on their own.</a:t>
            </a:r>
            <a:endParaRPr lang="en-US" sz="1200" dirty="0"/>
          </a:p>
          <a:p>
            <a:pPr marL="177800" indent="-177800">
              <a:spcAft>
                <a:spcPts val="800"/>
              </a:spcAft>
              <a:buSzPct val="100000"/>
              <a:buChar char="•"/>
            </a:pPr>
            <a:r>
              <a:rPr lang="en-US" sz="1200" dirty="0">
                <a:solidFill>
                  <a:schemeClr val="tx1"/>
                </a:solidFill>
              </a:rPr>
              <a:t>Occupation, loan-purpose and minor missing flags matter little individually, yet dropping them raised out-of-fold expected cost by about a sixth, so they stay subject to the fair-lending review.</a:t>
            </a:r>
            <a:endParaRPr lang="en-US" sz="1200" dirty="0"/>
          </a:p>
          <a:p>
            <a:pPr marL="177800" indent="-177800">
              <a:spcAft>
                <a:spcPts val="800"/>
              </a:spcAft>
              <a:buSzPct val="100000"/>
              <a:buChar char="•"/>
            </a:pPr>
            <a:r>
              <a:rPr lang="en-US" sz="1200" dirty="0">
                <a:solidFill>
                  <a:schemeClr val="tx1"/>
                </a:solidFill>
              </a:rPr>
              <a:t>Logistic-regression coefficients, the decision-tree rules and the surrogate tree point to the same drivers, so the signal is stable across techniques.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high-risk branch (62% of these applicants defaulted). Verify income or decline; short credit history or any delinquency in this branch means flag.</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about three in four defaulted (87-100% above 45%). Flag unless the credit history is very long (over about 17 years).</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many delinquent credit lines?</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Two or more with a modest mortgage balance: flag. None: only about 4-5% default, the safest group.</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long is the credit history, how many years at the job?</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Under about 15 years of history or under about 3 years in the job tilts a borderline case towards flag.</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Loan size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Small loans with an unverified ratio are flagged; the loan amount refines borderline cases.</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Surrogate: depth-4 tree, minimum 20 applicants per leaf, fitted to the forest's flag/clear decisions at threshold 0.25 on the training rows; it agrees with the forest on 90% of test decisions.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Step</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What was done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Why</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Duplicates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None found; no rows dropped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Outliers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Encoding and scaling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Split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70% train / 30% test, stratified on the target, fixed seed, held out before any statistic was fitted; identical applicants in both data versions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Imbalance</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Class weights (balanced or 0.2/0.8) inside the models rather than resampling</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1F1F1F"/>
                          </a:solidFill>
                          <a:latin typeface="Calibri" pitchFamily="34" charset="0"/>
                          <a:ea typeface="Calibri" pitchFamily="34" charset="-122"/>
                          <a:cs typeface="Calibri" pitchFamily="34" charset="-120"/>
                        </a:rPr>
                        <a:t>Keeps every real applicant; lifted recall by 23 points for logistic regression and 9 for the forest</a:t>
                      </a:r>
                      <a:endParaRPr lang="en-US" sz="1050" dirty="0">
                        <a:latin typeface="Calibri" charset="0"/>
                        <a:ea typeface="Calibri" charset="0"/>
                        <a:cs typeface="Calibri" charset="0"/>
                      </a:endParaRPr>
                    </a:p>
                  </a:txBody>
                  <a:tcPr marL="45720" marR="4572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2026-10-25T19:50:29Z</dcterms:created>
  <dcterms:modified xsi:type="dcterms:W3CDTF">2026-10-25T19:50:29Z</dcterms:modified>
</cp:coreProperties>
</file>