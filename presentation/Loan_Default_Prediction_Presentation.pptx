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4872b7-6347-1176-c108-1a6c5df5e5e9}">
          <p14:sldIdLst>
            <p14:sldId id="256"/>
            <p14:sldId id="257"/>
          </p14:sldIdLst>
        </p14:section>
        <p14:section name="Problem and approach" id="{3c3469b8-a23c-0f4f-30d4-ca2009c7e98d}">
          <p14:sldIdLst>
            <p14:sldId id="258"/>
            <p14:sldId id="259"/>
          </p14:sldIdLst>
        </p14:section>
        <p14:section name="Key insights" id="{29298f19-d98a-9751-ef4e-5137f4b61733}">
          <p14:sldIdLst>
            <p14:sldId id="260"/>
            <p14:sldId id="261"/>
            <p14:sldId id="262"/>
          </p14:sldIdLst>
        </p14:section>
        <p14:section name="Modelling" id="{7d01b399-d63f-6834-28b7-33db6f38b6ed}">
          <p14:sldIdLst>
            <p14:sldId id="263"/>
            <p14:sldId id="264"/>
            <p14:sldId id="265"/>
            <p14:sldId id="266"/>
          </p14:sldIdLst>
        </p14:section>
        <p14:section name="Recommendations" id="{1a560e43-1db7-195c-1d4f-f33ca76b414f}">
          <p14:sldIdLst>
            <p14:sldId id="267"/>
            <p14:sldId id="268"/>
            <p14:sldId id="269"/>
            <p14:sldId id="270"/>
          </p14:sldIdLst>
        </p14:section>
        <p14:section name="Appendix" id="{ad62cb44-cad2-0677-bb70-513f158d669f}">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84.2</c:v>
                </c:pt>
                <c:pt idx="4">
                  <c:v>76.9</c:v>
                </c:pt>
                <c:pt idx="5">
                  <c:v>68.1</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98.6</c:v>
                </c:pt>
                <c:pt idx="1">
                  <c:v>96.4</c:v>
                </c:pt>
                <c:pt idx="2">
                  <c:v>93.7</c:v>
                </c:pt>
                <c:pt idx="3">
                  <c:v>90.4</c:v>
                </c:pt>
                <c:pt idx="4">
                  <c:v>87.1</c:v>
                </c:pt>
                <c:pt idx="5">
                  <c:v>83.9</c:v>
                </c:pt>
                <c:pt idx="6">
                  <c:v>80.8</c:v>
                </c:pt>
                <c:pt idx="7">
                  <c:v>78.4</c:v>
                </c:pt>
                <c:pt idx="8">
                  <c:v>75.1</c:v>
                </c:pt>
                <c:pt idx="9">
                  <c:v>71.4</c:v>
                </c:pt>
                <c:pt idx="10">
                  <c:v>67.2</c:v>
                </c:pt>
                <c:pt idx="11">
                  <c:v>62</c:v>
                </c:pt>
                <c:pt idx="12">
                  <c:v>55.3</c:v>
                </c:pt>
                <c:pt idx="13">
                  <c:v>47.4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44.6</c:v>
                </c:pt>
                <c:pt idx="1">
                  <c:v>57.1</c:v>
                </c:pt>
                <c:pt idx="2">
                  <c:v>64.7</c:v>
                </c:pt>
                <c:pt idx="3">
                  <c:v>68.5</c:v>
                </c:pt>
                <c:pt idx="4">
                  <c:v>71.1</c:v>
                </c:pt>
                <c:pt idx="5">
                  <c:v>73.6</c:v>
                </c:pt>
                <c:pt idx="6">
                  <c:v>75.5</c:v>
                </c:pt>
                <c:pt idx="7">
                  <c:v>78.1</c:v>
                </c:pt>
                <c:pt idx="8">
                  <c:v>80.2</c:v>
                </c:pt>
                <c:pt idx="9">
                  <c:v>82.5</c:v>
                </c:pt>
                <c:pt idx="10">
                  <c:v>85.6</c:v>
                </c:pt>
                <c:pt idx="11">
                  <c:v>87.6</c:v>
                </c:pt>
                <c:pt idx="12">
                  <c:v>89.2</c:v>
                </c:pt>
                <c:pt idx="13">
                  <c:v>91.5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18.6</c:v>
                </c:pt>
                <c:pt idx="1">
                  <c:v>14</c:v>
                </c:pt>
                <c:pt idx="2">
                  <c:v>8.6</c:v>
                </c:pt>
                <c:pt idx="3">
                  <c:v>8</c:v>
                </c:pt>
                <c:pt idx="4">
                  <c:v>6.9</c:v>
                </c:pt>
                <c:pt idx="5">
                  <c:v>6.7</c:v>
                </c:pt>
                <c:pt idx="6">
                  <c:v>6.4</c:v>
                </c:pt>
                <c:pt idx="7">
                  <c:v>6.4</c:v>
                </c:pt>
                <c:pt idx="8">
                  <c:v>5.1</c:v>
                </c:pt>
                <c:pt idx="9">
                  <c:v>4.4</c:v>
                </c:pt>
                <c:pt idx="10">
                  <c:v>3.4</c:v>
                </c:pt>
                <c:pt idx="11">
                  <c:v>2.6</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the default-related cost of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10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tune the threshold. We chose the plain forest at a 0.15 threshold. On the test set it catches 93 percent of defaulters, and two thirds of the flagged applicants really defaulted. At their own best thresholds the logistic regression and the tree cost 550 and 607 thousand dollars per thousand applicants. The forest costs 317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scores the applicants. A surrogate decision tree fitted to the forest's out-of-fold decisions reproduces ninety-three percent of them and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63 to 15 per thousand applicants on the test set. The price is flagging 87 instead of 26 good customers. It is the cheapest operating point for any cost ratio between three and six to one. It held on a finer grid and on other train/test splits. It sits just below the textbook break-even of 0.18 for a perfectly calibrated score, because the forest's scores understate risk in the decision range. Applicants scored fifteen to twenty percent defaulted about twenty-three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default-related cost falls from about 10.8 million to about 1.8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The mean out-of-fold ROC-AUC of the proposed model is 0.961, against 0.963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default-related cost down to about $1.8M.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10%.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most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Three forests tied. The plain forest at 0.15 catches 93% at 68%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all 27 (10 attributes, 11 missing-value flags, occupation and loan purpose). Fallback without occupation: 21 inputs, about 10%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3:1 to 6:1 and across splits.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out-of-fold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8%"/>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68%</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87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63 missed defaulters</a:t>
            </a:r>
            <a:endParaRPr lang="en-US" sz="1200" dirty="0"/>
          </a:p>
          <a:p>
            <a:pPr marL="177800" indent="-177800">
              <a:spcAft>
                <a:spcPts val="800"/>
              </a:spcAft>
              <a:buSzPct val="100000"/>
              <a:buChar char="•"/>
            </a:pPr>
            <a:r>
              <a:rPr lang="en-US" sz="1200" dirty="0">
                <a:solidFill>
                  <a:schemeClr val="tx1"/>
                </a:solidFill>
              </a:rPr>
              <a:t>26 good customers flagged</a:t>
            </a:r>
            <a:endParaRPr lang="en-US" sz="1200" dirty="0"/>
          </a:p>
          <a:p>
            <a:pPr marL="177800" indent="-177800">
              <a:spcAft>
                <a:spcPts val="800"/>
              </a:spcAft>
              <a:buSzPct val="100000"/>
              <a:buChar char="•"/>
            </a:pPr>
            <a:r>
              <a:rPr lang="en-US" sz="1200" dirty="0">
                <a:solidFill>
                  <a:schemeClr val="tx1"/>
                </a:solidFill>
              </a:rPr>
              <a:t>$615k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87 good customers flagged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3:1 to 6:1 and on other splits.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520, margin forgone about $1.0M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$8.9M after running costs, $8.5M in year one</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the model on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Monitor monthly: recall, precision, approval rate, missing fields</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the model on applicants with a recorded ratio (83% caught at 80%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10%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(built in months 0-2),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27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removing them raised out-of-fold expected cost by about a fifth, and removing occupation alone by about 10%.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together with a major derogatory report?</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credit-history length,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and keep the 'above 50% always defaults' signal</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27 columns: the 10 attributes, 11 missing flags and 6 one-hot indicators (REASON HomeImp, JOB Office/Other/ProfExe/Sales/Self)</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The notebook's final-pipeline cell names every input to the final model, with the imputation values and model settings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2026-10-29T00:10:50Z</dcterms:created>
  <dcterms:modified xsi:type="dcterms:W3CDTF">2026-10-29T00:10:50Z</dcterms:modified>
</cp:coreProperties>
</file>