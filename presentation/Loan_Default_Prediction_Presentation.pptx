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3d3f0e-b45f-31bc-534b-45cb677e9f0c}">
          <p14:sldIdLst>
            <p14:sldId id="256"/>
            <p14:sldId id="257"/>
          </p14:sldIdLst>
        </p14:section>
        <p14:section name="Problem and approach" id="{71200826-a01d-df3a-8a22-21288be01514}">
          <p14:sldIdLst>
            <p14:sldId id="258"/>
            <p14:sldId id="259"/>
          </p14:sldIdLst>
        </p14:section>
        <p14:section name="Key insights" id="{f19c877a-acc0-e72a-31ab-e6488938562c}">
          <p14:sldIdLst>
            <p14:sldId id="260"/>
            <p14:sldId id="261"/>
            <p14:sldId id="262"/>
          </p14:sldIdLst>
        </p14:section>
        <p14:section name="Modelling" id="{61d367d4-085f-db42-cff0-c0f9ba0b7ae6}">
          <p14:sldIdLst>
            <p14:sldId id="263"/>
            <p14:sldId id="264"/>
            <p14:sldId id="265"/>
            <p14:sldId id="266"/>
          </p14:sldIdLst>
        </p14:section>
        <p14:section name="Recommendations" id="{58f6ba84-b8b6-def5-64c8-46ee0e7bc70f}">
          <p14:sldIdLst>
            <p14:sldId id="267"/>
            <p14:sldId id="268"/>
            <p14:sldId id="269"/>
            <p14:sldId id="270"/>
          </p14:sldIdLst>
        </p14:section>
        <p14:section name="Appendix" id="{d280a697-0b7b-9871-a73c-4e8258fb681c}">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Age of oldest credit line</c:v>
                  </c:pt>
                  <c:pt idx="3">
                    <c:v>Delinquent credit lines</c:v>
                  </c:pt>
                  <c:pt idx="4">
                    <c:v>Property value</c:v>
                  </c:pt>
                  <c:pt idx="5">
                    <c:v>Loan amount</c:v>
                  </c:pt>
                  <c:pt idx="6">
                    <c:v>Number of credit lines</c:v>
                  </c:pt>
                  <c:pt idx="7">
                    <c:v>Mortgage due</c:v>
                  </c:pt>
                  <c:pt idx="8">
                    <c:v>Years at job</c:v>
                  </c:pt>
                  <c:pt idx="9">
                    <c:v>Derogatory reports</c:v>
                  </c:pt>
                  <c:pt idx="10">
                    <c:v>Recent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home-equity loans it approves today by about four fifths with a model it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goes bad. The biggest red flag is income the bank could not verify.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losses come from defaulters, and the current manual process is slow and inconsistent. The data is 5,960 recent home equity loans with 12 attributes and a 20 percent default rate. Almost half the applications have at least one blank field, which turns out to matter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and turn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and the fair-lending review decides whether it stays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model variants were built; these six tell the story. At the usual cut-off the forest with class weights has the best balance and ranks applicants among the best. The final configuration and its threshold were then selected together on repeated out-of-fold expected cost using training data only. The rule was fixed beforehand: lowest average cost of mistakes, and the simplest set-up when several are within run-to-run noise. Three forests tied within that noise, so class weights made no measurable difference once the cut-off is tuned, and the plain forest at a 0.15 cut-off was chosen; on the test set it catches 93 percent of defaulters while two thirds of the flagged applicants really would have defaulted. At their own best cut-offs the logistic regression and the tree cost 550 and 607 thousand dollars per thousand applicants against 317 thousand for the forest, so the forest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does the scoring; a surrogate decision tree fitted to the forest's out-of-fold decisions, which reproduces ninety-three percent of them, provides the plain-language reasons for every decline. On unseen applicants the forest catches 93 percent of defaulters and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The cut-off was chosen on out-of-fold predictions of the training data, so the test set played no part. Moving it to 0.15 cuts missed defaulters from 63 to 15 per thousand applicants on the test set, at the price of declining 87 instead of 26 good customers. It is the cheapest operating point for any cost ratio between three and six to one, and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with round-number assumptions, the bank's default-related cost falls from about 10.8 million to about 1.8 million a year on 6,000 applications. Even if the real benefit were a quarter of that, the project pays back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in three phases: prepare, shadow and pilot, then scale. And two policy rules the bank can adopt immediately, with or without the model: a debt-to-income limit of 45 percent and a referral to an underwriter for anyone with two or more delinquencies or derogatory reports, cut-offs read straight from the observed default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because the data only covers approved loans, drift in the missing-value signal once verification becomes mandatory, and fair-lending exposure.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for home equity loan approvals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recorded.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are caught by the proposed Random Forest model on unseen applicants, while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$1.8M.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bad loans eat it up.</a:t>
            </a:r>
            <a:endParaRPr lang="en-US" sz="1350" dirty="0"/>
          </a:p>
          <a:p>
            <a:pPr marL="177800" indent="-177800">
              <a:spcAft>
                <a:spcPts val="800"/>
              </a:spcAft>
              <a:buSzPct val="100000"/>
              <a:buChar char="•"/>
            </a:pPr>
            <a:r>
              <a:rPr lang="en-US" sz="1350" dirty="0">
                <a:solidFill>
                  <a:schemeClr val="tx1"/>
                </a:solidFill>
              </a:rPr>
              <a:t>Today each application is judged manually: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and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Hold out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Overall default rate is 20%, so these gaps multiply risk three to five times.</a:t>
            </a:r>
            <a:endParaRPr lang="en-US" sz="1250" dirty="0"/>
          </a:p>
          <a:p>
            <a:pPr marL="177800" indent="-177800">
              <a:spcAft>
                <a:spcPts val="800"/>
              </a:spcAft>
              <a:buSzPct val="100000"/>
              <a:buChar char="•"/>
            </a:pPr>
            <a:r>
              <a:rPr lang="en-US" sz="1250" dirty="0">
                <a:solidFill>
                  <a:schemeClr val="tx1"/>
                </a:solidFill>
              </a:rPr>
              <a:t>Interpretation: income or collateral that could not be verified, or that the applicant chose not to supply.</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and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Each delinquent line or derogatory report roughly doubles the risk (0 reports: 17%, 1: 39%, 2: 51%, 3+: about 75%). Both are plain-language rules an applicant can be given.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on its own it adds little at the usual cut-off, but removing it from the final model raises the expected cost of credit errors by about 10%, so it stays in, subject to the fair-lending review.</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loses most of the principal plus collection cost: about $9,000 on a typical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forgoes the interest margin on one good customer: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of the flagged applicants really default) and F1, so the model does not simply decline everyone. ROC-AUC measures how well applicants are ranked by risk, which matters when the threshold moves.</a:t>
            </a:r>
            <a:endParaRPr lang="en-US" sz="1250" dirty="0"/>
          </a:p>
          <a:p>
            <a:pPr marL="177800" indent="-177800">
              <a:spcAft>
                <a:spcPts val="800"/>
              </a:spcAft>
              <a:buSzPct val="100000"/>
              <a:buChar char="•"/>
            </a:pPr>
            <a:r>
              <a:rPr lang="en-US" sz="1250" dirty="0">
                <a:solidFill>
                  <a:schemeClr val="tx1"/>
                </a:solidFill>
              </a:rPr>
              <a:t>Individual models are tuned by cross-validated grid search on recall; the final model and its threshold are chosen on out-of-fold expected cost, training data only; the held-out 30% is scored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thresholds,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data only), by a rule fixed beforehand: lowest average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fully grown trees, no class weights: the decision threshold handles the imbalance.</a:t>
            </a:r>
            <a:endParaRPr lang="en-US" sz="1150" dirty="0"/>
          </a:p>
          <a:p>
            <a:pPr marL="177800" indent="-177800">
              <a:spcAft>
                <a:spcPts val="800"/>
              </a:spcAft>
              <a:buSzPct val="100000"/>
              <a:buChar char="•"/>
            </a:pPr>
            <a:r>
              <a:rPr lang="en-US" sz="1150" dirty="0">
                <a:solidFill>
                  <a:schemeClr val="tx1"/>
                </a:solidFill>
              </a:rPr>
              <a:t>Inputs: all 27 (10 financial attributes, 11 missing-value flags, occupation and loan purpose). Fallback without occupation: 21 inputs, about 10% more credit-error cost.</a:t>
            </a:r>
            <a:endParaRPr lang="en-US" sz="1150" dirty="0"/>
          </a:p>
          <a:p>
            <a:pPr marL="177800" indent="-177800">
              <a:spcAft>
                <a:spcPts val="800"/>
              </a:spcAft>
              <a:buSzPct val="100000"/>
              <a:buChar char="•"/>
            </a:pPr>
            <a:r>
              <a:rPr lang="en-US" sz="1150" dirty="0">
                <a:solidFill>
                  <a:schemeClr val="tx1"/>
                </a:solidFill>
              </a:rPr>
              <a:t>Decision threshold 0.15, chosen together with the configuration by minimising expected cost on repeated out-of-fold predictions of the training rows (stable for cost ratios 3:1 to 6:1 and across train/test splits); approve / refer / decline bands (about 69% / 7% / 24% of applicants) keep an underwriter in the loop.</a:t>
            </a:r>
            <a:endParaRPr lang="en-US" sz="1150" dirty="0"/>
          </a:p>
          <a:p>
            <a:pPr marL="177800" indent="-177800">
              <a:spcAft>
                <a:spcPts val="800"/>
              </a:spcAft>
              <a:buSzPct val="100000"/>
              <a:buChar char="•"/>
            </a:pPr>
            <a:r>
              <a:rPr lang="en-US" sz="1150" dirty="0">
                <a:solidFill>
                  <a:schemeClr val="tx1"/>
                </a:solidFill>
              </a:rPr>
              <a:t>Explanation layer: a depth-4 surrogate tree fitted to the forest's out-of-fold decisions reproduces 93% of them; its rules (ratio missing; ratio above 44%; a delinquent line together with a derogatory report) supply the ECOA adverse-action reasons.</a:t>
            </a:r>
            <a:endParaRPr lang="en-US" sz="1150" dirty="0"/>
          </a:p>
          <a:p>
            <a:pPr marL="177800" indent="-177800">
              <a:spcAft>
                <a:spcPts val="800"/>
              </a:spcAft>
              <a:buSzPct val="100000"/>
              <a:buChar char="•"/>
            </a:pPr>
            <a:r>
              <a:rPr lang="en-US" sz="1150" dirty="0">
                <a:solidFill>
                  <a:schemeClr val="tx1"/>
                </a:solidFill>
              </a:rPr>
              <a:t>Test set held out before any pre-processing; scored once, after all choices were made on training data.</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185 of 200 defaulters flagged in advance, 15 missed, 87 good customers referred or declined;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the decision cut-off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declined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declined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which is where the threshold was chosen. Cards: test set, per 1,000 applicants; cost assumes $9,000 per missed defaulter and $2,000 per wrongly declined customer. The optimum stays at 0.15 for cost ratios from 3:1 to 6:1, on a finer grid and on other train/test splits; it sits just below the textbook break-even (0.18) because the scores understate risk.</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slip through</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$8.9M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Pays back within the first year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Confirm the threshold with real loss and margin figures</a:t>
            </a:r>
            <a:endParaRPr lang="en-US" sz="1100" dirty="0"/>
          </a:p>
          <a:p>
            <a:pPr marL="177800" indent="-177800">
              <a:spcAft>
                <a:spcPts val="800"/>
              </a:spcAft>
              <a:buSzPct val="100000"/>
              <a:buChar char="•"/>
            </a:pPr>
            <a:r>
              <a:rPr lang="en-US" sz="1100" dirty="0">
                <a:solidFill>
                  <a:schemeClr val="tx1"/>
                </a:solidFill>
              </a:rPr>
              <a:t>Fairness and model-risk review</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Re-train once verified ratios flow in;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Switch on automated approve / decline for clear cases</a:t>
            </a:r>
            <a:endParaRPr lang="en-US" sz="1100" dirty="0"/>
          </a:p>
          <a:p>
            <a:pPr marL="177800" indent="-177800">
              <a:spcAft>
                <a:spcPts val="800"/>
              </a:spcAft>
              <a:buSzPct val="100000"/>
              <a:buChar char="•"/>
            </a:pPr>
            <a:r>
              <a:rPr lang="en-US" sz="1100" dirty="0">
                <a:solidFill>
                  <a:schemeClr val="tx1"/>
                </a:solidFill>
              </a:rPr>
              <a:t>Monthly monitoring of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(45% and 51%+ observed default). Hard rules take precedence over the score.</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on the verified population before go-live. On applicants with a recorded ratio the model already catches 83% at 80% precision.</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cut-off wrongly flags about 11% of creditworthy applicants (3% at 0.5), so disparate-impact testing before launch, annually and whenever the cut-off moves; a 21-input fallback without occupation is ready (about 10% more credit-error cost).</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Per-applicant SHAP-style reason codes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and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data. The proposed model (the default forest with its threshold moved) and its threshold were selected on repeated out-of-fold expected cost (training rows only) under a rule fixed beforehand: lowest mean cost, simplest set-up among those within one standard error (about $10,500). Mean out-of-fold ROC-AUC 0.961 against 0.963 on test.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a column is shuffled)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dropping them raised out-of-fold expected cost by about a fifth, and dropping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Verify income before approving.</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the forest's own top risk drivers explain the remaining 7%.</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outcome in the surrogate: they matter only in combination inside the forest, which supplies the per-applicant reason codes.</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Surrogate: depth-4 tree, minimum 20 applicants per leaf, fitted to the forest's out-of-fold flag/clear decisions at threshold 0.15 on the training rows; it agrees with the forest on 93% of test decisions (73% for a rule that never flags).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was done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dropped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dropping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Linear models are pulled by extremes (debt-to-income 203%, credit history 97 years); trees split on rank order and keep the 'above 50% always defaults' signal</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held out before any statistic was fitted;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every real applicant; class weights lifted recall by 23 points for logistic regression and 9 for the forest at the 0.5 cut-off, but made no measurable difference once the threshold was chosen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 Other, ProfExe, Sales, 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Every input to the final model is named in the notebook's final-pipeline cell,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2026-10-26T00:26:48Z</dcterms:created>
  <dcterms:modified xsi:type="dcterms:W3CDTF">2026-10-26T00:26:48Z</dcterms:modified>
</cp:coreProperties>
</file>